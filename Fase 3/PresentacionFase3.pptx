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Arimo Bold" panose="020B0604020202020204" charset="0"/>
      <p:regular r:id="rId20"/>
    </p:embeddedFont>
    <p:embeddedFont>
      <p:font typeface="Monterchi Serif Bold" panose="020B0604020202020204" charset="0"/>
      <p:regular r:id="rId21"/>
    </p:embeddedFont>
    <p:embeddedFont>
      <p:font typeface="Monterchi Serif Bold Italics" panose="020B0604020202020204" charset="0"/>
      <p:regular r:id="rId22"/>
    </p:embeddedFont>
    <p:embeddedFont>
      <p:font typeface="Open Sans" panose="020B0606030504020204" pitchFamily="34" charset="0"/>
      <p:regular r:id="rId23"/>
    </p:embeddedFont>
    <p:embeddedFont>
      <p:font typeface="Open Sans Bold" panose="020B0604020202020204" charset="0"/>
      <p:regular r:id="rId24"/>
    </p:embeddedFont>
    <p:embeddedFont>
      <p:font typeface="Open Sans Bold Italics" panose="020B0604020202020204" charset="0"/>
      <p:regular r:id="rId25"/>
    </p:embeddedFont>
    <p:embeddedFont>
      <p:font typeface="Roboto" panose="02000000000000000000" pitchFamily="2"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66" d="100"/>
          <a:sy n="66" d="100"/>
        </p:scale>
        <p:origin x="-571"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07.12.2025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‹Nº›</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--cindy--</a:t>
            </a:r>
          </a:p>
          <a:p>
            <a:r>
              <a:rPr lang="en-US"/>
              <a:t>Buenas tardes, profesores. A continuación presentaremos nuestro proyecto de capstone "RutaFit". En cuanto a los integrantes del equipo, en la siguiente diapositiva serán presentados junto con sus roles y funciones.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--Cindy---</a:t>
            </a:r>
          </a:p>
          <a:p>
            <a:r>
              <a:rPr lang="en-US"/>
              <a:t>Bueno en cuanto a integrantes  cada uno asumió un rol específico :Bárbara como Scrum Master,  Erwin como Developer y  yo Cindy como Product Owner.</a:t>
            </a:r>
          </a:p>
          <a:p>
            <a:r>
              <a:rPr lang="en-US"/>
              <a:t>y en paralelo cada uno tuvo el rol de full stack y QA.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Cindy</a:t>
            </a:r>
          </a:p>
          <a:p>
            <a:r>
              <a:rPr lang="en-US"/>
              <a:t>-problematica-</a:t>
            </a:r>
          </a:p>
          <a:p>
            <a:r>
              <a:rPr lang="en-US"/>
              <a:t>Las principales problemáticas fueron la dificultad para encontrar rutas y eventos adecuados al nivel del usuario, la falta de orientación en zonas naturales, la escasa información centralizada y la baja motivación junto con la falta de compañía. </a:t>
            </a:r>
          </a:p>
          <a:p>
            <a:r>
              <a:rPr lang="en-US"/>
              <a:t>-Solución-</a:t>
            </a:r>
          </a:p>
          <a:p>
            <a:r>
              <a:rPr lang="en-US"/>
              <a:t>Como solución, RutaFit permite crear y compartir rutas y eventos según el deporte y nivel, ofrece recorridos guiados en un mapa interactivo, reúne toda la información en un solo lugar, incorpora valoraciones  y transforma la práctica deportiva en una experiencia más motivadora.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Cindy</a:t>
            </a:r>
          </a:p>
          <a:p>
            <a:r>
              <a:rPr lang="en-US"/>
              <a:t>Desarrollar una solución tecnológica compuesta por:</a:t>
            </a:r>
          </a:p>
          <a:p>
            <a:r>
              <a:rPr lang="en-US"/>
              <a:t>App Móvil que permita gestionar rutas y eventos deportivos, y web que permite integrar análisis y reportería.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Barbara</a:t>
            </a:r>
          </a:p>
          <a:p>
            <a:endParaRPr lang="en-US"/>
          </a:p>
          <a:p>
            <a:r>
              <a:rPr lang="en-US"/>
              <a:t>1-Lograr una retención de al menos el 60% de los usuarios registrados durante los primeros tres meses de funcionamiento , evaluando su actividad mediante la interaccion continuas con rutas y eventos.</a:t>
            </a:r>
          </a:p>
          <a:p>
            <a:endParaRPr lang="en-US"/>
          </a:p>
          <a:p>
            <a:r>
              <a:rPr lang="en-US"/>
              <a:t>2- Conseguir que un 35% de los usuarios activos registren y compartan al menos una ruta deportiva durante sus primeros tres meses de uso. </a:t>
            </a:r>
          </a:p>
          <a:p>
            <a:endParaRPr lang="en-US"/>
          </a:p>
          <a:p>
            <a:r>
              <a:rPr lang="en-US"/>
              <a:t>3-Comprobar la participación comunitaria, constatando que el 40% de los usuarios participe en, al menos un evento deportivo grupal durante los primeros 3 meses de uso.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Barbara</a:t>
            </a:r>
          </a:p>
          <a:p>
            <a:r>
              <a:rPr lang="en-US"/>
              <a:t>Alcances</a:t>
            </a:r>
          </a:p>
          <a:p>
            <a:r>
              <a:rPr lang="en-US"/>
              <a:t>1) Gestión de cuentas y usuarios</a:t>
            </a:r>
          </a:p>
          <a:p>
            <a:r>
              <a:rPr lang="en-US"/>
              <a:t>Identidad y acceso (autenticación).</a:t>
            </a:r>
          </a:p>
          <a:p>
            <a:r>
              <a:rPr lang="en-US"/>
              <a:t>Administración de perfil básico (nombre, avatar, nivel, deporte favorito).</a:t>
            </a:r>
          </a:p>
          <a:p>
            <a:r>
              <a:rPr lang="en-US"/>
              <a:t>2) Gestión de rutas</a:t>
            </a:r>
          </a:p>
          <a:p>
            <a:r>
              <a:rPr lang="en-US"/>
              <a:t>Administración de rutas deportivas.</a:t>
            </a:r>
          </a:p>
          <a:p>
            <a:r>
              <a:rPr lang="en-US"/>
              <a:t>Seguimiento en tiempo real sobre mapa.</a:t>
            </a:r>
          </a:p>
          <a:p>
            <a:r>
              <a:rPr lang="en-US"/>
              <a:t>Visibilidad y compartido de rutas.</a:t>
            </a:r>
          </a:p>
          <a:p>
            <a:r>
              <a:rPr lang="en-US"/>
              <a:t>Valoración de rutas por usuarios.</a:t>
            </a:r>
          </a:p>
          <a:p>
            <a:r>
              <a:rPr lang="en-US"/>
              <a:t>3) Gestión y creación de eventos deportivos</a:t>
            </a:r>
          </a:p>
          <a:p>
            <a:r>
              <a:rPr lang="en-US"/>
              <a:t>Creación y administración de eventos grupales.</a:t>
            </a:r>
          </a:p>
          <a:p>
            <a:r>
              <a:rPr lang="en-US"/>
              <a:t>Inscripción/participación de usuarios.</a:t>
            </a:r>
          </a:p>
          <a:p>
            <a:r>
              <a:rPr lang="en-US"/>
              <a:t>4) Analítica y reportes (panel web)</a:t>
            </a:r>
          </a:p>
          <a:p>
            <a:r>
              <a:rPr lang="en-US"/>
              <a:t>Visualización de indicadores sobre usuarios, rutas y eventos mediante dashboards.</a:t>
            </a:r>
          </a:p>
          <a:p>
            <a:r>
              <a:rPr lang="en-US"/>
              <a:t>5) Integraciones</a:t>
            </a:r>
          </a:p>
          <a:p>
            <a:r>
              <a:rPr lang="en-US"/>
              <a:t>Autenticación con Firebase.</a:t>
            </a:r>
          </a:p>
          <a:p>
            <a:r>
              <a:rPr lang="en-US"/>
              <a:t>Mapas/geo con Google Maps API.</a:t>
            </a:r>
          </a:p>
          <a:p>
            <a:r>
              <a:rPr lang="en-US"/>
              <a:t>Base de datos en MongoDB Atlas.</a:t>
            </a:r>
          </a:p>
          <a:p>
            <a:r>
              <a:rPr lang="en-US"/>
              <a:t>6) Backend y API</a:t>
            </a:r>
          </a:p>
          <a:p>
            <a:r>
              <a:rPr lang="en-US"/>
              <a:t>API REST con Node.js y Express para gestión de datos, validaciones y servicios.</a:t>
            </a:r>
          </a:p>
          <a:p>
            <a:r>
              <a:rPr lang="en-US"/>
              <a:t>7) Despliegue</a:t>
            </a:r>
          </a:p>
          <a:p>
            <a:r>
              <a:rPr lang="en-US"/>
              <a:t>Backend desplegado en Render.</a:t>
            </a:r>
          </a:p>
          <a:p>
            <a:r>
              <a:rPr lang="en-US"/>
              <a:t>Panel web publicado (hosting gestionado).</a:t>
            </a:r>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r>
              <a:rPr lang="en-US"/>
              <a:t>LIMITACIONES</a:t>
            </a:r>
          </a:p>
          <a:p>
            <a:r>
              <a:rPr lang="en-US"/>
              <a:t>Sistema de mensajería entre usuarios:</a:t>
            </a:r>
          </a:p>
          <a:p>
            <a:r>
              <a:rPr lang="en-US"/>
              <a:t>No se desarrolló por su complejidad técnica y por priorizar otras funcionalidades principales. En el futuro podría añadirse para facilitar la coordinación entre deportistas.</a:t>
            </a:r>
          </a:p>
          <a:p>
            <a:endParaRPr lang="en-US"/>
          </a:p>
          <a:p>
            <a:r>
              <a:rPr lang="en-US"/>
              <a:t>Visualización de otros perfiles de usuario:</a:t>
            </a:r>
          </a:p>
          <a:p>
            <a:r>
              <a:rPr lang="en-US"/>
              <a:t>Por temas de privacidad y tiempo de desarrollo, actualmente solo se puede ver el propio perfil. Más adelante podría incluirse una vista controlada de otros usuarios.</a:t>
            </a:r>
          </a:p>
          <a:p>
            <a:endParaRPr lang="en-US"/>
          </a:p>
          <a:p>
            <a:r>
              <a:rPr lang="en-US"/>
              <a:t>Recomendaciones automáticas de rutas o eventos:</a:t>
            </a:r>
          </a:p>
          <a:p>
            <a:r>
              <a:rPr lang="en-US"/>
              <a:t>No se implementó un sistema que sugiera actividades según las preferencias o historial del usuario. Es una mejora prevista para futuras versiones.</a:t>
            </a:r>
          </a:p>
          <a:p>
            <a:endParaRPr lang="en-US"/>
          </a:p>
          <a:p>
            <a:r>
              <a:rPr lang="en-US"/>
              <a:t>Integración con dispositivos inteligentes:</a:t>
            </a:r>
          </a:p>
          <a:p>
            <a:r>
              <a:rPr lang="en-US"/>
              <a:t>La aplicación no se conecta con wearables como relojes o pulseras deportivas. En versiones futuras podría aprovechar estos datos para complementar la experiencia.</a:t>
            </a:r>
          </a:p>
          <a:p>
            <a:endParaRPr lang="en-US"/>
          </a:p>
          <a:p>
            <a:r>
              <a:rPr lang="en-US"/>
              <a:t>Datos biométricos y calorías:</a:t>
            </a:r>
          </a:p>
          <a:p>
            <a:r>
              <a:rPr lang="en-US"/>
              <a:t>No se incluyen métricas como ritmo cardíaco o gasto calórico. Se considera una posible ampliación para ofrecer estadísticas deportivas más completas.</a:t>
            </a:r>
          </a:p>
          <a:p>
            <a:endParaRPr lang="en-US"/>
          </a:p>
          <a:p>
            <a:r>
              <a:rPr lang="en-US"/>
              <a:t>Mantenimiento posterior a la entrega:</a:t>
            </a:r>
          </a:p>
          <a:p>
            <a:r>
              <a:rPr lang="en-US"/>
              <a:t>El proyecto se limita al desarrollo e implementación inicial, sin contemplar soporte ni mantenimiento una vez entregado.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Erwin</a:t>
            </a:r>
          </a:p>
          <a:p>
            <a:endParaRPr lang="en-US"/>
          </a:p>
          <a:p>
            <a:r>
              <a:rPr lang="en-US"/>
              <a:t>Para el desarrollo de la aplicación RutaFit se utilizó la metodología ágil Scrum, entre las caracteristicas que mas nos ayudaron esta la</a:t>
            </a:r>
          </a:p>
          <a:p>
            <a:endParaRPr lang="en-US"/>
          </a:p>
          <a:p>
            <a:r>
              <a:rPr lang="en-US"/>
              <a:t>-division en sprints</a:t>
            </a:r>
          </a:p>
          <a:p>
            <a:r>
              <a:rPr lang="en-US"/>
              <a:t>-flexibilidad ante los cambios</a:t>
            </a:r>
          </a:p>
          <a:p>
            <a:r>
              <a:rPr lang="en-US"/>
              <a:t>-entrega incrementales</a:t>
            </a:r>
          </a:p>
          <a:p>
            <a:r>
              <a:rPr lang="en-US"/>
              <a:t>-retroalimentacion y mejora continua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Barbara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Erwin</a:t>
            </a:r>
          </a:p>
          <a:p>
            <a:endParaRPr lang="en-US"/>
          </a:p>
          <a:p>
            <a:r>
              <a:rPr lang="en-US"/>
              <a:t>"Este diagrama muestra cómo se organiza el sistema en tres capas. La capa de presentación incluye la app móvil y la web, que se comunican mediante REST con la capa de lógica de negocio, donde está la API junto a los servicios de autenticación y mapas, esta capa interactúa con la base de datos para realizar consultas y guardar información."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--Cindy--</a:t>
            </a:r>
          </a:p>
          <a:p>
            <a:r>
              <a:rPr lang="en-US"/>
              <a:t>Como modelo de datos realizamos un modelo NoSQL  que presenta  las principales colecciones de  Usuarios, Rutas y Eventos. En Usuarios se almacena la información del perfil junto con su configuración de notificaciones como estructura anidadas. En Rutas se guarda el recorrido usando formato  GeoJSON de tipo LineString, también como estructura anidada, y en Eventos se registran los detalles del evento, su creador y los participantes. Además, usamos colecciones auxiliares como tipo_deporte y nivel_experiencia, que funcionan como referencias para usuarios, rutas y eventos.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--Cindy--</a:t>
            </a:r>
          </a:p>
          <a:p>
            <a:r>
              <a:rPr lang="en-US"/>
              <a:t>Este diagrama refleja las estructura y conexiones del sistema. donde las figuras con diamante negro indican composición:  donde esto indica que el Usuario contiene su notification, y Ruta contiene su Valoración y Recorrido.</a:t>
            </a:r>
          </a:p>
          <a:p>
            <a:r>
              <a:rPr lang="en-US"/>
              <a:t>Las flechas bidireccionales representan asociaciones mutuas entre Usuario, Ruta y Evento. Además, Ruta , Evento y usuario referencian TipoDeporte, y  adicionalmente el usuario referencia el NivelExperiencia.</a:t>
            </a:r>
          </a:p>
          <a:p>
            <a:endParaRPr lang="en-US"/>
          </a:p>
          <a:p>
            <a:r>
              <a:rPr lang="en-US"/>
              <a:t>Respecto a los métodos, la mayoría de las clases comparten funciones como guardar, listar, actualizar y buscar por ID, mientras que Ruta y Evento incorporan métodos específicos como calcular distancia, promediar valoraciones, agregar y eliminar participante.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cindy-</a:t>
            </a:r>
          </a:p>
          <a:p>
            <a:r>
              <a:rPr lang="en-US"/>
              <a:t>1.-¿Qué muestra?</a:t>
            </a:r>
          </a:p>
          <a:p>
            <a:endParaRPr lang="en-US"/>
          </a:p>
          <a:p>
            <a:r>
              <a:rPr lang="en-US"/>
              <a:t>¿Por qué?</a:t>
            </a:r>
          </a:p>
          <a:p>
            <a:r>
              <a:rPr lang="en-US"/>
              <a:t> ** refleja patrones que permiten ajustar o crear campañas y eventos según las preferencias deportivas y las variaciones de cada temporada.***</a:t>
            </a:r>
          </a:p>
          <a:p>
            <a:r>
              <a:rPr lang="en-US"/>
              <a:t> Permite identificar los deportes más practicados por cada rango de edad según la época del año, revelando patrones de comportamiento y facilitando la planificación de eventos o campañas deportivas.</a:t>
            </a:r>
          </a:p>
          <a:p>
            <a:r>
              <a:rPr lang="en-US"/>
              <a:t>¿Cómo?</a:t>
            </a:r>
          </a:p>
          <a:p>
            <a:r>
              <a:rPr lang="en-US"/>
              <a:t> Unir rutas y eventos, calcular edad y grupo etario desde usuarios, derivar estación y año desde la fecha de actividad y agrupar por deporte y edad para obtener conteos comparativos.</a:t>
            </a:r>
          </a:p>
          <a:p>
            <a:r>
              <a:rPr lang="en-US"/>
              <a:t> </a:t>
            </a:r>
          </a:p>
          <a:p>
            <a:r>
              <a:rPr lang="en-US"/>
              <a:t>--Barbara insight 2</a:t>
            </a:r>
          </a:p>
          <a:p>
            <a:endParaRPr lang="en-US"/>
          </a:p>
          <a:p>
            <a:r>
              <a:rPr lang="en-US"/>
              <a:t>--Erwin insight 3</a:t>
            </a:r>
          </a:p>
          <a:p>
            <a:r>
              <a:rPr lang="en-US"/>
              <a:t>¿Por qué? Ayuda a identificar en qué periodos hay mayor interés de los usuarios y evaluar la efectividad de la planificación de actividades.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✅React Native</a:t>
            </a:r>
          </a:p>
          <a:p>
            <a:r>
              <a:rPr lang="en-US"/>
              <a:t>Se usa para desarrollar nuestra aplicación móvil.</a:t>
            </a:r>
          </a:p>
          <a:p>
            <a:r>
              <a:rPr lang="en-US"/>
              <a:t>Nos permite crear la app de RutaFit para Android usando JavaScript y componentes nativos, integrando navegación, pantallas, mapas y registro de rutas GPS.</a:t>
            </a:r>
          </a:p>
          <a:p>
            <a:r>
              <a:rPr lang="en-US"/>
              <a:t>✅ Node.js</a:t>
            </a:r>
          </a:p>
          <a:p>
            <a:r>
              <a:rPr lang="en-US"/>
              <a:t>Es el entorno donde corre nuestro backend.</a:t>
            </a:r>
          </a:p>
          <a:p>
            <a:r>
              <a:rPr lang="en-US"/>
              <a:t>Node ejecuta el código del servidor de RutaFit, maneja las solicitudes, procesa datos y conecta con la base de datos.</a:t>
            </a:r>
          </a:p>
          <a:p>
            <a:r>
              <a:rPr lang="en-US"/>
              <a:t>✅ Express.js</a:t>
            </a:r>
          </a:p>
          <a:p>
            <a:r>
              <a:rPr lang="en-US"/>
              <a:t>Es el framework que usamos para construir la API REST.</a:t>
            </a:r>
          </a:p>
          <a:p>
            <a:r>
              <a:rPr lang="en-US"/>
              <a:t>Express define las rutas, controla las peticiones GET/POST/PUT/DELETE, usa middlewares, gestiona autenticación y expone los endpoints que consume la app móvil y el panel web.</a:t>
            </a:r>
          </a:p>
          <a:p>
            <a:r>
              <a:rPr lang="en-US"/>
              <a:t>✅ Firebase Authentication</a:t>
            </a:r>
          </a:p>
          <a:p>
            <a:r>
              <a:rPr lang="en-US"/>
              <a:t>Se usa para el login y registro de usuarios.</a:t>
            </a:r>
          </a:p>
          <a:p>
            <a:r>
              <a:rPr lang="en-US"/>
              <a:t>Firebase gestiona la autenticación mediante correo, contraseña y tokens JWT, asegurando que solo usuarios válidos puedan acceder a la app.</a:t>
            </a:r>
          </a:p>
          <a:p>
            <a:r>
              <a:rPr lang="en-US"/>
              <a:t>✅ Google Maps SDK</a:t>
            </a:r>
          </a:p>
          <a:p>
            <a:r>
              <a:rPr lang="en-US"/>
              <a:t>Provee los mapas, geolocalización y herramientas de rutas.</a:t>
            </a:r>
          </a:p>
          <a:p>
            <a:r>
              <a:rPr lang="en-US"/>
              <a:t>Se usa para mostrar recorridos, obtener coordenadas y renderizar los caminos realizados por los usuarios.</a:t>
            </a:r>
          </a:p>
          <a:p>
            <a:r>
              <a:rPr lang="en-US"/>
              <a:t>✅ MongoDB</a:t>
            </a:r>
          </a:p>
          <a:p>
            <a:r>
              <a:rPr lang="en-US"/>
              <a:t>Es nuestra base de datos en la nube.</a:t>
            </a:r>
          </a:p>
          <a:p>
            <a:r>
              <a:rPr lang="en-US"/>
              <a:t>Almacena usuarios, rutas, eventos, valoraciones, tipos de deporte, niveles de experiencia, etc.</a:t>
            </a:r>
          </a:p>
          <a:p>
            <a:r>
              <a:rPr lang="en-US"/>
              <a:t>Es NoSQL y se adapta bien a los datos geoespaciales que usa RutaFit.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----Cindy------</a:t>
            </a:r>
          </a:p>
          <a:p>
            <a:r>
              <a:rPr lang="en-US"/>
              <a:t>En este proyecto logramos completar prácticamente todo lo planificado, aunque fue después de varios desafíos que nos obligaron a adaptarnos. Partimos con los proyectos distribuidos en distintos repositorios y tuvimos que unificarlos. También ajustamos el modelo de datos para que soportara  nuevas funcionalidades, y migramos el despliegue a otra plataforma por problemas técnicos. La curva de aprendizaje fue más alta de lo esperado, así que priorizamos tareas y enfocamos el trabajo en lo más viable. A pesar de las diferencias de tiempos y ritmos, logramos coordinarnos y sacar el proyecto adelante.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Barbara </a:t>
            </a:r>
          </a:p>
          <a:p>
            <a:r>
              <a:rPr lang="en-US"/>
              <a:t>Diferencias de opinión dentro del equipo → Enfrentamos varios desacuerdos, pero logramos transformarlos en un espacio de diálogo que enriqueció el proyecto con distintas perspectivas.</a:t>
            </a:r>
          </a:p>
          <a:p>
            <a:endParaRPr lang="en-US"/>
          </a:p>
          <a:p>
            <a:r>
              <a:rPr lang="en-US"/>
              <a:t>Falta de experiencia inicial en las tecnologías → Nos vimos obligados a investigar y experimentar, lo que nos permitió adquirir nuevos conocimientos y habilidades aplicadas al desarrollo real.</a:t>
            </a:r>
          </a:p>
          <a:p>
            <a:endParaRPr lang="en-US"/>
          </a:p>
          <a:p>
            <a:r>
              <a:rPr lang="en-US"/>
              <a:t>Situaciones en que todo parecía perdido y creímos que no podríamos con el proyecto → Nos llevaron a redoblar el esfuerzo, apoyarnos mutuamente y demostrar que sí éramos capaces de superar las dificultades.</a:t>
            </a:r>
          </a:p>
          <a:p>
            <a:endParaRPr lang="en-US"/>
          </a:p>
          <a:p>
            <a:r>
              <a:rPr lang="en-US"/>
              <a:t>Dificultad para equilibrar la vida personal y el desarrollo del proyecto → Las diferencias de horarios y responsabilidades complicaban la coordinación de reuniones y avances grupales, pero nos ayudaron a mejorar la gestión del tiempo y la comunicación del equipo.</a:t>
            </a:r>
          </a:p>
          <a:p>
            <a:endParaRPr lang="en-US"/>
          </a:p>
          <a:p>
            <a:r>
              <a:rPr lang="en-US"/>
              <a:t>Falta de información y conocimientos técnicos al inicio → Comenzamos con una idea general sin saber qué herramientas o metodologías serían las adecuadas, lo que nos obligó a investigar y definir el enfoque más conveniente.</a:t>
            </a:r>
          </a:p>
          <a:p>
            <a:endParaRPr lang="en-US"/>
          </a:p>
          <a:p>
            <a:r>
              <a:rPr lang="en-US"/>
              <a:t>Estructura inicial incorrecta del proyecto → En un comienzo, la organización de carpetas y archivos no cumplía con el formato solicitado por los profesores, lo que nos llevó a reestructurar el proyecto para ajustarlo a los estándares exigidos.</a:t>
            </a:r>
          </a:p>
          <a:p>
            <a:endParaRPr lang="en-US"/>
          </a:p>
          <a:p>
            <a:r>
              <a:rPr lang="en-US"/>
              <a:t>Problemas de despliegue de la API → Intentamos alojarla en Vercel, pero la plataforma presentaba errores por los nombres de carpeta con caracteres especiales, por lo que finalmente fue desplegada en Render, garantizando su correcto funcionamiento.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Barbara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30.svg"/><Relationship Id="rId13" Type="http://schemas.openxmlformats.org/officeDocument/2006/relationships/image" Target="../media/image35.pn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4.sv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28.sv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svg"/><Relationship Id="rId4" Type="http://schemas.openxmlformats.org/officeDocument/2006/relationships/image" Target="../media/image26.png"/><Relationship Id="rId9" Type="http://schemas.openxmlformats.org/officeDocument/2006/relationships/image" Target="../media/image31.png"/><Relationship Id="rId14" Type="http://schemas.openxmlformats.org/officeDocument/2006/relationships/image" Target="../media/image36.sv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9E6DE"/>
        </a:solidFill>
        <a:effectLst/>
      </p:bgPr>
    </p:bg>
    <p:spTree>
      <p:nvGrpSpPr>
        <p:cNvPr id="1" name=""/>
        <p:cNvGrpSpPr/>
        <p:nvPr/>
      </p:nvGrpSpPr>
      <p:grpSpPr>
        <a:xfrm>
          <a:off x="0" y="0"/>
          <a:ext cx="0" cy="0"/>
          <a:chOff x="0" y="0"/>
          <a:chExt cx="0" cy="0"/>
        </a:xfrm>
      </p:grpSpPr>
      <p:sp>
        <p:nvSpPr>
          <p:cNvPr id="2" name="TextBox 2"/>
          <p:cNvSpPr txBox="1"/>
          <p:nvPr/>
        </p:nvSpPr>
        <p:spPr>
          <a:xfrm>
            <a:off x="2906255" y="3108280"/>
            <a:ext cx="12965683" cy="1519205"/>
          </a:xfrm>
          <a:prstGeom prst="rect">
            <a:avLst/>
          </a:prstGeom>
        </p:spPr>
        <p:txBody>
          <a:bodyPr lIns="0" tIns="0" rIns="0" bIns="0" rtlCol="0" anchor="t">
            <a:spAutoFit/>
          </a:bodyPr>
          <a:lstStyle/>
          <a:p>
            <a:pPr marL="0" lvl="0" indent="0" algn="ctr">
              <a:lnSpc>
                <a:spcPts val="11088"/>
              </a:lnSpc>
            </a:pPr>
            <a:r>
              <a:rPr lang="en-US" sz="12458" b="1" spc="398">
                <a:solidFill>
                  <a:srgbClr val="000000"/>
                </a:solidFill>
                <a:latin typeface="Monterchi Serif Bold"/>
                <a:ea typeface="Monterchi Serif Bold"/>
                <a:cs typeface="Monterchi Serif Bold"/>
                <a:sym typeface="Monterchi Serif Bold"/>
              </a:rPr>
              <a:t>PROYECTO </a:t>
            </a:r>
          </a:p>
        </p:txBody>
      </p:sp>
      <p:sp>
        <p:nvSpPr>
          <p:cNvPr id="3" name="TextBox 3"/>
          <p:cNvSpPr txBox="1"/>
          <p:nvPr/>
        </p:nvSpPr>
        <p:spPr>
          <a:xfrm>
            <a:off x="2499545" y="4356410"/>
            <a:ext cx="12965683" cy="1519205"/>
          </a:xfrm>
          <a:prstGeom prst="rect">
            <a:avLst/>
          </a:prstGeom>
        </p:spPr>
        <p:txBody>
          <a:bodyPr lIns="0" tIns="0" rIns="0" bIns="0" rtlCol="0" anchor="t">
            <a:spAutoFit/>
          </a:bodyPr>
          <a:lstStyle/>
          <a:p>
            <a:pPr marL="0" lvl="0" indent="0" algn="ctr">
              <a:lnSpc>
                <a:spcPts val="11088"/>
              </a:lnSpc>
            </a:pPr>
            <a:r>
              <a:rPr lang="en-US" sz="12458" b="1" spc="398">
                <a:solidFill>
                  <a:srgbClr val="000000"/>
                </a:solidFill>
                <a:latin typeface="Monterchi Serif Bold"/>
                <a:ea typeface="Monterchi Serif Bold"/>
                <a:cs typeface="Monterchi Serif Bold"/>
                <a:sym typeface="Monterchi Serif Bold"/>
              </a:rPr>
              <a:t>RUTAFIT</a:t>
            </a:r>
          </a:p>
        </p:txBody>
      </p:sp>
      <p:grpSp>
        <p:nvGrpSpPr>
          <p:cNvPr id="4" name="Group 4"/>
          <p:cNvGrpSpPr/>
          <p:nvPr/>
        </p:nvGrpSpPr>
        <p:grpSpPr>
          <a:xfrm>
            <a:off x="204831" y="155826"/>
            <a:ext cx="3598580" cy="4114800"/>
            <a:chOff x="0" y="0"/>
            <a:chExt cx="4798106" cy="5486400"/>
          </a:xfrm>
        </p:grpSpPr>
        <p:grpSp>
          <p:nvGrpSpPr>
            <p:cNvPr id="5" name="Group 5"/>
            <p:cNvGrpSpPr/>
            <p:nvPr/>
          </p:nvGrpSpPr>
          <p:grpSpPr>
            <a:xfrm>
              <a:off x="0" y="359656"/>
              <a:ext cx="4798106" cy="314368"/>
              <a:chOff x="0" y="0"/>
              <a:chExt cx="947774" cy="62097"/>
            </a:xfrm>
          </p:grpSpPr>
          <p:sp>
            <p:nvSpPr>
              <p:cNvPr id="6" name="Freeform 6"/>
              <p:cNvSpPr/>
              <p:nvPr/>
            </p:nvSpPr>
            <p:spPr>
              <a:xfrm>
                <a:off x="0" y="0"/>
                <a:ext cx="947774" cy="62097"/>
              </a:xfrm>
              <a:custGeom>
                <a:avLst/>
                <a:gdLst/>
                <a:ahLst/>
                <a:cxnLst/>
                <a:rect l="l" t="t" r="r" b="b"/>
                <a:pathLst>
                  <a:path w="947774" h="62097">
                    <a:moveTo>
                      <a:pt x="0" y="0"/>
                    </a:moveTo>
                    <a:lnTo>
                      <a:pt x="947774" y="0"/>
                    </a:lnTo>
                    <a:lnTo>
                      <a:pt x="947774" y="62097"/>
                    </a:lnTo>
                    <a:lnTo>
                      <a:pt x="0" y="62097"/>
                    </a:lnTo>
                    <a:close/>
                  </a:path>
                </a:pathLst>
              </a:custGeom>
              <a:solidFill>
                <a:srgbClr val="7ED957"/>
              </a:solidFill>
              <a:ln cap="sq">
                <a:noFill/>
                <a:prstDash val="solid"/>
                <a:miter/>
              </a:ln>
            </p:spPr>
            <p:txBody>
              <a:bodyPr/>
              <a:lstStyle/>
              <a:p>
                <a:endParaRPr lang="es-CL"/>
              </a:p>
            </p:txBody>
          </p:sp>
          <p:sp>
            <p:nvSpPr>
              <p:cNvPr id="7" name="TextBox 7"/>
              <p:cNvSpPr txBox="1"/>
              <p:nvPr/>
            </p:nvSpPr>
            <p:spPr>
              <a:xfrm>
                <a:off x="0" y="-28575"/>
                <a:ext cx="947774" cy="90672"/>
              </a:xfrm>
              <a:prstGeom prst="rect">
                <a:avLst/>
              </a:prstGeom>
            </p:spPr>
            <p:txBody>
              <a:bodyPr lIns="50800" tIns="50800" rIns="50800" bIns="50800" rtlCol="0" anchor="ctr"/>
              <a:lstStyle/>
              <a:p>
                <a:pPr algn="ctr">
                  <a:lnSpc>
                    <a:spcPts val="2921"/>
                  </a:lnSpc>
                </a:pPr>
                <a:endParaRPr/>
              </a:p>
            </p:txBody>
          </p:sp>
        </p:grpSp>
        <p:grpSp>
          <p:nvGrpSpPr>
            <p:cNvPr id="8" name="Group 8"/>
            <p:cNvGrpSpPr/>
            <p:nvPr/>
          </p:nvGrpSpPr>
          <p:grpSpPr>
            <a:xfrm>
              <a:off x="0" y="925401"/>
              <a:ext cx="3675307" cy="314368"/>
              <a:chOff x="0" y="0"/>
              <a:chExt cx="725987" cy="62097"/>
            </a:xfrm>
          </p:grpSpPr>
          <p:sp>
            <p:nvSpPr>
              <p:cNvPr id="9" name="Freeform 9"/>
              <p:cNvSpPr/>
              <p:nvPr/>
            </p:nvSpPr>
            <p:spPr>
              <a:xfrm>
                <a:off x="0" y="0"/>
                <a:ext cx="725987" cy="62097"/>
              </a:xfrm>
              <a:custGeom>
                <a:avLst/>
                <a:gdLst/>
                <a:ahLst/>
                <a:cxnLst/>
                <a:rect l="l" t="t" r="r" b="b"/>
                <a:pathLst>
                  <a:path w="725987" h="62097">
                    <a:moveTo>
                      <a:pt x="0" y="0"/>
                    </a:moveTo>
                    <a:lnTo>
                      <a:pt x="725987" y="0"/>
                    </a:lnTo>
                    <a:lnTo>
                      <a:pt x="725987" y="62097"/>
                    </a:lnTo>
                    <a:lnTo>
                      <a:pt x="0" y="62097"/>
                    </a:lnTo>
                    <a:close/>
                  </a:path>
                </a:pathLst>
              </a:custGeom>
              <a:solidFill>
                <a:srgbClr val="7ED957"/>
              </a:solidFill>
              <a:ln cap="sq">
                <a:noFill/>
                <a:prstDash val="solid"/>
                <a:miter/>
              </a:ln>
            </p:spPr>
            <p:txBody>
              <a:bodyPr/>
              <a:lstStyle/>
              <a:p>
                <a:endParaRPr lang="es-CL"/>
              </a:p>
            </p:txBody>
          </p:sp>
          <p:sp>
            <p:nvSpPr>
              <p:cNvPr id="10" name="TextBox 10"/>
              <p:cNvSpPr txBox="1"/>
              <p:nvPr/>
            </p:nvSpPr>
            <p:spPr>
              <a:xfrm>
                <a:off x="0" y="-28575"/>
                <a:ext cx="725987" cy="90672"/>
              </a:xfrm>
              <a:prstGeom prst="rect">
                <a:avLst/>
              </a:prstGeom>
            </p:spPr>
            <p:txBody>
              <a:bodyPr lIns="50800" tIns="50800" rIns="50800" bIns="50800" rtlCol="0" anchor="ctr"/>
              <a:lstStyle/>
              <a:p>
                <a:pPr algn="ctr">
                  <a:lnSpc>
                    <a:spcPts val="2921"/>
                  </a:lnSpc>
                </a:pPr>
                <a:endParaRPr/>
              </a:p>
            </p:txBody>
          </p:sp>
        </p:grpSp>
        <p:grpSp>
          <p:nvGrpSpPr>
            <p:cNvPr id="11" name="Group 11"/>
            <p:cNvGrpSpPr/>
            <p:nvPr/>
          </p:nvGrpSpPr>
          <p:grpSpPr>
            <a:xfrm rot="-5400000">
              <a:off x="-650594" y="1538808"/>
              <a:ext cx="3391984" cy="314368"/>
              <a:chOff x="0" y="0"/>
              <a:chExt cx="670022" cy="62097"/>
            </a:xfrm>
          </p:grpSpPr>
          <p:sp>
            <p:nvSpPr>
              <p:cNvPr id="12" name="Freeform 12"/>
              <p:cNvSpPr/>
              <p:nvPr/>
            </p:nvSpPr>
            <p:spPr>
              <a:xfrm>
                <a:off x="0" y="0"/>
                <a:ext cx="670022" cy="62097"/>
              </a:xfrm>
              <a:custGeom>
                <a:avLst/>
                <a:gdLst/>
                <a:ahLst/>
                <a:cxnLst/>
                <a:rect l="l" t="t" r="r" b="b"/>
                <a:pathLst>
                  <a:path w="670022" h="62097">
                    <a:moveTo>
                      <a:pt x="0" y="0"/>
                    </a:moveTo>
                    <a:lnTo>
                      <a:pt x="670022" y="0"/>
                    </a:lnTo>
                    <a:lnTo>
                      <a:pt x="670022" y="62097"/>
                    </a:lnTo>
                    <a:lnTo>
                      <a:pt x="0" y="62097"/>
                    </a:lnTo>
                    <a:close/>
                  </a:path>
                </a:pathLst>
              </a:custGeom>
              <a:solidFill>
                <a:srgbClr val="7ED957"/>
              </a:solidFill>
              <a:ln cap="sq">
                <a:noFill/>
                <a:prstDash val="solid"/>
                <a:miter/>
              </a:ln>
            </p:spPr>
            <p:txBody>
              <a:bodyPr/>
              <a:lstStyle/>
              <a:p>
                <a:endParaRPr lang="es-CL"/>
              </a:p>
            </p:txBody>
          </p:sp>
          <p:sp>
            <p:nvSpPr>
              <p:cNvPr id="13" name="TextBox 13"/>
              <p:cNvSpPr txBox="1"/>
              <p:nvPr/>
            </p:nvSpPr>
            <p:spPr>
              <a:xfrm>
                <a:off x="0" y="-28575"/>
                <a:ext cx="670022" cy="90672"/>
              </a:xfrm>
              <a:prstGeom prst="rect">
                <a:avLst/>
              </a:prstGeom>
            </p:spPr>
            <p:txBody>
              <a:bodyPr lIns="50800" tIns="50800" rIns="50800" bIns="50800" rtlCol="0" anchor="ctr"/>
              <a:lstStyle/>
              <a:p>
                <a:pPr algn="ctr">
                  <a:lnSpc>
                    <a:spcPts val="2921"/>
                  </a:lnSpc>
                </a:pPr>
                <a:endParaRPr/>
              </a:p>
            </p:txBody>
          </p:sp>
        </p:grpSp>
        <p:grpSp>
          <p:nvGrpSpPr>
            <p:cNvPr id="14" name="Group 14"/>
            <p:cNvGrpSpPr/>
            <p:nvPr/>
          </p:nvGrpSpPr>
          <p:grpSpPr>
            <a:xfrm rot="-5400000">
              <a:off x="-2123316" y="3048717"/>
              <a:ext cx="4560999" cy="314368"/>
              <a:chOff x="0" y="0"/>
              <a:chExt cx="900938" cy="62097"/>
            </a:xfrm>
          </p:grpSpPr>
          <p:sp>
            <p:nvSpPr>
              <p:cNvPr id="15" name="Freeform 15"/>
              <p:cNvSpPr/>
              <p:nvPr/>
            </p:nvSpPr>
            <p:spPr>
              <a:xfrm>
                <a:off x="0" y="0"/>
                <a:ext cx="900938" cy="62097"/>
              </a:xfrm>
              <a:custGeom>
                <a:avLst/>
                <a:gdLst/>
                <a:ahLst/>
                <a:cxnLst/>
                <a:rect l="l" t="t" r="r" b="b"/>
                <a:pathLst>
                  <a:path w="900938" h="62097">
                    <a:moveTo>
                      <a:pt x="0" y="0"/>
                    </a:moveTo>
                    <a:lnTo>
                      <a:pt x="900938" y="0"/>
                    </a:lnTo>
                    <a:lnTo>
                      <a:pt x="900938" y="62097"/>
                    </a:lnTo>
                    <a:lnTo>
                      <a:pt x="0" y="62097"/>
                    </a:lnTo>
                    <a:close/>
                  </a:path>
                </a:pathLst>
              </a:custGeom>
              <a:solidFill>
                <a:srgbClr val="7ED957"/>
              </a:solidFill>
              <a:ln cap="sq">
                <a:noFill/>
                <a:prstDash val="solid"/>
                <a:miter/>
              </a:ln>
            </p:spPr>
            <p:txBody>
              <a:bodyPr/>
              <a:lstStyle/>
              <a:p>
                <a:endParaRPr lang="es-CL"/>
              </a:p>
            </p:txBody>
          </p:sp>
          <p:sp>
            <p:nvSpPr>
              <p:cNvPr id="16" name="TextBox 16"/>
              <p:cNvSpPr txBox="1"/>
              <p:nvPr/>
            </p:nvSpPr>
            <p:spPr>
              <a:xfrm>
                <a:off x="0" y="-28575"/>
                <a:ext cx="900938" cy="90672"/>
              </a:xfrm>
              <a:prstGeom prst="rect">
                <a:avLst/>
              </a:prstGeom>
            </p:spPr>
            <p:txBody>
              <a:bodyPr lIns="50800" tIns="50800" rIns="50800" bIns="50800" rtlCol="0" anchor="ctr"/>
              <a:lstStyle/>
              <a:p>
                <a:pPr algn="ctr">
                  <a:lnSpc>
                    <a:spcPts val="2921"/>
                  </a:lnSpc>
                </a:pPr>
                <a:endParaRPr/>
              </a:p>
            </p:txBody>
          </p:sp>
        </p:grpSp>
      </p:grpSp>
      <p:grpSp>
        <p:nvGrpSpPr>
          <p:cNvPr id="17" name="Group 17"/>
          <p:cNvGrpSpPr/>
          <p:nvPr/>
        </p:nvGrpSpPr>
        <p:grpSpPr>
          <a:xfrm rot="-10800000">
            <a:off x="14431310" y="6106144"/>
            <a:ext cx="3598580" cy="4114800"/>
            <a:chOff x="0" y="0"/>
            <a:chExt cx="4798106" cy="5486400"/>
          </a:xfrm>
        </p:grpSpPr>
        <p:grpSp>
          <p:nvGrpSpPr>
            <p:cNvPr id="18" name="Group 18"/>
            <p:cNvGrpSpPr/>
            <p:nvPr/>
          </p:nvGrpSpPr>
          <p:grpSpPr>
            <a:xfrm>
              <a:off x="0" y="359656"/>
              <a:ext cx="4798106" cy="314368"/>
              <a:chOff x="0" y="0"/>
              <a:chExt cx="947774" cy="62097"/>
            </a:xfrm>
          </p:grpSpPr>
          <p:sp>
            <p:nvSpPr>
              <p:cNvPr id="19" name="Freeform 19"/>
              <p:cNvSpPr/>
              <p:nvPr/>
            </p:nvSpPr>
            <p:spPr>
              <a:xfrm>
                <a:off x="0" y="0"/>
                <a:ext cx="947774" cy="62097"/>
              </a:xfrm>
              <a:custGeom>
                <a:avLst/>
                <a:gdLst/>
                <a:ahLst/>
                <a:cxnLst/>
                <a:rect l="l" t="t" r="r" b="b"/>
                <a:pathLst>
                  <a:path w="947774" h="62097">
                    <a:moveTo>
                      <a:pt x="0" y="0"/>
                    </a:moveTo>
                    <a:lnTo>
                      <a:pt x="947774" y="0"/>
                    </a:lnTo>
                    <a:lnTo>
                      <a:pt x="947774" y="62097"/>
                    </a:lnTo>
                    <a:lnTo>
                      <a:pt x="0" y="62097"/>
                    </a:lnTo>
                    <a:close/>
                  </a:path>
                </a:pathLst>
              </a:custGeom>
              <a:solidFill>
                <a:srgbClr val="7ED957"/>
              </a:solidFill>
              <a:ln cap="sq">
                <a:noFill/>
                <a:prstDash val="solid"/>
                <a:miter/>
              </a:ln>
            </p:spPr>
            <p:txBody>
              <a:bodyPr/>
              <a:lstStyle/>
              <a:p>
                <a:endParaRPr lang="es-CL"/>
              </a:p>
            </p:txBody>
          </p:sp>
          <p:sp>
            <p:nvSpPr>
              <p:cNvPr id="20" name="TextBox 20"/>
              <p:cNvSpPr txBox="1"/>
              <p:nvPr/>
            </p:nvSpPr>
            <p:spPr>
              <a:xfrm>
                <a:off x="0" y="-28575"/>
                <a:ext cx="947774"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21" name="Group 21"/>
            <p:cNvGrpSpPr/>
            <p:nvPr/>
          </p:nvGrpSpPr>
          <p:grpSpPr>
            <a:xfrm>
              <a:off x="0" y="925401"/>
              <a:ext cx="3675307" cy="314368"/>
              <a:chOff x="0" y="0"/>
              <a:chExt cx="725987" cy="62097"/>
            </a:xfrm>
          </p:grpSpPr>
          <p:sp>
            <p:nvSpPr>
              <p:cNvPr id="22" name="Freeform 22"/>
              <p:cNvSpPr/>
              <p:nvPr/>
            </p:nvSpPr>
            <p:spPr>
              <a:xfrm>
                <a:off x="0" y="0"/>
                <a:ext cx="725987" cy="62097"/>
              </a:xfrm>
              <a:custGeom>
                <a:avLst/>
                <a:gdLst/>
                <a:ahLst/>
                <a:cxnLst/>
                <a:rect l="l" t="t" r="r" b="b"/>
                <a:pathLst>
                  <a:path w="725987" h="62097">
                    <a:moveTo>
                      <a:pt x="0" y="0"/>
                    </a:moveTo>
                    <a:lnTo>
                      <a:pt x="725987" y="0"/>
                    </a:lnTo>
                    <a:lnTo>
                      <a:pt x="725987" y="62097"/>
                    </a:lnTo>
                    <a:lnTo>
                      <a:pt x="0" y="62097"/>
                    </a:lnTo>
                    <a:close/>
                  </a:path>
                </a:pathLst>
              </a:custGeom>
              <a:solidFill>
                <a:srgbClr val="7ED957"/>
              </a:solidFill>
              <a:ln cap="sq">
                <a:noFill/>
                <a:prstDash val="solid"/>
                <a:miter/>
              </a:ln>
            </p:spPr>
            <p:txBody>
              <a:bodyPr/>
              <a:lstStyle/>
              <a:p>
                <a:endParaRPr lang="es-CL"/>
              </a:p>
            </p:txBody>
          </p:sp>
          <p:sp>
            <p:nvSpPr>
              <p:cNvPr id="23" name="TextBox 23"/>
              <p:cNvSpPr txBox="1"/>
              <p:nvPr/>
            </p:nvSpPr>
            <p:spPr>
              <a:xfrm>
                <a:off x="0" y="-28575"/>
                <a:ext cx="725987"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24" name="Group 24"/>
            <p:cNvGrpSpPr/>
            <p:nvPr/>
          </p:nvGrpSpPr>
          <p:grpSpPr>
            <a:xfrm rot="-5400000">
              <a:off x="-650594" y="1538808"/>
              <a:ext cx="3391984" cy="314368"/>
              <a:chOff x="0" y="0"/>
              <a:chExt cx="670022" cy="62097"/>
            </a:xfrm>
          </p:grpSpPr>
          <p:sp>
            <p:nvSpPr>
              <p:cNvPr id="25" name="Freeform 25"/>
              <p:cNvSpPr/>
              <p:nvPr/>
            </p:nvSpPr>
            <p:spPr>
              <a:xfrm>
                <a:off x="0" y="0"/>
                <a:ext cx="670022" cy="62097"/>
              </a:xfrm>
              <a:custGeom>
                <a:avLst/>
                <a:gdLst/>
                <a:ahLst/>
                <a:cxnLst/>
                <a:rect l="l" t="t" r="r" b="b"/>
                <a:pathLst>
                  <a:path w="670022" h="62097">
                    <a:moveTo>
                      <a:pt x="0" y="0"/>
                    </a:moveTo>
                    <a:lnTo>
                      <a:pt x="670022" y="0"/>
                    </a:lnTo>
                    <a:lnTo>
                      <a:pt x="670022" y="62097"/>
                    </a:lnTo>
                    <a:lnTo>
                      <a:pt x="0" y="62097"/>
                    </a:lnTo>
                    <a:close/>
                  </a:path>
                </a:pathLst>
              </a:custGeom>
              <a:solidFill>
                <a:srgbClr val="7ED957"/>
              </a:solidFill>
              <a:ln cap="sq">
                <a:noFill/>
                <a:prstDash val="solid"/>
                <a:miter/>
              </a:ln>
            </p:spPr>
            <p:txBody>
              <a:bodyPr/>
              <a:lstStyle/>
              <a:p>
                <a:endParaRPr lang="es-CL"/>
              </a:p>
            </p:txBody>
          </p:sp>
          <p:sp>
            <p:nvSpPr>
              <p:cNvPr id="26" name="TextBox 26"/>
              <p:cNvSpPr txBox="1"/>
              <p:nvPr/>
            </p:nvSpPr>
            <p:spPr>
              <a:xfrm>
                <a:off x="0" y="-28575"/>
                <a:ext cx="670022"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27" name="Group 27"/>
            <p:cNvGrpSpPr/>
            <p:nvPr/>
          </p:nvGrpSpPr>
          <p:grpSpPr>
            <a:xfrm rot="-5400000">
              <a:off x="-2123316" y="3048717"/>
              <a:ext cx="4560999" cy="314368"/>
              <a:chOff x="0" y="0"/>
              <a:chExt cx="900938" cy="62097"/>
            </a:xfrm>
          </p:grpSpPr>
          <p:sp>
            <p:nvSpPr>
              <p:cNvPr id="28" name="Freeform 28"/>
              <p:cNvSpPr/>
              <p:nvPr/>
            </p:nvSpPr>
            <p:spPr>
              <a:xfrm>
                <a:off x="0" y="0"/>
                <a:ext cx="900938" cy="62097"/>
              </a:xfrm>
              <a:custGeom>
                <a:avLst/>
                <a:gdLst/>
                <a:ahLst/>
                <a:cxnLst/>
                <a:rect l="l" t="t" r="r" b="b"/>
                <a:pathLst>
                  <a:path w="900938" h="62097">
                    <a:moveTo>
                      <a:pt x="0" y="0"/>
                    </a:moveTo>
                    <a:lnTo>
                      <a:pt x="900938" y="0"/>
                    </a:lnTo>
                    <a:lnTo>
                      <a:pt x="900938" y="62097"/>
                    </a:lnTo>
                    <a:lnTo>
                      <a:pt x="0" y="62097"/>
                    </a:lnTo>
                    <a:close/>
                  </a:path>
                </a:pathLst>
              </a:custGeom>
              <a:solidFill>
                <a:srgbClr val="7ED957"/>
              </a:solidFill>
              <a:ln cap="sq">
                <a:noFill/>
                <a:prstDash val="solid"/>
                <a:miter/>
              </a:ln>
            </p:spPr>
            <p:txBody>
              <a:bodyPr/>
              <a:lstStyle/>
              <a:p>
                <a:endParaRPr lang="es-CL"/>
              </a:p>
            </p:txBody>
          </p:sp>
          <p:sp>
            <p:nvSpPr>
              <p:cNvPr id="29" name="TextBox 29"/>
              <p:cNvSpPr txBox="1"/>
              <p:nvPr/>
            </p:nvSpPr>
            <p:spPr>
              <a:xfrm>
                <a:off x="0" y="-28575"/>
                <a:ext cx="900938"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grpSp>
        <p:nvGrpSpPr>
          <p:cNvPr id="30" name="Group 30"/>
          <p:cNvGrpSpPr/>
          <p:nvPr/>
        </p:nvGrpSpPr>
        <p:grpSpPr>
          <a:xfrm rot="-5400000">
            <a:off x="464896" y="6106144"/>
            <a:ext cx="3598580" cy="4114800"/>
            <a:chOff x="0" y="0"/>
            <a:chExt cx="4798106" cy="5486400"/>
          </a:xfrm>
        </p:grpSpPr>
        <p:grpSp>
          <p:nvGrpSpPr>
            <p:cNvPr id="31" name="Group 31"/>
            <p:cNvGrpSpPr/>
            <p:nvPr/>
          </p:nvGrpSpPr>
          <p:grpSpPr>
            <a:xfrm>
              <a:off x="0" y="359656"/>
              <a:ext cx="4798106" cy="314368"/>
              <a:chOff x="0" y="0"/>
              <a:chExt cx="947774" cy="62097"/>
            </a:xfrm>
          </p:grpSpPr>
          <p:sp>
            <p:nvSpPr>
              <p:cNvPr id="32" name="Freeform 32"/>
              <p:cNvSpPr/>
              <p:nvPr/>
            </p:nvSpPr>
            <p:spPr>
              <a:xfrm>
                <a:off x="0" y="0"/>
                <a:ext cx="947774" cy="62097"/>
              </a:xfrm>
              <a:custGeom>
                <a:avLst/>
                <a:gdLst/>
                <a:ahLst/>
                <a:cxnLst/>
                <a:rect l="l" t="t" r="r" b="b"/>
                <a:pathLst>
                  <a:path w="947774" h="62097">
                    <a:moveTo>
                      <a:pt x="0" y="0"/>
                    </a:moveTo>
                    <a:lnTo>
                      <a:pt x="947774" y="0"/>
                    </a:lnTo>
                    <a:lnTo>
                      <a:pt x="947774" y="62097"/>
                    </a:lnTo>
                    <a:lnTo>
                      <a:pt x="0" y="62097"/>
                    </a:lnTo>
                    <a:close/>
                  </a:path>
                </a:pathLst>
              </a:custGeom>
              <a:solidFill>
                <a:srgbClr val="00BF63"/>
              </a:solidFill>
              <a:ln cap="sq">
                <a:noFill/>
                <a:prstDash val="solid"/>
                <a:miter/>
              </a:ln>
            </p:spPr>
            <p:txBody>
              <a:bodyPr/>
              <a:lstStyle/>
              <a:p>
                <a:endParaRPr lang="es-CL"/>
              </a:p>
            </p:txBody>
          </p:sp>
          <p:sp>
            <p:nvSpPr>
              <p:cNvPr id="33" name="TextBox 33"/>
              <p:cNvSpPr txBox="1"/>
              <p:nvPr/>
            </p:nvSpPr>
            <p:spPr>
              <a:xfrm>
                <a:off x="0" y="-28575"/>
                <a:ext cx="947774"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34" name="Group 34"/>
            <p:cNvGrpSpPr/>
            <p:nvPr/>
          </p:nvGrpSpPr>
          <p:grpSpPr>
            <a:xfrm>
              <a:off x="0" y="925401"/>
              <a:ext cx="3675307" cy="314368"/>
              <a:chOff x="0" y="0"/>
              <a:chExt cx="725987" cy="62097"/>
            </a:xfrm>
          </p:grpSpPr>
          <p:sp>
            <p:nvSpPr>
              <p:cNvPr id="35" name="Freeform 35"/>
              <p:cNvSpPr/>
              <p:nvPr/>
            </p:nvSpPr>
            <p:spPr>
              <a:xfrm>
                <a:off x="0" y="0"/>
                <a:ext cx="725987" cy="62097"/>
              </a:xfrm>
              <a:custGeom>
                <a:avLst/>
                <a:gdLst/>
                <a:ahLst/>
                <a:cxnLst/>
                <a:rect l="l" t="t" r="r" b="b"/>
                <a:pathLst>
                  <a:path w="725987" h="62097">
                    <a:moveTo>
                      <a:pt x="0" y="0"/>
                    </a:moveTo>
                    <a:lnTo>
                      <a:pt x="725987" y="0"/>
                    </a:lnTo>
                    <a:lnTo>
                      <a:pt x="725987" y="62097"/>
                    </a:lnTo>
                    <a:lnTo>
                      <a:pt x="0" y="62097"/>
                    </a:lnTo>
                    <a:close/>
                  </a:path>
                </a:pathLst>
              </a:custGeom>
              <a:solidFill>
                <a:srgbClr val="00BF63"/>
              </a:solidFill>
              <a:ln cap="sq">
                <a:noFill/>
                <a:prstDash val="solid"/>
                <a:miter/>
              </a:ln>
            </p:spPr>
            <p:txBody>
              <a:bodyPr/>
              <a:lstStyle/>
              <a:p>
                <a:endParaRPr lang="es-CL"/>
              </a:p>
            </p:txBody>
          </p:sp>
          <p:sp>
            <p:nvSpPr>
              <p:cNvPr id="36" name="TextBox 36"/>
              <p:cNvSpPr txBox="1"/>
              <p:nvPr/>
            </p:nvSpPr>
            <p:spPr>
              <a:xfrm>
                <a:off x="0" y="-28575"/>
                <a:ext cx="725987"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37" name="Group 37"/>
            <p:cNvGrpSpPr/>
            <p:nvPr/>
          </p:nvGrpSpPr>
          <p:grpSpPr>
            <a:xfrm rot="-5400000">
              <a:off x="-650594" y="1538808"/>
              <a:ext cx="3391984" cy="314368"/>
              <a:chOff x="0" y="0"/>
              <a:chExt cx="670022" cy="62097"/>
            </a:xfrm>
          </p:grpSpPr>
          <p:sp>
            <p:nvSpPr>
              <p:cNvPr id="38" name="Freeform 38"/>
              <p:cNvSpPr/>
              <p:nvPr/>
            </p:nvSpPr>
            <p:spPr>
              <a:xfrm>
                <a:off x="0" y="0"/>
                <a:ext cx="670022" cy="62097"/>
              </a:xfrm>
              <a:custGeom>
                <a:avLst/>
                <a:gdLst/>
                <a:ahLst/>
                <a:cxnLst/>
                <a:rect l="l" t="t" r="r" b="b"/>
                <a:pathLst>
                  <a:path w="670022" h="62097">
                    <a:moveTo>
                      <a:pt x="0" y="0"/>
                    </a:moveTo>
                    <a:lnTo>
                      <a:pt x="670022" y="0"/>
                    </a:lnTo>
                    <a:lnTo>
                      <a:pt x="670022" y="62097"/>
                    </a:lnTo>
                    <a:lnTo>
                      <a:pt x="0" y="62097"/>
                    </a:lnTo>
                    <a:close/>
                  </a:path>
                </a:pathLst>
              </a:custGeom>
              <a:solidFill>
                <a:srgbClr val="00BF63"/>
              </a:solidFill>
              <a:ln cap="sq">
                <a:noFill/>
                <a:prstDash val="solid"/>
                <a:miter/>
              </a:ln>
            </p:spPr>
            <p:txBody>
              <a:bodyPr/>
              <a:lstStyle/>
              <a:p>
                <a:endParaRPr lang="es-CL"/>
              </a:p>
            </p:txBody>
          </p:sp>
          <p:sp>
            <p:nvSpPr>
              <p:cNvPr id="39" name="TextBox 39"/>
              <p:cNvSpPr txBox="1"/>
              <p:nvPr/>
            </p:nvSpPr>
            <p:spPr>
              <a:xfrm>
                <a:off x="0" y="-28575"/>
                <a:ext cx="670022"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40" name="Group 40"/>
            <p:cNvGrpSpPr/>
            <p:nvPr/>
          </p:nvGrpSpPr>
          <p:grpSpPr>
            <a:xfrm rot="-5400000">
              <a:off x="-2123316" y="3048717"/>
              <a:ext cx="4560999" cy="314368"/>
              <a:chOff x="0" y="0"/>
              <a:chExt cx="900938" cy="62097"/>
            </a:xfrm>
          </p:grpSpPr>
          <p:sp>
            <p:nvSpPr>
              <p:cNvPr id="41" name="Freeform 41"/>
              <p:cNvSpPr/>
              <p:nvPr/>
            </p:nvSpPr>
            <p:spPr>
              <a:xfrm>
                <a:off x="0" y="0"/>
                <a:ext cx="900938" cy="62097"/>
              </a:xfrm>
              <a:custGeom>
                <a:avLst/>
                <a:gdLst/>
                <a:ahLst/>
                <a:cxnLst/>
                <a:rect l="l" t="t" r="r" b="b"/>
                <a:pathLst>
                  <a:path w="900938" h="62097">
                    <a:moveTo>
                      <a:pt x="0" y="0"/>
                    </a:moveTo>
                    <a:lnTo>
                      <a:pt x="900938" y="0"/>
                    </a:lnTo>
                    <a:lnTo>
                      <a:pt x="900938" y="62097"/>
                    </a:lnTo>
                    <a:lnTo>
                      <a:pt x="0" y="62097"/>
                    </a:lnTo>
                    <a:close/>
                  </a:path>
                </a:pathLst>
              </a:custGeom>
              <a:solidFill>
                <a:srgbClr val="00BF63"/>
              </a:solidFill>
              <a:ln cap="sq">
                <a:noFill/>
                <a:prstDash val="solid"/>
                <a:miter/>
              </a:ln>
            </p:spPr>
            <p:txBody>
              <a:bodyPr/>
              <a:lstStyle/>
              <a:p>
                <a:endParaRPr lang="es-CL"/>
              </a:p>
            </p:txBody>
          </p:sp>
          <p:sp>
            <p:nvSpPr>
              <p:cNvPr id="42" name="TextBox 42"/>
              <p:cNvSpPr txBox="1"/>
              <p:nvPr/>
            </p:nvSpPr>
            <p:spPr>
              <a:xfrm>
                <a:off x="0" y="-28575"/>
                <a:ext cx="900938"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grpSp>
        <p:nvGrpSpPr>
          <p:cNvPr id="43" name="Group 43"/>
          <p:cNvGrpSpPr/>
          <p:nvPr/>
        </p:nvGrpSpPr>
        <p:grpSpPr>
          <a:xfrm rot="5400000">
            <a:off x="14431310" y="-102284"/>
            <a:ext cx="3598580" cy="4114800"/>
            <a:chOff x="0" y="0"/>
            <a:chExt cx="4798106" cy="5486400"/>
          </a:xfrm>
        </p:grpSpPr>
        <p:grpSp>
          <p:nvGrpSpPr>
            <p:cNvPr id="44" name="Group 44"/>
            <p:cNvGrpSpPr/>
            <p:nvPr/>
          </p:nvGrpSpPr>
          <p:grpSpPr>
            <a:xfrm>
              <a:off x="0" y="359656"/>
              <a:ext cx="4798106" cy="314368"/>
              <a:chOff x="0" y="0"/>
              <a:chExt cx="947774" cy="62097"/>
            </a:xfrm>
          </p:grpSpPr>
          <p:sp>
            <p:nvSpPr>
              <p:cNvPr id="45" name="Freeform 45"/>
              <p:cNvSpPr/>
              <p:nvPr/>
            </p:nvSpPr>
            <p:spPr>
              <a:xfrm>
                <a:off x="0" y="0"/>
                <a:ext cx="947774" cy="62097"/>
              </a:xfrm>
              <a:custGeom>
                <a:avLst/>
                <a:gdLst/>
                <a:ahLst/>
                <a:cxnLst/>
                <a:rect l="l" t="t" r="r" b="b"/>
                <a:pathLst>
                  <a:path w="947774" h="62097">
                    <a:moveTo>
                      <a:pt x="0" y="0"/>
                    </a:moveTo>
                    <a:lnTo>
                      <a:pt x="947774" y="0"/>
                    </a:lnTo>
                    <a:lnTo>
                      <a:pt x="947774" y="62097"/>
                    </a:lnTo>
                    <a:lnTo>
                      <a:pt x="0" y="62097"/>
                    </a:lnTo>
                    <a:close/>
                  </a:path>
                </a:pathLst>
              </a:custGeom>
              <a:solidFill>
                <a:srgbClr val="00BF63"/>
              </a:solidFill>
              <a:ln cap="sq">
                <a:noFill/>
                <a:prstDash val="solid"/>
                <a:miter/>
              </a:ln>
            </p:spPr>
            <p:txBody>
              <a:bodyPr/>
              <a:lstStyle/>
              <a:p>
                <a:endParaRPr lang="es-CL"/>
              </a:p>
            </p:txBody>
          </p:sp>
          <p:sp>
            <p:nvSpPr>
              <p:cNvPr id="46" name="TextBox 46"/>
              <p:cNvSpPr txBox="1"/>
              <p:nvPr/>
            </p:nvSpPr>
            <p:spPr>
              <a:xfrm>
                <a:off x="0" y="-28575"/>
                <a:ext cx="947774"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47" name="Group 47"/>
            <p:cNvGrpSpPr/>
            <p:nvPr/>
          </p:nvGrpSpPr>
          <p:grpSpPr>
            <a:xfrm>
              <a:off x="0" y="925401"/>
              <a:ext cx="3675307" cy="314368"/>
              <a:chOff x="0" y="0"/>
              <a:chExt cx="725987" cy="62097"/>
            </a:xfrm>
          </p:grpSpPr>
          <p:sp>
            <p:nvSpPr>
              <p:cNvPr id="48" name="Freeform 48"/>
              <p:cNvSpPr/>
              <p:nvPr/>
            </p:nvSpPr>
            <p:spPr>
              <a:xfrm>
                <a:off x="0" y="0"/>
                <a:ext cx="725987" cy="62097"/>
              </a:xfrm>
              <a:custGeom>
                <a:avLst/>
                <a:gdLst/>
                <a:ahLst/>
                <a:cxnLst/>
                <a:rect l="l" t="t" r="r" b="b"/>
                <a:pathLst>
                  <a:path w="725987" h="62097">
                    <a:moveTo>
                      <a:pt x="0" y="0"/>
                    </a:moveTo>
                    <a:lnTo>
                      <a:pt x="725987" y="0"/>
                    </a:lnTo>
                    <a:lnTo>
                      <a:pt x="725987" y="62097"/>
                    </a:lnTo>
                    <a:lnTo>
                      <a:pt x="0" y="62097"/>
                    </a:lnTo>
                    <a:close/>
                  </a:path>
                </a:pathLst>
              </a:custGeom>
              <a:solidFill>
                <a:srgbClr val="00BF63"/>
              </a:solidFill>
              <a:ln cap="sq">
                <a:noFill/>
                <a:prstDash val="solid"/>
                <a:miter/>
              </a:ln>
            </p:spPr>
            <p:txBody>
              <a:bodyPr/>
              <a:lstStyle/>
              <a:p>
                <a:endParaRPr lang="es-CL"/>
              </a:p>
            </p:txBody>
          </p:sp>
          <p:sp>
            <p:nvSpPr>
              <p:cNvPr id="49" name="TextBox 49"/>
              <p:cNvSpPr txBox="1"/>
              <p:nvPr/>
            </p:nvSpPr>
            <p:spPr>
              <a:xfrm>
                <a:off x="0" y="-28575"/>
                <a:ext cx="725987"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50" name="Group 50"/>
            <p:cNvGrpSpPr/>
            <p:nvPr/>
          </p:nvGrpSpPr>
          <p:grpSpPr>
            <a:xfrm rot="-5400000">
              <a:off x="-650594" y="1538808"/>
              <a:ext cx="3391984" cy="314368"/>
              <a:chOff x="0" y="0"/>
              <a:chExt cx="670022" cy="62097"/>
            </a:xfrm>
          </p:grpSpPr>
          <p:sp>
            <p:nvSpPr>
              <p:cNvPr id="51" name="Freeform 51"/>
              <p:cNvSpPr/>
              <p:nvPr/>
            </p:nvSpPr>
            <p:spPr>
              <a:xfrm>
                <a:off x="0" y="0"/>
                <a:ext cx="670022" cy="62097"/>
              </a:xfrm>
              <a:custGeom>
                <a:avLst/>
                <a:gdLst/>
                <a:ahLst/>
                <a:cxnLst/>
                <a:rect l="l" t="t" r="r" b="b"/>
                <a:pathLst>
                  <a:path w="670022" h="62097">
                    <a:moveTo>
                      <a:pt x="0" y="0"/>
                    </a:moveTo>
                    <a:lnTo>
                      <a:pt x="670022" y="0"/>
                    </a:lnTo>
                    <a:lnTo>
                      <a:pt x="670022" y="62097"/>
                    </a:lnTo>
                    <a:lnTo>
                      <a:pt x="0" y="62097"/>
                    </a:lnTo>
                    <a:close/>
                  </a:path>
                </a:pathLst>
              </a:custGeom>
              <a:solidFill>
                <a:srgbClr val="00BF63"/>
              </a:solidFill>
              <a:ln cap="sq">
                <a:noFill/>
                <a:prstDash val="solid"/>
                <a:miter/>
              </a:ln>
            </p:spPr>
            <p:txBody>
              <a:bodyPr/>
              <a:lstStyle/>
              <a:p>
                <a:endParaRPr lang="es-CL"/>
              </a:p>
            </p:txBody>
          </p:sp>
          <p:sp>
            <p:nvSpPr>
              <p:cNvPr id="52" name="TextBox 52"/>
              <p:cNvSpPr txBox="1"/>
              <p:nvPr/>
            </p:nvSpPr>
            <p:spPr>
              <a:xfrm>
                <a:off x="0" y="-28575"/>
                <a:ext cx="670022"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53" name="Group 53"/>
            <p:cNvGrpSpPr/>
            <p:nvPr/>
          </p:nvGrpSpPr>
          <p:grpSpPr>
            <a:xfrm rot="-5400000">
              <a:off x="-2123316" y="3048717"/>
              <a:ext cx="4560999" cy="314368"/>
              <a:chOff x="0" y="0"/>
              <a:chExt cx="900938" cy="62097"/>
            </a:xfrm>
          </p:grpSpPr>
          <p:sp>
            <p:nvSpPr>
              <p:cNvPr id="54" name="Freeform 54"/>
              <p:cNvSpPr/>
              <p:nvPr/>
            </p:nvSpPr>
            <p:spPr>
              <a:xfrm>
                <a:off x="0" y="0"/>
                <a:ext cx="900938" cy="62097"/>
              </a:xfrm>
              <a:custGeom>
                <a:avLst/>
                <a:gdLst/>
                <a:ahLst/>
                <a:cxnLst/>
                <a:rect l="l" t="t" r="r" b="b"/>
                <a:pathLst>
                  <a:path w="900938" h="62097">
                    <a:moveTo>
                      <a:pt x="0" y="0"/>
                    </a:moveTo>
                    <a:lnTo>
                      <a:pt x="900938" y="0"/>
                    </a:lnTo>
                    <a:lnTo>
                      <a:pt x="900938" y="62097"/>
                    </a:lnTo>
                    <a:lnTo>
                      <a:pt x="0" y="62097"/>
                    </a:lnTo>
                    <a:close/>
                  </a:path>
                </a:pathLst>
              </a:custGeom>
              <a:solidFill>
                <a:srgbClr val="00BF63"/>
              </a:solidFill>
              <a:ln cap="sq">
                <a:noFill/>
                <a:prstDash val="solid"/>
                <a:miter/>
              </a:ln>
            </p:spPr>
            <p:txBody>
              <a:bodyPr/>
              <a:lstStyle/>
              <a:p>
                <a:endParaRPr lang="es-CL"/>
              </a:p>
            </p:txBody>
          </p:sp>
          <p:sp>
            <p:nvSpPr>
              <p:cNvPr id="55" name="TextBox 55"/>
              <p:cNvSpPr txBox="1"/>
              <p:nvPr/>
            </p:nvSpPr>
            <p:spPr>
              <a:xfrm>
                <a:off x="0" y="-28575"/>
                <a:ext cx="900938"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grpSp>
        <p:nvGrpSpPr>
          <p:cNvPr id="56" name="Group 56"/>
          <p:cNvGrpSpPr/>
          <p:nvPr/>
        </p:nvGrpSpPr>
        <p:grpSpPr>
          <a:xfrm rot="-10800000">
            <a:off x="6463485" y="9444321"/>
            <a:ext cx="5605872" cy="235776"/>
            <a:chOff x="0" y="0"/>
            <a:chExt cx="1476444" cy="62097"/>
          </a:xfrm>
        </p:grpSpPr>
        <p:sp>
          <p:nvSpPr>
            <p:cNvPr id="57" name="Freeform 57"/>
            <p:cNvSpPr/>
            <p:nvPr/>
          </p:nvSpPr>
          <p:spPr>
            <a:xfrm>
              <a:off x="0" y="0"/>
              <a:ext cx="1476444" cy="62097"/>
            </a:xfrm>
            <a:custGeom>
              <a:avLst/>
              <a:gdLst/>
              <a:ahLst/>
              <a:cxnLst/>
              <a:rect l="l" t="t" r="r" b="b"/>
              <a:pathLst>
                <a:path w="1476444" h="62097">
                  <a:moveTo>
                    <a:pt x="0" y="0"/>
                  </a:moveTo>
                  <a:lnTo>
                    <a:pt x="1476444" y="0"/>
                  </a:lnTo>
                  <a:lnTo>
                    <a:pt x="1476444" y="62097"/>
                  </a:lnTo>
                  <a:lnTo>
                    <a:pt x="0" y="62097"/>
                  </a:lnTo>
                  <a:close/>
                </a:path>
              </a:pathLst>
            </a:custGeom>
            <a:solidFill>
              <a:srgbClr val="7ED957"/>
            </a:solidFill>
            <a:ln cap="sq">
              <a:noFill/>
              <a:prstDash val="solid"/>
              <a:miter/>
            </a:ln>
          </p:spPr>
          <p:txBody>
            <a:bodyPr/>
            <a:lstStyle/>
            <a:p>
              <a:endParaRPr lang="es-CL"/>
            </a:p>
          </p:txBody>
        </p:sp>
        <p:sp>
          <p:nvSpPr>
            <p:cNvPr id="58" name="TextBox 58"/>
            <p:cNvSpPr txBox="1"/>
            <p:nvPr/>
          </p:nvSpPr>
          <p:spPr>
            <a:xfrm>
              <a:off x="0" y="-28575"/>
              <a:ext cx="1476444"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59" name="Group 59"/>
          <p:cNvGrpSpPr/>
          <p:nvPr/>
        </p:nvGrpSpPr>
        <p:grpSpPr>
          <a:xfrm rot="-10800000">
            <a:off x="7317640" y="8504598"/>
            <a:ext cx="3748348" cy="235776"/>
            <a:chOff x="0" y="0"/>
            <a:chExt cx="987219" cy="62097"/>
          </a:xfrm>
        </p:grpSpPr>
        <p:sp>
          <p:nvSpPr>
            <p:cNvPr id="60" name="Freeform 60"/>
            <p:cNvSpPr/>
            <p:nvPr/>
          </p:nvSpPr>
          <p:spPr>
            <a:xfrm>
              <a:off x="0" y="0"/>
              <a:ext cx="987219" cy="62097"/>
            </a:xfrm>
            <a:custGeom>
              <a:avLst/>
              <a:gdLst/>
              <a:ahLst/>
              <a:cxnLst/>
              <a:rect l="l" t="t" r="r" b="b"/>
              <a:pathLst>
                <a:path w="987219" h="62097">
                  <a:moveTo>
                    <a:pt x="0" y="0"/>
                  </a:moveTo>
                  <a:lnTo>
                    <a:pt x="987219" y="0"/>
                  </a:lnTo>
                  <a:lnTo>
                    <a:pt x="987219" y="62097"/>
                  </a:lnTo>
                  <a:lnTo>
                    <a:pt x="0" y="62097"/>
                  </a:lnTo>
                  <a:close/>
                </a:path>
              </a:pathLst>
            </a:custGeom>
            <a:solidFill>
              <a:srgbClr val="00BF63"/>
            </a:solidFill>
            <a:ln cap="sq">
              <a:noFill/>
              <a:prstDash val="solid"/>
              <a:miter/>
            </a:ln>
          </p:spPr>
          <p:txBody>
            <a:bodyPr/>
            <a:lstStyle/>
            <a:p>
              <a:endParaRPr lang="es-CL"/>
            </a:p>
          </p:txBody>
        </p:sp>
        <p:sp>
          <p:nvSpPr>
            <p:cNvPr id="61" name="TextBox 61"/>
            <p:cNvSpPr txBox="1"/>
            <p:nvPr/>
          </p:nvSpPr>
          <p:spPr>
            <a:xfrm>
              <a:off x="0" y="-28575"/>
              <a:ext cx="987219" cy="90672"/>
            </a:xfrm>
            <a:prstGeom prst="rect">
              <a:avLst/>
            </a:prstGeom>
          </p:spPr>
          <p:txBody>
            <a:bodyPr lIns="50800" tIns="50800" rIns="50800" bIns="50800" rtlCol="0" anchor="ctr"/>
            <a:lstStyle/>
            <a:p>
              <a:pPr marL="0" lvl="0" indent="0" algn="ctr">
                <a:lnSpc>
                  <a:spcPts val="2921"/>
                </a:lnSpc>
                <a:spcBef>
                  <a:spcPct val="0"/>
                </a:spcBef>
              </a:pPr>
              <a:endParaRPr/>
            </a:p>
          </p:txBody>
        </p:sp>
      </p:grpSp>
      <p:sp>
        <p:nvSpPr>
          <p:cNvPr id="62" name="Freeform 62"/>
          <p:cNvSpPr/>
          <p:nvPr/>
        </p:nvSpPr>
        <p:spPr>
          <a:xfrm>
            <a:off x="6463485" y="734680"/>
            <a:ext cx="5825927" cy="1023079"/>
          </a:xfrm>
          <a:custGeom>
            <a:avLst/>
            <a:gdLst/>
            <a:ahLst/>
            <a:cxnLst/>
            <a:rect l="l" t="t" r="r" b="b"/>
            <a:pathLst>
              <a:path w="5825927" h="1023079">
                <a:moveTo>
                  <a:pt x="0" y="0"/>
                </a:moveTo>
                <a:lnTo>
                  <a:pt x="5825927" y="0"/>
                </a:lnTo>
                <a:lnTo>
                  <a:pt x="5825927" y="1023079"/>
                </a:lnTo>
                <a:lnTo>
                  <a:pt x="0" y="1023079"/>
                </a:lnTo>
                <a:lnTo>
                  <a:pt x="0" y="0"/>
                </a:lnTo>
                <a:close/>
              </a:path>
            </a:pathLst>
          </a:custGeom>
          <a:blipFill>
            <a:blip r:embed="rId3"/>
            <a:stretch>
              <a:fillRect t="-36101" b="-4125"/>
            </a:stretch>
          </a:blipFill>
        </p:spPr>
        <p:txBody>
          <a:bodyPr/>
          <a:lstStyle/>
          <a:p>
            <a:endParaRPr lang="es-CL"/>
          </a:p>
        </p:txBody>
      </p:sp>
      <p:sp>
        <p:nvSpPr>
          <p:cNvPr id="63" name="TextBox 63"/>
          <p:cNvSpPr txBox="1"/>
          <p:nvPr/>
        </p:nvSpPr>
        <p:spPr>
          <a:xfrm>
            <a:off x="7712205" y="2046294"/>
            <a:ext cx="3353783" cy="314813"/>
          </a:xfrm>
          <a:prstGeom prst="rect">
            <a:avLst/>
          </a:prstGeom>
        </p:spPr>
        <p:txBody>
          <a:bodyPr lIns="0" tIns="0" rIns="0" bIns="0" rtlCol="0" anchor="t">
            <a:spAutoFit/>
          </a:bodyPr>
          <a:lstStyle/>
          <a:p>
            <a:pPr algn="ctr">
              <a:lnSpc>
                <a:spcPts val="2472"/>
              </a:lnSpc>
            </a:pPr>
            <a:r>
              <a:rPr lang="en-US" sz="1978" spc="-7">
                <a:solidFill>
                  <a:srgbClr val="365B6D"/>
                </a:solidFill>
                <a:latin typeface="Roboto"/>
                <a:ea typeface="Roboto"/>
                <a:cs typeface="Roboto"/>
                <a:sym typeface="Roboto"/>
              </a:rPr>
              <a:t>Instituto Profesional Duoc Uc</a:t>
            </a:r>
          </a:p>
        </p:txBody>
      </p:sp>
      <p:sp>
        <p:nvSpPr>
          <p:cNvPr id="64" name="TextBox 64"/>
          <p:cNvSpPr txBox="1"/>
          <p:nvPr/>
        </p:nvSpPr>
        <p:spPr>
          <a:xfrm>
            <a:off x="5140736" y="6399490"/>
            <a:ext cx="8102157" cy="2098273"/>
          </a:xfrm>
          <a:prstGeom prst="rect">
            <a:avLst/>
          </a:prstGeom>
        </p:spPr>
        <p:txBody>
          <a:bodyPr lIns="0" tIns="0" rIns="0" bIns="0" rtlCol="0" anchor="t">
            <a:spAutoFit/>
          </a:bodyPr>
          <a:lstStyle/>
          <a:p>
            <a:pPr algn="ctr">
              <a:lnSpc>
                <a:spcPts val="6661"/>
              </a:lnSpc>
            </a:pPr>
            <a:r>
              <a:rPr lang="en-US" sz="7484" b="1">
                <a:solidFill>
                  <a:srgbClr val="000000"/>
                </a:solidFill>
                <a:latin typeface="Monterchi Serif Bold"/>
                <a:ea typeface="Monterchi Serif Bold"/>
                <a:cs typeface="Monterchi Serif Bold"/>
                <a:sym typeface="Monterchi Serif Bold"/>
              </a:rPr>
              <a:t>Presentación Final Capstone Fase 2</a:t>
            </a:r>
          </a:p>
          <a:p>
            <a:pPr marL="0" lvl="0" indent="0" algn="ctr">
              <a:lnSpc>
                <a:spcPts val="3368"/>
              </a:lnSpc>
              <a:spcBef>
                <a:spcPct val="0"/>
              </a:spcBef>
            </a:pPr>
            <a:r>
              <a:rPr lang="en-US" sz="3784" b="1">
                <a:solidFill>
                  <a:srgbClr val="000000"/>
                </a:solidFill>
                <a:latin typeface="Monterchi Serif Bold"/>
                <a:ea typeface="Monterchi Serif Bold"/>
                <a:cs typeface="Monterchi Serif Bold"/>
                <a:sym typeface="Monterchi Serif Bold"/>
              </a:rPr>
              <a:t>001-D</a:t>
            </a:r>
          </a:p>
        </p:txBody>
      </p:sp>
      <p:sp>
        <p:nvSpPr>
          <p:cNvPr id="65" name="TextBox 65"/>
          <p:cNvSpPr txBox="1"/>
          <p:nvPr/>
        </p:nvSpPr>
        <p:spPr>
          <a:xfrm>
            <a:off x="13865393" y="7334095"/>
            <a:ext cx="3199671" cy="1680884"/>
          </a:xfrm>
          <a:prstGeom prst="rect">
            <a:avLst/>
          </a:prstGeom>
        </p:spPr>
        <p:txBody>
          <a:bodyPr lIns="0" tIns="0" rIns="0" bIns="0" rtlCol="0" anchor="t">
            <a:spAutoFit/>
          </a:bodyPr>
          <a:lstStyle/>
          <a:p>
            <a:pPr algn="ctr">
              <a:lnSpc>
                <a:spcPts val="3341"/>
              </a:lnSpc>
            </a:pPr>
            <a:r>
              <a:rPr lang="en-US" sz="2439" spc="-9">
                <a:solidFill>
                  <a:srgbClr val="6C9286"/>
                </a:solidFill>
                <a:latin typeface="Roboto"/>
                <a:ea typeface="Roboto"/>
                <a:cs typeface="Roboto"/>
                <a:sym typeface="Roboto"/>
              </a:rPr>
              <a:t>Integrantes:</a:t>
            </a:r>
          </a:p>
          <a:p>
            <a:pPr algn="ctr">
              <a:lnSpc>
                <a:spcPts val="3341"/>
              </a:lnSpc>
            </a:pPr>
            <a:r>
              <a:rPr lang="en-US" sz="2439" spc="-9">
                <a:solidFill>
                  <a:srgbClr val="6C9286"/>
                </a:solidFill>
                <a:latin typeface="Roboto"/>
                <a:ea typeface="Roboto"/>
                <a:cs typeface="Roboto"/>
                <a:sym typeface="Roboto"/>
              </a:rPr>
              <a:t>Cindy Beyer</a:t>
            </a:r>
          </a:p>
          <a:p>
            <a:pPr algn="ctr">
              <a:lnSpc>
                <a:spcPts val="3341"/>
              </a:lnSpc>
            </a:pPr>
            <a:r>
              <a:rPr lang="en-US" sz="2439" spc="-9">
                <a:solidFill>
                  <a:srgbClr val="6C9286"/>
                </a:solidFill>
                <a:latin typeface="Roboto"/>
                <a:ea typeface="Roboto"/>
                <a:cs typeface="Roboto"/>
                <a:sym typeface="Roboto"/>
              </a:rPr>
              <a:t>Erwin González</a:t>
            </a:r>
          </a:p>
          <a:p>
            <a:pPr algn="ctr">
              <a:lnSpc>
                <a:spcPts val="3341"/>
              </a:lnSpc>
            </a:pPr>
            <a:r>
              <a:rPr lang="en-US" sz="2439" spc="-9">
                <a:solidFill>
                  <a:srgbClr val="6C9286"/>
                </a:solidFill>
                <a:latin typeface="Roboto"/>
                <a:ea typeface="Roboto"/>
                <a:cs typeface="Roboto"/>
                <a:sym typeface="Roboto"/>
              </a:rPr>
              <a:t>Bárbara Riffo </a:t>
            </a:r>
          </a:p>
        </p:txBody>
      </p:sp>
      <p:sp>
        <p:nvSpPr>
          <p:cNvPr id="66" name="TextBox 66"/>
          <p:cNvSpPr txBox="1"/>
          <p:nvPr/>
        </p:nvSpPr>
        <p:spPr>
          <a:xfrm>
            <a:off x="1271867" y="7543645"/>
            <a:ext cx="3053378" cy="1261784"/>
          </a:xfrm>
          <a:prstGeom prst="rect">
            <a:avLst/>
          </a:prstGeom>
        </p:spPr>
        <p:txBody>
          <a:bodyPr lIns="0" tIns="0" rIns="0" bIns="0" rtlCol="0" anchor="t">
            <a:spAutoFit/>
          </a:bodyPr>
          <a:lstStyle/>
          <a:p>
            <a:pPr algn="ctr">
              <a:lnSpc>
                <a:spcPts val="3341"/>
              </a:lnSpc>
            </a:pPr>
            <a:r>
              <a:rPr lang="en-US" sz="2439" spc="-9">
                <a:solidFill>
                  <a:srgbClr val="6C9286"/>
                </a:solidFill>
                <a:latin typeface="Roboto"/>
                <a:ea typeface="Roboto"/>
                <a:cs typeface="Roboto"/>
                <a:sym typeface="Roboto"/>
              </a:rPr>
              <a:t>Docentes:</a:t>
            </a:r>
          </a:p>
          <a:p>
            <a:pPr algn="ctr">
              <a:lnSpc>
                <a:spcPts val="3341"/>
              </a:lnSpc>
            </a:pPr>
            <a:r>
              <a:rPr lang="en-US" sz="2439" spc="-9">
                <a:solidFill>
                  <a:srgbClr val="6C9286"/>
                </a:solidFill>
                <a:latin typeface="Roboto"/>
                <a:ea typeface="Roboto"/>
                <a:cs typeface="Roboto"/>
                <a:sym typeface="Roboto"/>
              </a:rPr>
              <a:t>Juan Pablo Mellado,</a:t>
            </a:r>
          </a:p>
          <a:p>
            <a:pPr algn="ctr">
              <a:lnSpc>
                <a:spcPts val="3341"/>
              </a:lnSpc>
            </a:pPr>
            <a:r>
              <a:rPr lang="en-US" sz="2439" spc="-9">
                <a:solidFill>
                  <a:srgbClr val="6C9286"/>
                </a:solidFill>
                <a:latin typeface="Roboto"/>
                <a:ea typeface="Roboto"/>
                <a:cs typeface="Roboto"/>
                <a:sym typeface="Roboto"/>
              </a:rPr>
              <a:t>Jazna Meza.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7AD">
                <a:alpha val="100000"/>
              </a:srgbClr>
            </a:gs>
            <a:gs pos="100000">
              <a:srgbClr val="FFA9F9">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7594178" y="2786364"/>
            <a:ext cx="3029752" cy="3029752"/>
          </a:xfrm>
          <a:custGeom>
            <a:avLst/>
            <a:gdLst/>
            <a:ahLst/>
            <a:cxnLst/>
            <a:rect l="l" t="t" r="r" b="b"/>
            <a:pathLst>
              <a:path w="3029752" h="3029752">
                <a:moveTo>
                  <a:pt x="0" y="0"/>
                </a:moveTo>
                <a:lnTo>
                  <a:pt x="3029753" y="0"/>
                </a:lnTo>
                <a:lnTo>
                  <a:pt x="3029753" y="3029752"/>
                </a:lnTo>
                <a:lnTo>
                  <a:pt x="0" y="3029752"/>
                </a:lnTo>
                <a:lnTo>
                  <a:pt x="0" y="0"/>
                </a:lnTo>
                <a:close/>
              </a:path>
            </a:pathLst>
          </a:custGeom>
          <a:blipFill>
            <a:blip r:embed="rId3"/>
            <a:stretch>
              <a:fillRect/>
            </a:stretch>
          </a:blipFill>
        </p:spPr>
        <p:txBody>
          <a:bodyPr/>
          <a:lstStyle/>
          <a:p>
            <a:endParaRPr lang="es-CL"/>
          </a:p>
        </p:txBody>
      </p:sp>
      <p:sp>
        <p:nvSpPr>
          <p:cNvPr id="3" name="Freeform 3"/>
          <p:cNvSpPr/>
          <p:nvPr/>
        </p:nvSpPr>
        <p:spPr>
          <a:xfrm>
            <a:off x="3334455" y="2786364"/>
            <a:ext cx="2234786" cy="3029752"/>
          </a:xfrm>
          <a:custGeom>
            <a:avLst/>
            <a:gdLst/>
            <a:ahLst/>
            <a:cxnLst/>
            <a:rect l="l" t="t" r="r" b="b"/>
            <a:pathLst>
              <a:path w="2234786" h="3029752">
                <a:moveTo>
                  <a:pt x="0" y="0"/>
                </a:moveTo>
                <a:lnTo>
                  <a:pt x="2234786" y="0"/>
                </a:lnTo>
                <a:lnTo>
                  <a:pt x="2234786" y="3029752"/>
                </a:lnTo>
                <a:lnTo>
                  <a:pt x="0" y="3029752"/>
                </a:lnTo>
                <a:lnTo>
                  <a:pt x="0" y="0"/>
                </a:lnTo>
                <a:close/>
              </a:path>
            </a:pathLst>
          </a:custGeom>
          <a:blipFill>
            <a:blip r:embed="rId4"/>
            <a:stretch>
              <a:fillRect t="-1424" b="-9286"/>
            </a:stretch>
          </a:blipFill>
        </p:spPr>
        <p:txBody>
          <a:bodyPr/>
          <a:lstStyle/>
          <a:p>
            <a:endParaRPr lang="es-CL"/>
          </a:p>
        </p:txBody>
      </p:sp>
      <p:sp>
        <p:nvSpPr>
          <p:cNvPr id="4" name="Freeform 4"/>
          <p:cNvSpPr/>
          <p:nvPr/>
        </p:nvSpPr>
        <p:spPr>
          <a:xfrm>
            <a:off x="12462878" y="2786364"/>
            <a:ext cx="2317512" cy="3072907"/>
          </a:xfrm>
          <a:custGeom>
            <a:avLst/>
            <a:gdLst/>
            <a:ahLst/>
            <a:cxnLst/>
            <a:rect l="l" t="t" r="r" b="b"/>
            <a:pathLst>
              <a:path w="2317512" h="3072907">
                <a:moveTo>
                  <a:pt x="0" y="0"/>
                </a:moveTo>
                <a:lnTo>
                  <a:pt x="2317513" y="0"/>
                </a:lnTo>
                <a:lnTo>
                  <a:pt x="2317513" y="3072907"/>
                </a:lnTo>
                <a:lnTo>
                  <a:pt x="0" y="3072907"/>
                </a:lnTo>
                <a:lnTo>
                  <a:pt x="0" y="0"/>
                </a:lnTo>
                <a:close/>
              </a:path>
            </a:pathLst>
          </a:custGeom>
          <a:blipFill>
            <a:blip r:embed="rId5"/>
            <a:stretch>
              <a:fillRect b="-13197"/>
            </a:stretch>
          </a:blipFill>
        </p:spPr>
        <p:txBody>
          <a:bodyPr/>
          <a:lstStyle/>
          <a:p>
            <a:endParaRPr lang="es-CL"/>
          </a:p>
        </p:txBody>
      </p:sp>
      <p:sp>
        <p:nvSpPr>
          <p:cNvPr id="5" name="Freeform 5"/>
          <p:cNvSpPr/>
          <p:nvPr/>
        </p:nvSpPr>
        <p:spPr>
          <a:xfrm>
            <a:off x="-374009" y="7816801"/>
            <a:ext cx="2534897" cy="2812646"/>
          </a:xfrm>
          <a:custGeom>
            <a:avLst/>
            <a:gdLst/>
            <a:ahLst/>
            <a:cxnLst/>
            <a:rect l="l" t="t" r="r" b="b"/>
            <a:pathLst>
              <a:path w="2534897" h="2812646">
                <a:moveTo>
                  <a:pt x="0" y="0"/>
                </a:moveTo>
                <a:lnTo>
                  <a:pt x="2534898" y="0"/>
                </a:lnTo>
                <a:lnTo>
                  <a:pt x="2534898" y="2812646"/>
                </a:lnTo>
                <a:lnTo>
                  <a:pt x="0" y="281264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s-CL"/>
          </a:p>
        </p:txBody>
      </p:sp>
      <p:sp>
        <p:nvSpPr>
          <p:cNvPr id="6" name="TextBox 6"/>
          <p:cNvSpPr txBox="1"/>
          <p:nvPr/>
        </p:nvSpPr>
        <p:spPr>
          <a:xfrm>
            <a:off x="2160889" y="2096087"/>
            <a:ext cx="4279949" cy="382270"/>
          </a:xfrm>
          <a:prstGeom prst="rect">
            <a:avLst/>
          </a:prstGeom>
        </p:spPr>
        <p:txBody>
          <a:bodyPr lIns="0" tIns="0" rIns="0" bIns="0" rtlCol="0" anchor="t">
            <a:spAutoFit/>
          </a:bodyPr>
          <a:lstStyle/>
          <a:p>
            <a:pPr algn="ctr">
              <a:lnSpc>
                <a:spcPts val="3079"/>
              </a:lnSpc>
            </a:pPr>
            <a:r>
              <a:rPr lang="en-US" sz="2199">
                <a:solidFill>
                  <a:srgbClr val="000000"/>
                </a:solidFill>
                <a:latin typeface="Roboto"/>
                <a:ea typeface="Roboto"/>
                <a:cs typeface="Roboto"/>
                <a:sym typeface="Roboto"/>
              </a:rPr>
              <a:t>Cindy Beyer</a:t>
            </a:r>
          </a:p>
        </p:txBody>
      </p:sp>
      <p:sp>
        <p:nvSpPr>
          <p:cNvPr id="7" name="TextBox 7"/>
          <p:cNvSpPr txBox="1"/>
          <p:nvPr/>
        </p:nvSpPr>
        <p:spPr>
          <a:xfrm>
            <a:off x="7025682" y="2096087"/>
            <a:ext cx="4279949" cy="382270"/>
          </a:xfrm>
          <a:prstGeom prst="rect">
            <a:avLst/>
          </a:prstGeom>
        </p:spPr>
        <p:txBody>
          <a:bodyPr lIns="0" tIns="0" rIns="0" bIns="0" rtlCol="0" anchor="t">
            <a:spAutoFit/>
          </a:bodyPr>
          <a:lstStyle/>
          <a:p>
            <a:pPr algn="ctr">
              <a:lnSpc>
                <a:spcPts val="3079"/>
              </a:lnSpc>
            </a:pPr>
            <a:r>
              <a:rPr lang="en-US" sz="2199">
                <a:solidFill>
                  <a:srgbClr val="000000"/>
                </a:solidFill>
                <a:latin typeface="Roboto"/>
                <a:ea typeface="Roboto"/>
                <a:cs typeface="Roboto"/>
                <a:sym typeface="Roboto"/>
              </a:rPr>
              <a:t>Erwin Gónzalez</a:t>
            </a:r>
          </a:p>
        </p:txBody>
      </p:sp>
      <p:sp>
        <p:nvSpPr>
          <p:cNvPr id="8" name="TextBox 8"/>
          <p:cNvSpPr txBox="1"/>
          <p:nvPr/>
        </p:nvSpPr>
        <p:spPr>
          <a:xfrm>
            <a:off x="1028700" y="686612"/>
            <a:ext cx="16160709" cy="1025271"/>
          </a:xfrm>
          <a:prstGeom prst="rect">
            <a:avLst/>
          </a:prstGeom>
        </p:spPr>
        <p:txBody>
          <a:bodyPr lIns="0" tIns="0" rIns="0" bIns="0" rtlCol="0" anchor="t">
            <a:spAutoFit/>
          </a:bodyPr>
          <a:lstStyle/>
          <a:p>
            <a:pPr algn="ctr">
              <a:lnSpc>
                <a:spcPts val="7992"/>
              </a:lnSpc>
            </a:pPr>
            <a:r>
              <a:rPr lang="en-US" sz="7200" b="1" spc="-187">
                <a:solidFill>
                  <a:srgbClr val="000000"/>
                </a:solidFill>
                <a:latin typeface="Monterchi Serif Bold"/>
                <a:ea typeface="Monterchi Serif Bold"/>
                <a:cs typeface="Monterchi Serif Bold"/>
                <a:sym typeface="Monterchi Serif Bold"/>
              </a:rPr>
              <a:t>INTEGRANTES DEL PROYECTO</a:t>
            </a:r>
          </a:p>
        </p:txBody>
      </p:sp>
      <p:sp>
        <p:nvSpPr>
          <p:cNvPr id="9" name="TextBox 9"/>
          <p:cNvSpPr txBox="1"/>
          <p:nvPr/>
        </p:nvSpPr>
        <p:spPr>
          <a:xfrm>
            <a:off x="11481660" y="2096087"/>
            <a:ext cx="4279949" cy="382270"/>
          </a:xfrm>
          <a:prstGeom prst="rect">
            <a:avLst/>
          </a:prstGeom>
        </p:spPr>
        <p:txBody>
          <a:bodyPr lIns="0" tIns="0" rIns="0" bIns="0" rtlCol="0" anchor="t">
            <a:spAutoFit/>
          </a:bodyPr>
          <a:lstStyle/>
          <a:p>
            <a:pPr algn="ctr">
              <a:lnSpc>
                <a:spcPts val="3079"/>
              </a:lnSpc>
            </a:pPr>
            <a:r>
              <a:rPr lang="en-US" sz="2199">
                <a:solidFill>
                  <a:srgbClr val="000000"/>
                </a:solidFill>
                <a:latin typeface="Roboto"/>
                <a:ea typeface="Roboto"/>
                <a:cs typeface="Roboto"/>
                <a:sym typeface="Roboto"/>
              </a:rPr>
              <a:t>Bárbara Riffo</a:t>
            </a:r>
          </a:p>
        </p:txBody>
      </p:sp>
      <p:sp>
        <p:nvSpPr>
          <p:cNvPr id="10" name="TextBox 10"/>
          <p:cNvSpPr txBox="1"/>
          <p:nvPr/>
        </p:nvSpPr>
        <p:spPr>
          <a:xfrm>
            <a:off x="9139238" y="4652327"/>
            <a:ext cx="9525" cy="887095"/>
          </a:xfrm>
          <a:prstGeom prst="rect">
            <a:avLst/>
          </a:prstGeom>
        </p:spPr>
        <p:txBody>
          <a:bodyPr lIns="0" tIns="0" rIns="0" bIns="0" rtlCol="0" anchor="t">
            <a:spAutoFit/>
          </a:bodyPr>
          <a:lstStyle/>
          <a:p>
            <a:pPr algn="ctr">
              <a:lnSpc>
                <a:spcPts val="7279"/>
              </a:lnSpc>
            </a:pPr>
            <a:endParaRPr/>
          </a:p>
        </p:txBody>
      </p:sp>
      <p:sp>
        <p:nvSpPr>
          <p:cNvPr id="11" name="TextBox 11"/>
          <p:cNvSpPr txBox="1"/>
          <p:nvPr/>
        </p:nvSpPr>
        <p:spPr>
          <a:xfrm>
            <a:off x="2658385" y="5938226"/>
            <a:ext cx="3257367" cy="2810181"/>
          </a:xfrm>
          <a:prstGeom prst="rect">
            <a:avLst/>
          </a:prstGeom>
        </p:spPr>
        <p:txBody>
          <a:bodyPr lIns="0" tIns="0" rIns="0" bIns="0" rtlCol="0" anchor="t">
            <a:spAutoFit/>
          </a:bodyPr>
          <a:lstStyle/>
          <a:p>
            <a:pPr algn="ctr">
              <a:lnSpc>
                <a:spcPts val="3188"/>
              </a:lnSpc>
            </a:pPr>
            <a:r>
              <a:rPr lang="en-US" sz="2277">
                <a:solidFill>
                  <a:srgbClr val="000000"/>
                </a:solidFill>
                <a:latin typeface="Open Sans"/>
                <a:ea typeface="Open Sans"/>
                <a:cs typeface="Open Sans"/>
                <a:sym typeface="Open Sans"/>
              </a:rPr>
              <a:t>Cargo:  Product Owner</a:t>
            </a:r>
          </a:p>
          <a:p>
            <a:pPr algn="ctr">
              <a:lnSpc>
                <a:spcPts val="3188"/>
              </a:lnSpc>
            </a:pPr>
            <a:r>
              <a:rPr lang="en-US" sz="2277">
                <a:solidFill>
                  <a:srgbClr val="000000"/>
                </a:solidFill>
                <a:latin typeface="Open Sans"/>
                <a:ea typeface="Open Sans"/>
                <a:cs typeface="Open Sans"/>
                <a:sym typeface="Open Sans"/>
              </a:rPr>
              <a:t>Funciones desempeñadas: Full Stack, realizar pruebas QA, encargada de programar en backend y frontend.</a:t>
            </a:r>
          </a:p>
        </p:txBody>
      </p:sp>
      <p:sp>
        <p:nvSpPr>
          <p:cNvPr id="12" name="TextBox 12"/>
          <p:cNvSpPr txBox="1"/>
          <p:nvPr/>
        </p:nvSpPr>
        <p:spPr>
          <a:xfrm>
            <a:off x="7161121" y="5938226"/>
            <a:ext cx="4009072" cy="2325370"/>
          </a:xfrm>
          <a:prstGeom prst="rect">
            <a:avLst/>
          </a:prstGeom>
        </p:spPr>
        <p:txBody>
          <a:bodyPr lIns="0" tIns="0" rIns="0" bIns="0" rtlCol="0" anchor="t">
            <a:spAutoFit/>
          </a:bodyPr>
          <a:lstStyle/>
          <a:p>
            <a:pPr algn="ctr">
              <a:lnSpc>
                <a:spcPts val="3079"/>
              </a:lnSpc>
            </a:pPr>
            <a:r>
              <a:rPr lang="en-US" sz="2199">
                <a:solidFill>
                  <a:srgbClr val="000000"/>
                </a:solidFill>
                <a:latin typeface="Open Sans"/>
                <a:ea typeface="Open Sans"/>
                <a:cs typeface="Open Sans"/>
                <a:sym typeface="Open Sans"/>
              </a:rPr>
              <a:t>Cargo: Developer </a:t>
            </a:r>
          </a:p>
          <a:p>
            <a:pPr algn="ctr">
              <a:lnSpc>
                <a:spcPts val="3079"/>
              </a:lnSpc>
            </a:pPr>
            <a:r>
              <a:rPr lang="en-US" sz="2199">
                <a:solidFill>
                  <a:srgbClr val="000000"/>
                </a:solidFill>
                <a:latin typeface="Open Sans"/>
                <a:ea typeface="Open Sans"/>
                <a:cs typeface="Open Sans"/>
                <a:sym typeface="Open Sans"/>
              </a:rPr>
              <a:t>Funciones  </a:t>
            </a:r>
          </a:p>
          <a:p>
            <a:pPr algn="ctr">
              <a:lnSpc>
                <a:spcPts val="3079"/>
              </a:lnSpc>
            </a:pPr>
            <a:r>
              <a:rPr lang="en-US" sz="2199">
                <a:solidFill>
                  <a:srgbClr val="000000"/>
                </a:solidFill>
                <a:latin typeface="Open Sans"/>
                <a:ea typeface="Open Sans"/>
                <a:cs typeface="Open Sans"/>
                <a:sym typeface="Open Sans"/>
              </a:rPr>
              <a:t>desempeñadas: Full Stack, realizar pruebas QA, encargado de programar en backend y frontend. </a:t>
            </a:r>
          </a:p>
        </p:txBody>
      </p:sp>
      <p:sp>
        <p:nvSpPr>
          <p:cNvPr id="13" name="TextBox 13"/>
          <p:cNvSpPr txBox="1"/>
          <p:nvPr/>
        </p:nvSpPr>
        <p:spPr>
          <a:xfrm>
            <a:off x="11803945" y="5938226"/>
            <a:ext cx="4009072" cy="2325370"/>
          </a:xfrm>
          <a:prstGeom prst="rect">
            <a:avLst/>
          </a:prstGeom>
        </p:spPr>
        <p:txBody>
          <a:bodyPr lIns="0" tIns="0" rIns="0" bIns="0" rtlCol="0" anchor="t">
            <a:spAutoFit/>
          </a:bodyPr>
          <a:lstStyle/>
          <a:p>
            <a:pPr algn="ctr">
              <a:lnSpc>
                <a:spcPts val="3079"/>
              </a:lnSpc>
            </a:pPr>
            <a:r>
              <a:rPr lang="en-US" sz="2199">
                <a:solidFill>
                  <a:srgbClr val="000000"/>
                </a:solidFill>
                <a:latin typeface="Open Sans"/>
                <a:ea typeface="Open Sans"/>
                <a:cs typeface="Open Sans"/>
                <a:sym typeface="Open Sans"/>
              </a:rPr>
              <a:t>Cargo: Scrum Master </a:t>
            </a:r>
          </a:p>
          <a:p>
            <a:pPr algn="ctr">
              <a:lnSpc>
                <a:spcPts val="3079"/>
              </a:lnSpc>
            </a:pPr>
            <a:r>
              <a:rPr lang="en-US" sz="2199">
                <a:solidFill>
                  <a:srgbClr val="000000"/>
                </a:solidFill>
                <a:latin typeface="Open Sans"/>
                <a:ea typeface="Open Sans"/>
                <a:cs typeface="Open Sans"/>
                <a:sym typeface="Open Sans"/>
              </a:rPr>
              <a:t>Funciones</a:t>
            </a:r>
          </a:p>
          <a:p>
            <a:pPr algn="ctr">
              <a:lnSpc>
                <a:spcPts val="3079"/>
              </a:lnSpc>
            </a:pPr>
            <a:r>
              <a:rPr lang="en-US" sz="2199">
                <a:solidFill>
                  <a:srgbClr val="000000"/>
                </a:solidFill>
                <a:latin typeface="Open Sans"/>
                <a:ea typeface="Open Sans"/>
                <a:cs typeface="Open Sans"/>
                <a:sym typeface="Open Sans"/>
              </a:rPr>
              <a:t> desempeñadas: Full Stack, realizar Pruebas QA, encargada de realizar backend y frontend. </a:t>
            </a:r>
          </a:p>
        </p:txBody>
      </p:sp>
      <p:sp>
        <p:nvSpPr>
          <p:cNvPr id="14" name="Freeform 14"/>
          <p:cNvSpPr/>
          <p:nvPr/>
        </p:nvSpPr>
        <p:spPr>
          <a:xfrm rot="-10800000">
            <a:off x="15937637" y="-345517"/>
            <a:ext cx="2695816" cy="2991197"/>
          </a:xfrm>
          <a:custGeom>
            <a:avLst/>
            <a:gdLst/>
            <a:ahLst/>
            <a:cxnLst/>
            <a:rect l="l" t="t" r="r" b="b"/>
            <a:pathLst>
              <a:path w="2695816" h="2991197">
                <a:moveTo>
                  <a:pt x="0" y="0"/>
                </a:moveTo>
                <a:lnTo>
                  <a:pt x="2695816" y="0"/>
                </a:lnTo>
                <a:lnTo>
                  <a:pt x="2695816" y="2991197"/>
                </a:lnTo>
                <a:lnTo>
                  <a:pt x="0" y="299119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s-CL"/>
          </a:p>
        </p:txBody>
      </p:sp>
      <p:grpSp>
        <p:nvGrpSpPr>
          <p:cNvPr id="15" name="Group 15"/>
          <p:cNvGrpSpPr/>
          <p:nvPr/>
        </p:nvGrpSpPr>
        <p:grpSpPr>
          <a:xfrm rot="-5400000">
            <a:off x="-2427731" y="3886851"/>
            <a:ext cx="5605872" cy="163991"/>
            <a:chOff x="0" y="0"/>
            <a:chExt cx="1476444" cy="43191"/>
          </a:xfrm>
        </p:grpSpPr>
        <p:sp>
          <p:nvSpPr>
            <p:cNvPr id="16" name="Freeform 16"/>
            <p:cNvSpPr/>
            <p:nvPr/>
          </p:nvSpPr>
          <p:spPr>
            <a:xfrm>
              <a:off x="0" y="0"/>
              <a:ext cx="1476444" cy="43191"/>
            </a:xfrm>
            <a:custGeom>
              <a:avLst/>
              <a:gdLst/>
              <a:ahLst/>
              <a:cxnLst/>
              <a:rect l="l" t="t" r="r" b="b"/>
              <a:pathLst>
                <a:path w="1476444" h="43191">
                  <a:moveTo>
                    <a:pt x="0" y="0"/>
                  </a:moveTo>
                  <a:lnTo>
                    <a:pt x="1476444" y="0"/>
                  </a:lnTo>
                  <a:lnTo>
                    <a:pt x="1476444" y="43191"/>
                  </a:lnTo>
                  <a:lnTo>
                    <a:pt x="0" y="43191"/>
                  </a:lnTo>
                  <a:close/>
                </a:path>
              </a:pathLst>
            </a:custGeom>
            <a:solidFill>
              <a:srgbClr val="FFFFFF"/>
            </a:solidFill>
            <a:ln cap="sq">
              <a:noFill/>
              <a:prstDash val="solid"/>
              <a:miter/>
            </a:ln>
          </p:spPr>
          <p:txBody>
            <a:bodyPr/>
            <a:lstStyle/>
            <a:p>
              <a:endParaRPr lang="es-CL"/>
            </a:p>
          </p:txBody>
        </p:sp>
        <p:sp>
          <p:nvSpPr>
            <p:cNvPr id="17" name="TextBox 17"/>
            <p:cNvSpPr txBox="1"/>
            <p:nvPr/>
          </p:nvSpPr>
          <p:spPr>
            <a:xfrm>
              <a:off x="0" y="-28575"/>
              <a:ext cx="1476444" cy="71766"/>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18" name="Group 18"/>
          <p:cNvGrpSpPr/>
          <p:nvPr/>
        </p:nvGrpSpPr>
        <p:grpSpPr>
          <a:xfrm rot="-10800000">
            <a:off x="4921180" y="9856605"/>
            <a:ext cx="8887301" cy="194126"/>
            <a:chOff x="0" y="0"/>
            <a:chExt cx="2340688" cy="51128"/>
          </a:xfrm>
        </p:grpSpPr>
        <p:sp>
          <p:nvSpPr>
            <p:cNvPr id="19" name="Freeform 19"/>
            <p:cNvSpPr/>
            <p:nvPr/>
          </p:nvSpPr>
          <p:spPr>
            <a:xfrm>
              <a:off x="0" y="0"/>
              <a:ext cx="2340689" cy="51128"/>
            </a:xfrm>
            <a:custGeom>
              <a:avLst/>
              <a:gdLst/>
              <a:ahLst/>
              <a:cxnLst/>
              <a:rect l="l" t="t" r="r" b="b"/>
              <a:pathLst>
                <a:path w="2340689" h="51128">
                  <a:moveTo>
                    <a:pt x="0" y="0"/>
                  </a:moveTo>
                  <a:lnTo>
                    <a:pt x="2340689" y="0"/>
                  </a:lnTo>
                  <a:lnTo>
                    <a:pt x="2340689" y="51128"/>
                  </a:lnTo>
                  <a:lnTo>
                    <a:pt x="0" y="51128"/>
                  </a:lnTo>
                  <a:close/>
                </a:path>
              </a:pathLst>
            </a:custGeom>
            <a:solidFill>
              <a:srgbClr val="FFFFFF"/>
            </a:solidFill>
            <a:ln cap="sq">
              <a:noFill/>
              <a:prstDash val="solid"/>
              <a:miter/>
            </a:ln>
          </p:spPr>
          <p:txBody>
            <a:bodyPr/>
            <a:lstStyle/>
            <a:p>
              <a:endParaRPr lang="es-CL"/>
            </a:p>
          </p:txBody>
        </p:sp>
        <p:sp>
          <p:nvSpPr>
            <p:cNvPr id="20" name="TextBox 20"/>
            <p:cNvSpPr txBox="1"/>
            <p:nvPr/>
          </p:nvSpPr>
          <p:spPr>
            <a:xfrm>
              <a:off x="0" y="-28575"/>
              <a:ext cx="2340688" cy="79703"/>
            </a:xfrm>
            <a:prstGeom prst="rect">
              <a:avLst/>
            </a:prstGeom>
          </p:spPr>
          <p:txBody>
            <a:bodyPr lIns="50800" tIns="50800" rIns="50800" bIns="50800" rtlCol="0" anchor="ctr"/>
            <a:lstStyle/>
            <a:p>
              <a:pPr marL="0" lvl="0" indent="0" algn="ctr">
                <a:lnSpc>
                  <a:spcPts val="2921"/>
                </a:lnSpc>
                <a:spcBef>
                  <a:spcPct val="0"/>
                </a:spcBef>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773748" y="2692933"/>
            <a:ext cx="6895498" cy="235776"/>
            <a:chOff x="0" y="0"/>
            <a:chExt cx="9193998" cy="314368"/>
          </a:xfrm>
        </p:grpSpPr>
        <p:grpSp>
          <p:nvGrpSpPr>
            <p:cNvPr id="3" name="Group 3"/>
            <p:cNvGrpSpPr/>
            <p:nvPr/>
          </p:nvGrpSpPr>
          <p:grpSpPr>
            <a:xfrm>
              <a:off x="0" y="0"/>
              <a:ext cx="4596999" cy="314368"/>
              <a:chOff x="0" y="0"/>
              <a:chExt cx="908049" cy="62097"/>
            </a:xfrm>
          </p:grpSpPr>
          <p:sp>
            <p:nvSpPr>
              <p:cNvPr id="4" name="Freeform 4"/>
              <p:cNvSpPr/>
              <p:nvPr/>
            </p:nvSpPr>
            <p:spPr>
              <a:xfrm>
                <a:off x="0" y="0"/>
                <a:ext cx="908049" cy="62097"/>
              </a:xfrm>
              <a:custGeom>
                <a:avLst/>
                <a:gdLst/>
                <a:ahLst/>
                <a:cxnLst/>
                <a:rect l="l" t="t" r="r" b="b"/>
                <a:pathLst>
                  <a:path w="908049" h="62097">
                    <a:moveTo>
                      <a:pt x="0" y="0"/>
                    </a:moveTo>
                    <a:lnTo>
                      <a:pt x="908049" y="0"/>
                    </a:lnTo>
                    <a:lnTo>
                      <a:pt x="908049" y="62097"/>
                    </a:lnTo>
                    <a:lnTo>
                      <a:pt x="0" y="62097"/>
                    </a:lnTo>
                    <a:close/>
                  </a:path>
                </a:pathLst>
              </a:custGeom>
              <a:solidFill>
                <a:srgbClr val="6C9286"/>
              </a:solidFill>
              <a:ln cap="sq">
                <a:noFill/>
                <a:prstDash val="solid"/>
                <a:miter/>
              </a:ln>
            </p:spPr>
            <p:txBody>
              <a:bodyPr/>
              <a:lstStyle/>
              <a:p>
                <a:endParaRPr lang="es-CL"/>
              </a:p>
            </p:txBody>
          </p:sp>
          <p:sp>
            <p:nvSpPr>
              <p:cNvPr id="5" name="TextBox 5"/>
              <p:cNvSpPr txBox="1"/>
              <p:nvPr/>
            </p:nvSpPr>
            <p:spPr>
              <a:xfrm>
                <a:off x="0" y="-28575"/>
                <a:ext cx="908049"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6" name="Group 6"/>
            <p:cNvGrpSpPr/>
            <p:nvPr/>
          </p:nvGrpSpPr>
          <p:grpSpPr>
            <a:xfrm>
              <a:off x="4596999" y="0"/>
              <a:ext cx="4596999" cy="314368"/>
              <a:chOff x="0" y="0"/>
              <a:chExt cx="908049" cy="62097"/>
            </a:xfrm>
          </p:grpSpPr>
          <p:sp>
            <p:nvSpPr>
              <p:cNvPr id="7" name="Freeform 7"/>
              <p:cNvSpPr/>
              <p:nvPr/>
            </p:nvSpPr>
            <p:spPr>
              <a:xfrm>
                <a:off x="0" y="0"/>
                <a:ext cx="908049" cy="62097"/>
              </a:xfrm>
              <a:custGeom>
                <a:avLst/>
                <a:gdLst/>
                <a:ahLst/>
                <a:cxnLst/>
                <a:rect l="l" t="t" r="r" b="b"/>
                <a:pathLst>
                  <a:path w="908049" h="62097">
                    <a:moveTo>
                      <a:pt x="0" y="0"/>
                    </a:moveTo>
                    <a:lnTo>
                      <a:pt x="908049" y="0"/>
                    </a:lnTo>
                    <a:lnTo>
                      <a:pt x="908049" y="62097"/>
                    </a:lnTo>
                    <a:lnTo>
                      <a:pt x="0" y="62097"/>
                    </a:lnTo>
                    <a:close/>
                  </a:path>
                </a:pathLst>
              </a:custGeom>
              <a:solidFill>
                <a:srgbClr val="365B6D"/>
              </a:solidFill>
              <a:ln cap="sq">
                <a:noFill/>
                <a:prstDash val="solid"/>
                <a:miter/>
              </a:ln>
            </p:spPr>
            <p:txBody>
              <a:bodyPr/>
              <a:lstStyle/>
              <a:p>
                <a:endParaRPr lang="es-CL"/>
              </a:p>
            </p:txBody>
          </p:sp>
          <p:sp>
            <p:nvSpPr>
              <p:cNvPr id="8" name="TextBox 8"/>
              <p:cNvSpPr txBox="1"/>
              <p:nvPr/>
            </p:nvSpPr>
            <p:spPr>
              <a:xfrm>
                <a:off x="0" y="-28575"/>
                <a:ext cx="908049"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grpSp>
        <p:nvGrpSpPr>
          <p:cNvPr id="9" name="Group 9"/>
          <p:cNvGrpSpPr/>
          <p:nvPr/>
        </p:nvGrpSpPr>
        <p:grpSpPr>
          <a:xfrm>
            <a:off x="9144000" y="2691219"/>
            <a:ext cx="6895498" cy="235776"/>
            <a:chOff x="0" y="0"/>
            <a:chExt cx="9193998" cy="314368"/>
          </a:xfrm>
        </p:grpSpPr>
        <p:grpSp>
          <p:nvGrpSpPr>
            <p:cNvPr id="10" name="Group 10"/>
            <p:cNvGrpSpPr/>
            <p:nvPr/>
          </p:nvGrpSpPr>
          <p:grpSpPr>
            <a:xfrm>
              <a:off x="0" y="0"/>
              <a:ext cx="4596999" cy="314368"/>
              <a:chOff x="0" y="0"/>
              <a:chExt cx="908049" cy="62097"/>
            </a:xfrm>
          </p:grpSpPr>
          <p:sp>
            <p:nvSpPr>
              <p:cNvPr id="11" name="Freeform 11"/>
              <p:cNvSpPr/>
              <p:nvPr/>
            </p:nvSpPr>
            <p:spPr>
              <a:xfrm>
                <a:off x="0" y="0"/>
                <a:ext cx="908049" cy="62097"/>
              </a:xfrm>
              <a:custGeom>
                <a:avLst/>
                <a:gdLst/>
                <a:ahLst/>
                <a:cxnLst/>
                <a:rect l="l" t="t" r="r" b="b"/>
                <a:pathLst>
                  <a:path w="908049" h="62097">
                    <a:moveTo>
                      <a:pt x="0" y="0"/>
                    </a:moveTo>
                    <a:lnTo>
                      <a:pt x="908049" y="0"/>
                    </a:lnTo>
                    <a:lnTo>
                      <a:pt x="908049" y="62097"/>
                    </a:lnTo>
                    <a:lnTo>
                      <a:pt x="0" y="62097"/>
                    </a:lnTo>
                    <a:close/>
                  </a:path>
                </a:pathLst>
              </a:custGeom>
              <a:solidFill>
                <a:srgbClr val="6C9286"/>
              </a:solidFill>
              <a:ln cap="sq">
                <a:noFill/>
                <a:prstDash val="solid"/>
                <a:miter/>
              </a:ln>
            </p:spPr>
            <p:txBody>
              <a:bodyPr/>
              <a:lstStyle/>
              <a:p>
                <a:endParaRPr lang="es-CL"/>
              </a:p>
            </p:txBody>
          </p:sp>
          <p:sp>
            <p:nvSpPr>
              <p:cNvPr id="12" name="TextBox 12"/>
              <p:cNvSpPr txBox="1"/>
              <p:nvPr/>
            </p:nvSpPr>
            <p:spPr>
              <a:xfrm>
                <a:off x="0" y="-28575"/>
                <a:ext cx="908049"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13" name="Group 13"/>
            <p:cNvGrpSpPr/>
            <p:nvPr/>
          </p:nvGrpSpPr>
          <p:grpSpPr>
            <a:xfrm>
              <a:off x="4596999" y="0"/>
              <a:ext cx="4596999" cy="314368"/>
              <a:chOff x="0" y="0"/>
              <a:chExt cx="908049" cy="62097"/>
            </a:xfrm>
          </p:grpSpPr>
          <p:sp>
            <p:nvSpPr>
              <p:cNvPr id="14" name="Freeform 14"/>
              <p:cNvSpPr/>
              <p:nvPr/>
            </p:nvSpPr>
            <p:spPr>
              <a:xfrm>
                <a:off x="0" y="0"/>
                <a:ext cx="908049" cy="62097"/>
              </a:xfrm>
              <a:custGeom>
                <a:avLst/>
                <a:gdLst/>
                <a:ahLst/>
                <a:cxnLst/>
                <a:rect l="l" t="t" r="r" b="b"/>
                <a:pathLst>
                  <a:path w="908049" h="62097">
                    <a:moveTo>
                      <a:pt x="0" y="0"/>
                    </a:moveTo>
                    <a:lnTo>
                      <a:pt x="908049" y="0"/>
                    </a:lnTo>
                    <a:lnTo>
                      <a:pt x="908049" y="62097"/>
                    </a:lnTo>
                    <a:lnTo>
                      <a:pt x="0" y="62097"/>
                    </a:lnTo>
                    <a:close/>
                  </a:path>
                </a:pathLst>
              </a:custGeom>
              <a:solidFill>
                <a:srgbClr val="365B6D"/>
              </a:solidFill>
              <a:ln cap="sq">
                <a:noFill/>
                <a:prstDash val="solid"/>
                <a:miter/>
              </a:ln>
            </p:spPr>
            <p:txBody>
              <a:bodyPr/>
              <a:lstStyle/>
              <a:p>
                <a:endParaRPr lang="es-CL"/>
              </a:p>
            </p:txBody>
          </p:sp>
          <p:sp>
            <p:nvSpPr>
              <p:cNvPr id="15" name="TextBox 15"/>
              <p:cNvSpPr txBox="1"/>
              <p:nvPr/>
            </p:nvSpPr>
            <p:spPr>
              <a:xfrm>
                <a:off x="0" y="-28575"/>
                <a:ext cx="908049"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sp>
        <p:nvSpPr>
          <p:cNvPr id="17" name="TextBox 17"/>
          <p:cNvSpPr txBox="1"/>
          <p:nvPr/>
        </p:nvSpPr>
        <p:spPr>
          <a:xfrm>
            <a:off x="1862806" y="683730"/>
            <a:ext cx="13241409" cy="1693164"/>
          </a:xfrm>
          <a:prstGeom prst="rect">
            <a:avLst/>
          </a:prstGeom>
        </p:spPr>
        <p:txBody>
          <a:bodyPr lIns="0" tIns="0" rIns="0" bIns="0" rtlCol="0" anchor="t">
            <a:spAutoFit/>
          </a:bodyPr>
          <a:lstStyle/>
          <a:p>
            <a:pPr algn="l">
              <a:lnSpc>
                <a:spcPts val="6408"/>
              </a:lnSpc>
            </a:pPr>
            <a:r>
              <a:rPr lang="en-US" sz="7200" b="1">
                <a:solidFill>
                  <a:srgbClr val="000000"/>
                </a:solidFill>
                <a:latin typeface="Monterchi Serif Bold"/>
                <a:ea typeface="Monterchi Serif Bold"/>
                <a:cs typeface="Monterchi Serif Bold"/>
                <a:sym typeface="Monterchi Serif Bold"/>
              </a:rPr>
              <a:t>DESCRIPCIÓN DEL PROYECTO</a:t>
            </a:r>
          </a:p>
          <a:p>
            <a:pPr marL="0" lvl="0" indent="0" algn="l">
              <a:lnSpc>
                <a:spcPts val="6408"/>
              </a:lnSpc>
              <a:spcBef>
                <a:spcPct val="0"/>
              </a:spcBef>
            </a:pPr>
            <a:endParaRPr lang="en-US" sz="7200" b="1">
              <a:solidFill>
                <a:srgbClr val="000000"/>
              </a:solidFill>
              <a:latin typeface="Monterchi Serif Bold"/>
              <a:ea typeface="Monterchi Serif Bold"/>
              <a:cs typeface="Monterchi Serif Bold"/>
              <a:sym typeface="Monterchi Serif Bold"/>
            </a:endParaRPr>
          </a:p>
        </p:txBody>
      </p:sp>
      <p:sp>
        <p:nvSpPr>
          <p:cNvPr id="18" name="TextBox 18"/>
          <p:cNvSpPr txBox="1"/>
          <p:nvPr/>
        </p:nvSpPr>
        <p:spPr>
          <a:xfrm>
            <a:off x="773748" y="2184679"/>
            <a:ext cx="6620705" cy="508254"/>
          </a:xfrm>
          <a:prstGeom prst="rect">
            <a:avLst/>
          </a:prstGeom>
        </p:spPr>
        <p:txBody>
          <a:bodyPr lIns="0" tIns="0" rIns="0" bIns="0" rtlCol="0" anchor="t">
            <a:spAutoFit/>
          </a:bodyPr>
          <a:lstStyle/>
          <a:p>
            <a:pPr marL="0" lvl="0" indent="0" algn="l">
              <a:lnSpc>
                <a:spcPts val="3738"/>
              </a:lnSpc>
              <a:spcBef>
                <a:spcPct val="0"/>
              </a:spcBef>
            </a:pPr>
            <a:r>
              <a:rPr lang="en-US" sz="4200" b="1">
                <a:solidFill>
                  <a:srgbClr val="000000"/>
                </a:solidFill>
                <a:latin typeface="Monterchi Serif Bold"/>
                <a:ea typeface="Monterchi Serif Bold"/>
                <a:cs typeface="Monterchi Serif Bold"/>
                <a:sym typeface="Monterchi Serif Bold"/>
              </a:rPr>
              <a:t>Problemática</a:t>
            </a:r>
          </a:p>
        </p:txBody>
      </p:sp>
      <p:sp>
        <p:nvSpPr>
          <p:cNvPr id="19" name="TextBox 19"/>
          <p:cNvSpPr txBox="1"/>
          <p:nvPr/>
        </p:nvSpPr>
        <p:spPr>
          <a:xfrm>
            <a:off x="9144000" y="2184679"/>
            <a:ext cx="5339830" cy="508254"/>
          </a:xfrm>
          <a:prstGeom prst="rect">
            <a:avLst/>
          </a:prstGeom>
        </p:spPr>
        <p:txBody>
          <a:bodyPr lIns="0" tIns="0" rIns="0" bIns="0" rtlCol="0" anchor="t">
            <a:spAutoFit/>
          </a:bodyPr>
          <a:lstStyle/>
          <a:p>
            <a:pPr marL="0" lvl="0" indent="0" algn="l">
              <a:lnSpc>
                <a:spcPts val="3738"/>
              </a:lnSpc>
              <a:spcBef>
                <a:spcPct val="0"/>
              </a:spcBef>
            </a:pPr>
            <a:r>
              <a:rPr lang="en-US" sz="4200" b="1">
                <a:solidFill>
                  <a:srgbClr val="000000"/>
                </a:solidFill>
                <a:latin typeface="Monterchi Serif Bold"/>
                <a:ea typeface="Monterchi Serif Bold"/>
                <a:cs typeface="Monterchi Serif Bold"/>
                <a:sym typeface="Monterchi Serif Bold"/>
              </a:rPr>
              <a:t>Propuesta de solución</a:t>
            </a:r>
          </a:p>
        </p:txBody>
      </p:sp>
      <p:graphicFrame>
        <p:nvGraphicFramePr>
          <p:cNvPr id="20" name="Tabla 19">
            <a:extLst>
              <a:ext uri="{FF2B5EF4-FFF2-40B4-BE49-F238E27FC236}">
                <a16:creationId xmlns:a16="http://schemas.microsoft.com/office/drawing/2014/main" id="{6056EBE3-4506-0999-0D4E-AF265A6EA28C}"/>
              </a:ext>
            </a:extLst>
          </p:cNvPr>
          <p:cNvGraphicFramePr>
            <a:graphicFrameLocks noGrp="1"/>
          </p:cNvGraphicFramePr>
          <p:nvPr>
            <p:extLst>
              <p:ext uri="{D42A27DB-BD31-4B8C-83A1-F6EECF244321}">
                <p14:modId xmlns:p14="http://schemas.microsoft.com/office/powerpoint/2010/main" val="3808293666"/>
              </p:ext>
            </p:extLst>
          </p:nvPr>
        </p:nvGraphicFramePr>
        <p:xfrm>
          <a:off x="812795" y="3314053"/>
          <a:ext cx="15341429" cy="6567780"/>
        </p:xfrm>
        <a:graphic>
          <a:graphicData uri="http://schemas.openxmlformats.org/drawingml/2006/table">
            <a:tbl>
              <a:tblPr/>
              <a:tblGrid>
                <a:gridCol w="7580929">
                  <a:extLst>
                    <a:ext uri="{9D8B030D-6E8A-4147-A177-3AD203B41FA5}">
                      <a16:colId xmlns:a16="http://schemas.microsoft.com/office/drawing/2014/main" val="3329823061"/>
                    </a:ext>
                  </a:extLst>
                </a:gridCol>
                <a:gridCol w="7760500">
                  <a:extLst>
                    <a:ext uri="{9D8B030D-6E8A-4147-A177-3AD203B41FA5}">
                      <a16:colId xmlns:a16="http://schemas.microsoft.com/office/drawing/2014/main" val="732428130"/>
                    </a:ext>
                  </a:extLst>
                </a:gridCol>
              </a:tblGrid>
              <a:tr h="1355255">
                <a:tc>
                  <a:txBody>
                    <a:bodyPr/>
                    <a:lstStyle/>
                    <a:p>
                      <a:pPr>
                        <a:buNone/>
                      </a:pPr>
                      <a:r>
                        <a:rPr lang="es-ES" sz="2400" dirty="0">
                          <a:effectLst/>
                        </a:rPr>
                        <a:t>Dificultad para encontrar rutas o eventos deportivos </a:t>
                      </a:r>
                      <a:r>
                        <a:rPr lang="es-ES" sz="2400" u="none" dirty="0">
                          <a:effectLst/>
                        </a:rPr>
                        <a:t>adecuados</a:t>
                      </a:r>
                      <a:r>
                        <a:rPr lang="es-ES" sz="2400" dirty="0">
                          <a:effectLst/>
                        </a:rPr>
                        <a:t> al nivel y tipo de actividad del usuario.</a:t>
                      </a:r>
                    </a:p>
                  </a:txBody>
                  <a:tcPr marL="71841" marR="71841" marT="35920" marB="35920" anchor="ctr">
                    <a:lnL w="22860" cap="flat" cmpd="sng" algn="ctr">
                      <a:solidFill>
                        <a:srgbClr val="00BF63"/>
                      </a:solidFill>
                      <a:prstDash val="solid"/>
                      <a:round/>
                      <a:headEnd type="none" w="med" len="med"/>
                      <a:tailEnd type="none" w="med" len="med"/>
                    </a:lnL>
                    <a:lnR w="22860" cap="flat" cmpd="sng" algn="ctr">
                      <a:solidFill>
                        <a:srgbClr val="00BF63"/>
                      </a:solidFill>
                      <a:prstDash val="solid"/>
                      <a:round/>
                      <a:headEnd type="none" w="med" len="med"/>
                      <a:tailEnd type="none" w="med" len="med"/>
                    </a:lnR>
                    <a:lnT w="22860" cap="flat" cmpd="sng" algn="ctr">
                      <a:solidFill>
                        <a:srgbClr val="00BF63"/>
                      </a:solidFill>
                      <a:prstDash val="solid"/>
                      <a:round/>
                      <a:headEnd type="none" w="med" len="med"/>
                      <a:tailEnd type="none" w="med" len="med"/>
                    </a:lnT>
                    <a:lnB w="22860" cap="flat" cmpd="sng" algn="ctr">
                      <a:solidFill>
                        <a:srgbClr val="00BF63"/>
                      </a:solidFill>
                      <a:prstDash val="solid"/>
                      <a:round/>
                      <a:headEnd type="none" w="med" len="med"/>
                      <a:tailEnd type="none" w="med" len="med"/>
                    </a:lnB>
                    <a:solidFill>
                      <a:srgbClr val="FFFFFF"/>
                    </a:solidFill>
                  </a:tcPr>
                </a:tc>
                <a:tc>
                  <a:txBody>
                    <a:bodyPr/>
                    <a:lstStyle/>
                    <a:p>
                      <a:pPr>
                        <a:buNone/>
                      </a:pPr>
                      <a:r>
                        <a:rPr lang="es-ES" sz="2400">
                          <a:effectLst/>
                        </a:rPr>
                        <a:t>Permite crear, registrar y compartir rutas y eventos según el deporte y nivel de experiencia, facilitando su búsqueda y participación.</a:t>
                      </a:r>
                    </a:p>
                  </a:txBody>
                  <a:tcPr marL="71841" marR="71841" marT="35920" marB="35920" anchor="ctr">
                    <a:lnL w="22860" cap="flat" cmpd="sng" algn="ctr">
                      <a:solidFill>
                        <a:srgbClr val="00BF63"/>
                      </a:solidFill>
                      <a:prstDash val="solid"/>
                      <a:round/>
                      <a:headEnd type="none" w="med" len="med"/>
                      <a:tailEnd type="none" w="med" len="med"/>
                    </a:lnL>
                    <a:lnR w="22860" cap="flat" cmpd="sng" algn="ctr">
                      <a:solidFill>
                        <a:srgbClr val="00BF63"/>
                      </a:solidFill>
                      <a:prstDash val="solid"/>
                      <a:round/>
                      <a:headEnd type="none" w="med" len="med"/>
                      <a:tailEnd type="none" w="med" len="med"/>
                    </a:lnR>
                    <a:lnT w="22860" cap="flat" cmpd="sng" algn="ctr">
                      <a:solidFill>
                        <a:srgbClr val="00BF63"/>
                      </a:solidFill>
                      <a:prstDash val="solid"/>
                      <a:round/>
                      <a:headEnd type="none" w="med" len="med"/>
                      <a:tailEnd type="none" w="med" len="med"/>
                    </a:lnT>
                    <a:lnB w="22860" cap="flat" cmpd="sng" algn="ctr">
                      <a:solidFill>
                        <a:srgbClr val="00BF63"/>
                      </a:solidFill>
                      <a:prstDash val="solid"/>
                      <a:round/>
                      <a:headEnd type="none" w="med" len="med"/>
                      <a:tailEnd type="none" w="med" len="med"/>
                    </a:lnB>
                    <a:solidFill>
                      <a:srgbClr val="FFFFFF"/>
                    </a:solidFill>
                  </a:tcPr>
                </a:tc>
                <a:extLst>
                  <a:ext uri="{0D108BD9-81ED-4DB2-BD59-A6C34878D82A}">
                    <a16:rowId xmlns:a16="http://schemas.microsoft.com/office/drawing/2014/main" val="3354132598"/>
                  </a:ext>
                </a:extLst>
              </a:tr>
              <a:tr h="1042505">
                <a:tc>
                  <a:txBody>
                    <a:bodyPr/>
                    <a:lstStyle/>
                    <a:p>
                      <a:pPr>
                        <a:buNone/>
                      </a:pPr>
                      <a:r>
                        <a:rPr lang="es-ES" sz="2400" dirty="0">
                          <a:effectLst/>
                        </a:rPr>
                        <a:t>Falta de señalización y orientación en zonas naturales o de difícil acceso.</a:t>
                      </a:r>
                    </a:p>
                  </a:txBody>
                  <a:tcPr marL="71841" marR="71841" marT="35920" marB="35920" anchor="ctr">
                    <a:lnL w="22860" cap="flat" cmpd="sng" algn="ctr">
                      <a:solidFill>
                        <a:srgbClr val="00BF63"/>
                      </a:solidFill>
                      <a:prstDash val="solid"/>
                      <a:round/>
                      <a:headEnd type="none" w="med" len="med"/>
                      <a:tailEnd type="none" w="med" len="med"/>
                    </a:lnL>
                    <a:lnR w="22860" cap="flat" cmpd="sng" algn="ctr">
                      <a:solidFill>
                        <a:srgbClr val="00BF63"/>
                      </a:solidFill>
                      <a:prstDash val="solid"/>
                      <a:round/>
                      <a:headEnd type="none" w="med" len="med"/>
                      <a:tailEnd type="none" w="med" len="med"/>
                    </a:lnR>
                    <a:lnT w="22860" cap="flat" cmpd="sng" algn="ctr">
                      <a:solidFill>
                        <a:srgbClr val="00BF63"/>
                      </a:solidFill>
                      <a:prstDash val="solid"/>
                      <a:round/>
                      <a:headEnd type="none" w="med" len="med"/>
                      <a:tailEnd type="none" w="med" len="med"/>
                    </a:lnT>
                    <a:lnB w="22860" cap="flat" cmpd="sng" algn="ctr">
                      <a:solidFill>
                        <a:srgbClr val="00BF63"/>
                      </a:solidFill>
                      <a:prstDash val="solid"/>
                      <a:round/>
                      <a:headEnd type="none" w="med" len="med"/>
                      <a:tailEnd type="none" w="med" len="med"/>
                    </a:lnB>
                    <a:solidFill>
                      <a:srgbClr val="FFFFFF"/>
                    </a:solidFill>
                  </a:tcPr>
                </a:tc>
                <a:tc>
                  <a:txBody>
                    <a:bodyPr/>
                    <a:lstStyle/>
                    <a:p>
                      <a:pPr>
                        <a:buNone/>
                      </a:pPr>
                      <a:r>
                        <a:rPr lang="es-ES" sz="2400">
                          <a:effectLst/>
                        </a:rPr>
                        <a:t>Brinda rutas georreferenciadas que guían al usuario paso a paso mediante un mapa interactivo.</a:t>
                      </a:r>
                    </a:p>
                  </a:txBody>
                  <a:tcPr marL="71841" marR="71841" marT="35920" marB="35920" anchor="ctr">
                    <a:lnL w="22860" cap="flat" cmpd="sng" algn="ctr">
                      <a:solidFill>
                        <a:srgbClr val="00BF63"/>
                      </a:solidFill>
                      <a:prstDash val="solid"/>
                      <a:round/>
                      <a:headEnd type="none" w="med" len="med"/>
                      <a:tailEnd type="none" w="med" len="med"/>
                    </a:lnL>
                    <a:lnR w="22860" cap="flat" cmpd="sng" algn="ctr">
                      <a:solidFill>
                        <a:srgbClr val="00BF63"/>
                      </a:solidFill>
                      <a:prstDash val="solid"/>
                      <a:round/>
                      <a:headEnd type="none" w="med" len="med"/>
                      <a:tailEnd type="none" w="med" len="med"/>
                    </a:lnR>
                    <a:lnT w="22860" cap="flat" cmpd="sng" algn="ctr">
                      <a:solidFill>
                        <a:srgbClr val="00BF63"/>
                      </a:solidFill>
                      <a:prstDash val="solid"/>
                      <a:round/>
                      <a:headEnd type="none" w="med" len="med"/>
                      <a:tailEnd type="none" w="med" len="med"/>
                    </a:lnT>
                    <a:lnB w="22860" cap="flat" cmpd="sng" algn="ctr">
                      <a:solidFill>
                        <a:srgbClr val="00BF63"/>
                      </a:solidFill>
                      <a:prstDash val="solid"/>
                      <a:round/>
                      <a:headEnd type="none" w="med" len="med"/>
                      <a:tailEnd type="none" w="med" len="med"/>
                    </a:lnB>
                    <a:solidFill>
                      <a:srgbClr val="FFFFFF"/>
                    </a:solidFill>
                  </a:tcPr>
                </a:tc>
                <a:extLst>
                  <a:ext uri="{0D108BD9-81ED-4DB2-BD59-A6C34878D82A}">
                    <a16:rowId xmlns:a16="http://schemas.microsoft.com/office/drawing/2014/main" val="563131680"/>
                  </a:ext>
                </a:extLst>
              </a:tr>
              <a:tr h="1042505">
                <a:tc>
                  <a:txBody>
                    <a:bodyPr/>
                    <a:lstStyle/>
                    <a:p>
                      <a:pPr>
                        <a:buNone/>
                      </a:pPr>
                      <a:r>
                        <a:rPr lang="es-ES" sz="2400">
                          <a:effectLst/>
                        </a:rPr>
                        <a:t>Escasa información centralizada sobre rutas y eventos creados por la comunidad.</a:t>
                      </a:r>
                    </a:p>
                  </a:txBody>
                  <a:tcPr marL="71841" marR="71841" marT="35920" marB="35920" anchor="ctr">
                    <a:lnL w="22860" cap="flat" cmpd="sng" algn="ctr">
                      <a:solidFill>
                        <a:srgbClr val="00BF63"/>
                      </a:solidFill>
                      <a:prstDash val="solid"/>
                      <a:round/>
                      <a:headEnd type="none" w="med" len="med"/>
                      <a:tailEnd type="none" w="med" len="med"/>
                    </a:lnL>
                    <a:lnR w="22860" cap="flat" cmpd="sng" algn="ctr">
                      <a:solidFill>
                        <a:srgbClr val="00BF63"/>
                      </a:solidFill>
                      <a:prstDash val="solid"/>
                      <a:round/>
                      <a:headEnd type="none" w="med" len="med"/>
                      <a:tailEnd type="none" w="med" len="med"/>
                    </a:lnR>
                    <a:lnT w="22860" cap="flat" cmpd="sng" algn="ctr">
                      <a:solidFill>
                        <a:srgbClr val="00BF63"/>
                      </a:solidFill>
                      <a:prstDash val="solid"/>
                      <a:round/>
                      <a:headEnd type="none" w="med" len="med"/>
                      <a:tailEnd type="none" w="med" len="med"/>
                    </a:lnT>
                    <a:lnB w="22860" cap="flat" cmpd="sng" algn="ctr">
                      <a:solidFill>
                        <a:srgbClr val="00BF63"/>
                      </a:solidFill>
                      <a:prstDash val="solid"/>
                      <a:round/>
                      <a:headEnd type="none" w="med" len="med"/>
                      <a:tailEnd type="none" w="med" len="med"/>
                    </a:lnB>
                    <a:solidFill>
                      <a:srgbClr val="FFFFFF"/>
                    </a:solidFill>
                  </a:tcPr>
                </a:tc>
                <a:tc>
                  <a:txBody>
                    <a:bodyPr/>
                    <a:lstStyle/>
                    <a:p>
                      <a:pPr>
                        <a:buNone/>
                      </a:pPr>
                      <a:r>
                        <a:rPr lang="es-ES" sz="2400" dirty="0">
                          <a:effectLst/>
                        </a:rPr>
                        <a:t>Reúne en una sola plataforma rutas y eventos generados por los usuarios, accesibles para todos.</a:t>
                      </a:r>
                    </a:p>
                  </a:txBody>
                  <a:tcPr marL="71841" marR="71841" marT="35920" marB="35920" anchor="ctr">
                    <a:lnL w="22860" cap="flat" cmpd="sng" algn="ctr">
                      <a:solidFill>
                        <a:srgbClr val="00BF63"/>
                      </a:solidFill>
                      <a:prstDash val="solid"/>
                      <a:round/>
                      <a:headEnd type="none" w="med" len="med"/>
                      <a:tailEnd type="none" w="med" len="med"/>
                    </a:lnL>
                    <a:lnR w="22860" cap="flat" cmpd="sng" algn="ctr">
                      <a:solidFill>
                        <a:srgbClr val="00BF63"/>
                      </a:solidFill>
                      <a:prstDash val="solid"/>
                      <a:round/>
                      <a:headEnd type="none" w="med" len="med"/>
                      <a:tailEnd type="none" w="med" len="med"/>
                    </a:lnR>
                    <a:lnT w="22860" cap="flat" cmpd="sng" algn="ctr">
                      <a:solidFill>
                        <a:srgbClr val="00BF63"/>
                      </a:solidFill>
                      <a:prstDash val="solid"/>
                      <a:round/>
                      <a:headEnd type="none" w="med" len="med"/>
                      <a:tailEnd type="none" w="med" len="med"/>
                    </a:lnT>
                    <a:lnB w="22860" cap="flat" cmpd="sng" algn="ctr">
                      <a:solidFill>
                        <a:srgbClr val="00BF63"/>
                      </a:solidFill>
                      <a:prstDash val="solid"/>
                      <a:round/>
                      <a:headEnd type="none" w="med" len="med"/>
                      <a:tailEnd type="none" w="med" len="med"/>
                    </a:lnB>
                    <a:solidFill>
                      <a:srgbClr val="FFFFFF"/>
                    </a:solidFill>
                  </a:tcPr>
                </a:tc>
                <a:extLst>
                  <a:ext uri="{0D108BD9-81ED-4DB2-BD59-A6C34878D82A}">
                    <a16:rowId xmlns:a16="http://schemas.microsoft.com/office/drawing/2014/main" val="957151699"/>
                  </a:ext>
                </a:extLst>
              </a:tr>
              <a:tr h="1042505">
                <a:tc>
                  <a:txBody>
                    <a:bodyPr/>
                    <a:lstStyle/>
                    <a:p>
                      <a:pPr>
                        <a:buNone/>
                      </a:pPr>
                      <a:r>
                        <a:rPr lang="es-ES" sz="2400">
                          <a:effectLst/>
                        </a:rPr>
                        <a:t>Poca motivación y compañía para realizar actividades deportivas.</a:t>
                      </a:r>
                    </a:p>
                  </a:txBody>
                  <a:tcPr marL="71841" marR="71841" marT="35920" marB="35920" anchor="ctr">
                    <a:lnL w="22860" cap="flat" cmpd="sng" algn="ctr">
                      <a:solidFill>
                        <a:srgbClr val="00BF63"/>
                      </a:solidFill>
                      <a:prstDash val="solid"/>
                      <a:round/>
                      <a:headEnd type="none" w="med" len="med"/>
                      <a:tailEnd type="none" w="med" len="med"/>
                    </a:lnL>
                    <a:lnR w="22860" cap="flat" cmpd="sng" algn="ctr">
                      <a:solidFill>
                        <a:srgbClr val="00BF63"/>
                      </a:solidFill>
                      <a:prstDash val="solid"/>
                      <a:round/>
                      <a:headEnd type="none" w="med" len="med"/>
                      <a:tailEnd type="none" w="med" len="med"/>
                    </a:lnR>
                    <a:lnT w="22860" cap="flat" cmpd="sng" algn="ctr">
                      <a:solidFill>
                        <a:srgbClr val="00BF63"/>
                      </a:solidFill>
                      <a:prstDash val="solid"/>
                      <a:round/>
                      <a:headEnd type="none" w="med" len="med"/>
                      <a:tailEnd type="none" w="med" len="med"/>
                    </a:lnT>
                    <a:lnB w="22860" cap="flat" cmpd="sng" algn="ctr">
                      <a:solidFill>
                        <a:srgbClr val="00BF63"/>
                      </a:solidFill>
                      <a:prstDash val="solid"/>
                      <a:round/>
                      <a:headEnd type="none" w="med" len="med"/>
                      <a:tailEnd type="none" w="med" len="med"/>
                    </a:lnB>
                    <a:solidFill>
                      <a:srgbClr val="FFFFFF"/>
                    </a:solidFill>
                  </a:tcPr>
                </a:tc>
                <a:tc>
                  <a:txBody>
                    <a:bodyPr/>
                    <a:lstStyle/>
                    <a:p>
                      <a:pPr>
                        <a:buNone/>
                      </a:pPr>
                      <a:r>
                        <a:rPr lang="es-ES" sz="2400" dirty="0">
                          <a:effectLst/>
                        </a:rPr>
                        <a:t>Fomenta la participación y constancia mediante eventos grupales y la interacción comunitaria.</a:t>
                      </a:r>
                    </a:p>
                  </a:txBody>
                  <a:tcPr marL="71841" marR="71841" marT="35920" marB="35920" anchor="ctr">
                    <a:lnL w="22860" cap="flat" cmpd="sng" algn="ctr">
                      <a:solidFill>
                        <a:srgbClr val="00BF63"/>
                      </a:solidFill>
                      <a:prstDash val="solid"/>
                      <a:round/>
                      <a:headEnd type="none" w="med" len="med"/>
                      <a:tailEnd type="none" w="med" len="med"/>
                    </a:lnL>
                    <a:lnR w="22860" cap="flat" cmpd="sng" algn="ctr">
                      <a:solidFill>
                        <a:srgbClr val="00BF63"/>
                      </a:solidFill>
                      <a:prstDash val="solid"/>
                      <a:round/>
                      <a:headEnd type="none" w="med" len="med"/>
                      <a:tailEnd type="none" w="med" len="med"/>
                    </a:lnR>
                    <a:lnT w="22860" cap="flat" cmpd="sng" algn="ctr">
                      <a:solidFill>
                        <a:srgbClr val="00BF63"/>
                      </a:solidFill>
                      <a:prstDash val="solid"/>
                      <a:round/>
                      <a:headEnd type="none" w="med" len="med"/>
                      <a:tailEnd type="none" w="med" len="med"/>
                    </a:lnT>
                    <a:lnB w="22860" cap="flat" cmpd="sng" algn="ctr">
                      <a:solidFill>
                        <a:srgbClr val="00BF63"/>
                      </a:solidFill>
                      <a:prstDash val="solid"/>
                      <a:round/>
                      <a:headEnd type="none" w="med" len="med"/>
                      <a:tailEnd type="none" w="med" len="med"/>
                    </a:lnB>
                    <a:solidFill>
                      <a:srgbClr val="FFFFFF"/>
                    </a:solidFill>
                  </a:tcPr>
                </a:tc>
                <a:extLst>
                  <a:ext uri="{0D108BD9-81ED-4DB2-BD59-A6C34878D82A}">
                    <a16:rowId xmlns:a16="http://schemas.microsoft.com/office/drawing/2014/main" val="2021535661"/>
                  </a:ext>
                </a:extLst>
              </a:tr>
              <a:tr h="1042505">
                <a:tc>
                  <a:txBody>
                    <a:bodyPr/>
                    <a:lstStyle/>
                    <a:p>
                      <a:pPr>
                        <a:buNone/>
                      </a:pPr>
                      <a:r>
                        <a:rPr lang="es-ES" sz="2400">
                          <a:effectLst/>
                        </a:rPr>
                        <a:t>Dificultad para elegir rutas basadas en la experiencia de otros deportistas.</a:t>
                      </a:r>
                    </a:p>
                  </a:txBody>
                  <a:tcPr marL="71841" marR="71841" marT="35920" marB="35920" anchor="ctr">
                    <a:lnL w="22860" cap="flat" cmpd="sng" algn="ctr">
                      <a:solidFill>
                        <a:srgbClr val="00BF63"/>
                      </a:solidFill>
                      <a:prstDash val="solid"/>
                      <a:round/>
                      <a:headEnd type="none" w="med" len="med"/>
                      <a:tailEnd type="none" w="med" len="med"/>
                    </a:lnL>
                    <a:lnR w="22860" cap="flat" cmpd="sng" algn="ctr">
                      <a:solidFill>
                        <a:srgbClr val="00BF63"/>
                      </a:solidFill>
                      <a:prstDash val="solid"/>
                      <a:round/>
                      <a:headEnd type="none" w="med" len="med"/>
                      <a:tailEnd type="none" w="med" len="med"/>
                    </a:lnR>
                    <a:lnT w="22860" cap="flat" cmpd="sng" algn="ctr">
                      <a:solidFill>
                        <a:srgbClr val="00BF63"/>
                      </a:solidFill>
                      <a:prstDash val="solid"/>
                      <a:round/>
                      <a:headEnd type="none" w="med" len="med"/>
                      <a:tailEnd type="none" w="med" len="med"/>
                    </a:lnT>
                    <a:lnB w="22860" cap="flat" cmpd="sng" algn="ctr">
                      <a:solidFill>
                        <a:srgbClr val="00BF63"/>
                      </a:solidFill>
                      <a:prstDash val="solid"/>
                      <a:round/>
                      <a:headEnd type="none" w="med" len="med"/>
                      <a:tailEnd type="none" w="med" len="med"/>
                    </a:lnB>
                    <a:solidFill>
                      <a:srgbClr val="FFFFFF"/>
                    </a:solidFill>
                  </a:tcPr>
                </a:tc>
                <a:tc>
                  <a:txBody>
                    <a:bodyPr/>
                    <a:lstStyle/>
                    <a:p>
                      <a:pPr>
                        <a:buNone/>
                      </a:pPr>
                      <a:r>
                        <a:rPr lang="es-ES" sz="2400">
                          <a:effectLst/>
                        </a:rPr>
                        <a:t>Incorpora calificaciones que permiten identificar rutas populares y mejor valoradas por la comunidad.</a:t>
                      </a:r>
                    </a:p>
                  </a:txBody>
                  <a:tcPr marL="71841" marR="71841" marT="35920" marB="35920" anchor="ctr">
                    <a:lnL w="22860" cap="flat" cmpd="sng" algn="ctr">
                      <a:solidFill>
                        <a:srgbClr val="00BF63"/>
                      </a:solidFill>
                      <a:prstDash val="solid"/>
                      <a:round/>
                      <a:headEnd type="none" w="med" len="med"/>
                      <a:tailEnd type="none" w="med" len="med"/>
                    </a:lnL>
                    <a:lnR w="22860" cap="flat" cmpd="sng" algn="ctr">
                      <a:solidFill>
                        <a:srgbClr val="00BF63"/>
                      </a:solidFill>
                      <a:prstDash val="solid"/>
                      <a:round/>
                      <a:headEnd type="none" w="med" len="med"/>
                      <a:tailEnd type="none" w="med" len="med"/>
                    </a:lnR>
                    <a:lnT w="22860" cap="flat" cmpd="sng" algn="ctr">
                      <a:solidFill>
                        <a:srgbClr val="00BF63"/>
                      </a:solidFill>
                      <a:prstDash val="solid"/>
                      <a:round/>
                      <a:headEnd type="none" w="med" len="med"/>
                      <a:tailEnd type="none" w="med" len="med"/>
                    </a:lnT>
                    <a:lnB w="22860" cap="flat" cmpd="sng" algn="ctr">
                      <a:solidFill>
                        <a:srgbClr val="00BF63"/>
                      </a:solidFill>
                      <a:prstDash val="solid"/>
                      <a:round/>
                      <a:headEnd type="none" w="med" len="med"/>
                      <a:tailEnd type="none" w="med" len="med"/>
                    </a:lnB>
                    <a:solidFill>
                      <a:srgbClr val="FFFFFF"/>
                    </a:solidFill>
                  </a:tcPr>
                </a:tc>
                <a:extLst>
                  <a:ext uri="{0D108BD9-81ED-4DB2-BD59-A6C34878D82A}">
                    <a16:rowId xmlns:a16="http://schemas.microsoft.com/office/drawing/2014/main" val="1251041395"/>
                  </a:ext>
                </a:extLst>
              </a:tr>
              <a:tr h="1042505">
                <a:tc>
                  <a:txBody>
                    <a:bodyPr/>
                    <a:lstStyle/>
                    <a:p>
                      <a:pPr>
                        <a:buNone/>
                      </a:pPr>
                      <a:r>
                        <a:rPr lang="es-ES" sz="2400">
                          <a:effectLst/>
                        </a:rPr>
                        <a:t>La práctica deportiva se percibe individualista y poco atractiva.</a:t>
                      </a:r>
                    </a:p>
                  </a:txBody>
                  <a:tcPr marL="71841" marR="71841" marT="35920" marB="35920" anchor="ctr">
                    <a:lnL w="22860" cap="flat" cmpd="sng" algn="ctr">
                      <a:solidFill>
                        <a:srgbClr val="00BF63"/>
                      </a:solidFill>
                      <a:prstDash val="solid"/>
                      <a:round/>
                      <a:headEnd type="none" w="med" len="med"/>
                      <a:tailEnd type="none" w="med" len="med"/>
                    </a:lnL>
                    <a:lnR w="22860" cap="flat" cmpd="sng" algn="ctr">
                      <a:solidFill>
                        <a:srgbClr val="00BF63"/>
                      </a:solidFill>
                      <a:prstDash val="solid"/>
                      <a:round/>
                      <a:headEnd type="none" w="med" len="med"/>
                      <a:tailEnd type="none" w="med" len="med"/>
                    </a:lnR>
                    <a:lnT w="22860" cap="flat" cmpd="sng" algn="ctr">
                      <a:solidFill>
                        <a:srgbClr val="00BF63"/>
                      </a:solidFill>
                      <a:prstDash val="solid"/>
                      <a:round/>
                      <a:headEnd type="none" w="med" len="med"/>
                      <a:tailEnd type="none" w="med" len="med"/>
                    </a:lnT>
                    <a:lnB w="22860" cap="flat" cmpd="sng" algn="ctr">
                      <a:solidFill>
                        <a:srgbClr val="00BF63"/>
                      </a:solidFill>
                      <a:prstDash val="solid"/>
                      <a:round/>
                      <a:headEnd type="none" w="med" len="med"/>
                      <a:tailEnd type="none" w="med" len="med"/>
                    </a:lnB>
                    <a:solidFill>
                      <a:srgbClr val="FFFFFF"/>
                    </a:solidFill>
                  </a:tcPr>
                </a:tc>
                <a:tc>
                  <a:txBody>
                    <a:bodyPr/>
                    <a:lstStyle/>
                    <a:p>
                      <a:pPr>
                        <a:buNone/>
                      </a:pPr>
                      <a:r>
                        <a:rPr lang="es-ES" sz="2400" dirty="0">
                          <a:effectLst/>
                        </a:rPr>
                        <a:t>Transforma la experiencia en una actividad más conectada, guiada y motivadora.</a:t>
                      </a:r>
                    </a:p>
                  </a:txBody>
                  <a:tcPr marL="71841" marR="71841" marT="35920" marB="35920" anchor="ctr">
                    <a:lnL w="22860" cap="flat" cmpd="sng" algn="ctr">
                      <a:solidFill>
                        <a:srgbClr val="00BF63"/>
                      </a:solidFill>
                      <a:prstDash val="solid"/>
                      <a:round/>
                      <a:headEnd type="none" w="med" len="med"/>
                      <a:tailEnd type="none" w="med" len="med"/>
                    </a:lnL>
                    <a:lnR w="22860" cap="flat" cmpd="sng" algn="ctr">
                      <a:solidFill>
                        <a:srgbClr val="00BF63"/>
                      </a:solidFill>
                      <a:prstDash val="solid"/>
                      <a:round/>
                      <a:headEnd type="none" w="med" len="med"/>
                      <a:tailEnd type="none" w="med" len="med"/>
                    </a:lnR>
                    <a:lnT w="22860" cap="flat" cmpd="sng" algn="ctr">
                      <a:solidFill>
                        <a:srgbClr val="00BF63"/>
                      </a:solidFill>
                      <a:prstDash val="solid"/>
                      <a:round/>
                      <a:headEnd type="none" w="med" len="med"/>
                      <a:tailEnd type="none" w="med" len="med"/>
                    </a:lnT>
                    <a:lnB w="22860" cap="flat" cmpd="sng" algn="ctr">
                      <a:solidFill>
                        <a:srgbClr val="00BF63"/>
                      </a:solidFill>
                      <a:prstDash val="solid"/>
                      <a:round/>
                      <a:headEnd type="none" w="med" len="med"/>
                      <a:tailEnd type="none" w="med" len="med"/>
                    </a:lnB>
                    <a:solidFill>
                      <a:srgbClr val="FFFFFF"/>
                    </a:solidFill>
                  </a:tcPr>
                </a:tc>
                <a:extLst>
                  <a:ext uri="{0D108BD9-81ED-4DB2-BD59-A6C34878D82A}">
                    <a16:rowId xmlns:a16="http://schemas.microsoft.com/office/drawing/2014/main" val="1550703268"/>
                  </a:ext>
                </a:extLst>
              </a:tr>
            </a:tbl>
          </a:graphicData>
        </a:graphic>
      </p:graphicFrame>
      <p:sp>
        <p:nvSpPr>
          <p:cNvPr id="21" name="Rectangle 1">
            <a:extLst>
              <a:ext uri="{FF2B5EF4-FFF2-40B4-BE49-F238E27FC236}">
                <a16:creationId xmlns:a16="http://schemas.microsoft.com/office/drawing/2014/main" id="{5C3C3680-7925-7815-9AC5-B1090CAE1D1A}"/>
              </a:ext>
            </a:extLst>
          </p:cNvPr>
          <p:cNvSpPr>
            <a:spLocks noChangeArrowheads="1"/>
          </p:cNvSpPr>
          <p:nvPr/>
        </p:nvSpPr>
        <p:spPr bwMode="auto">
          <a:xfrm>
            <a:off x="1852601" y="38724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CL"/>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876949" y="3121424"/>
            <a:ext cx="17050298" cy="4232415"/>
            <a:chOff x="0" y="0"/>
            <a:chExt cx="3087297" cy="766363"/>
          </a:xfrm>
        </p:grpSpPr>
        <p:sp>
          <p:nvSpPr>
            <p:cNvPr id="3" name="Freeform 3"/>
            <p:cNvSpPr/>
            <p:nvPr/>
          </p:nvSpPr>
          <p:spPr>
            <a:xfrm>
              <a:off x="0" y="0"/>
              <a:ext cx="3087297" cy="766363"/>
            </a:xfrm>
            <a:custGeom>
              <a:avLst/>
              <a:gdLst/>
              <a:ahLst/>
              <a:cxnLst/>
              <a:rect l="l" t="t" r="r" b="b"/>
              <a:pathLst>
                <a:path w="3087297" h="766363">
                  <a:moveTo>
                    <a:pt x="182555" y="321317"/>
                  </a:moveTo>
                  <a:cubicBezTo>
                    <a:pt x="272372" y="348127"/>
                    <a:pt x="272554" y="419258"/>
                    <a:pt x="183242" y="446173"/>
                  </a:cubicBezTo>
                  <a:cubicBezTo>
                    <a:pt x="70954" y="480010"/>
                    <a:pt x="3699" y="523299"/>
                    <a:pt x="3699" y="570362"/>
                  </a:cubicBezTo>
                  <a:cubicBezTo>
                    <a:pt x="3699" y="679050"/>
                    <a:pt x="358373" y="766363"/>
                    <a:pt x="791443" y="766363"/>
                  </a:cubicBezTo>
                  <a:cubicBezTo>
                    <a:pt x="982020" y="766363"/>
                    <a:pt x="1156452" y="749726"/>
                    <a:pt x="1292686" y="721933"/>
                  </a:cubicBezTo>
                  <a:cubicBezTo>
                    <a:pt x="1401366" y="699763"/>
                    <a:pt x="1689656" y="699759"/>
                    <a:pt x="1798336" y="721930"/>
                  </a:cubicBezTo>
                  <a:cubicBezTo>
                    <a:pt x="1934570" y="749724"/>
                    <a:pt x="2109010" y="766363"/>
                    <a:pt x="2299629" y="766363"/>
                  </a:cubicBezTo>
                  <a:cubicBezTo>
                    <a:pt x="2732700" y="766363"/>
                    <a:pt x="3087297" y="679050"/>
                    <a:pt x="3087297" y="570362"/>
                  </a:cubicBezTo>
                  <a:cubicBezTo>
                    <a:pt x="3087297" y="522949"/>
                    <a:pt x="3017945" y="479367"/>
                    <a:pt x="2903764" y="445421"/>
                  </a:cubicBezTo>
                  <a:cubicBezTo>
                    <a:pt x="2814050" y="418750"/>
                    <a:pt x="2814050" y="348526"/>
                    <a:pt x="2903631" y="321827"/>
                  </a:cubicBezTo>
                  <a:cubicBezTo>
                    <a:pt x="3017896" y="287771"/>
                    <a:pt x="3087297" y="243942"/>
                    <a:pt x="3087297" y="196001"/>
                  </a:cubicBezTo>
                  <a:cubicBezTo>
                    <a:pt x="3087297" y="88252"/>
                    <a:pt x="2732700" y="0"/>
                    <a:pt x="2299629" y="0"/>
                  </a:cubicBezTo>
                  <a:cubicBezTo>
                    <a:pt x="2110651" y="0"/>
                    <a:pt x="1938254" y="16272"/>
                    <a:pt x="1802736" y="43508"/>
                  </a:cubicBezTo>
                  <a:cubicBezTo>
                    <a:pt x="1692414" y="65679"/>
                    <a:pt x="1393115" y="65430"/>
                    <a:pt x="1282793" y="43260"/>
                  </a:cubicBezTo>
                  <a:cubicBezTo>
                    <a:pt x="1147997" y="16174"/>
                    <a:pt x="976077" y="0"/>
                    <a:pt x="787668" y="0"/>
                  </a:cubicBezTo>
                  <a:cubicBezTo>
                    <a:pt x="354594" y="0"/>
                    <a:pt x="0" y="88252"/>
                    <a:pt x="0" y="196001"/>
                  </a:cubicBezTo>
                  <a:cubicBezTo>
                    <a:pt x="0" y="243702"/>
                    <a:pt x="68711" y="287334"/>
                    <a:pt x="182555" y="321317"/>
                  </a:cubicBezTo>
                  <a:close/>
                </a:path>
              </a:pathLst>
            </a:custGeom>
            <a:gradFill rotWithShape="1">
              <a:gsLst>
                <a:gs pos="0">
                  <a:srgbClr val="0097B2">
                    <a:alpha val="100000"/>
                  </a:srgbClr>
                </a:gs>
                <a:gs pos="100000">
                  <a:srgbClr val="7ED957">
                    <a:alpha val="100000"/>
                  </a:srgbClr>
                </a:gs>
              </a:gsLst>
              <a:lin ang="0"/>
            </a:gradFill>
          </p:spPr>
          <p:txBody>
            <a:bodyPr/>
            <a:lstStyle/>
            <a:p>
              <a:endParaRPr lang="es-CL"/>
            </a:p>
          </p:txBody>
        </p:sp>
        <p:sp>
          <p:nvSpPr>
            <p:cNvPr id="4" name="TextBox 4"/>
            <p:cNvSpPr txBox="1"/>
            <p:nvPr/>
          </p:nvSpPr>
          <p:spPr>
            <a:xfrm>
              <a:off x="245580" y="32386"/>
              <a:ext cx="2596136" cy="673017"/>
            </a:xfrm>
            <a:prstGeom prst="rect">
              <a:avLst/>
            </a:prstGeom>
          </p:spPr>
          <p:txBody>
            <a:bodyPr lIns="50800" tIns="50800" rIns="50800" bIns="50800" rtlCol="0" anchor="ctr"/>
            <a:lstStyle/>
            <a:p>
              <a:pPr algn="ctr">
                <a:lnSpc>
                  <a:spcPts val="2921"/>
                </a:lnSpc>
              </a:pPr>
              <a:endParaRPr/>
            </a:p>
          </p:txBody>
        </p:sp>
      </p:grpSp>
      <p:sp>
        <p:nvSpPr>
          <p:cNvPr id="5" name="TextBox 5"/>
          <p:cNvSpPr txBox="1"/>
          <p:nvPr/>
        </p:nvSpPr>
        <p:spPr>
          <a:xfrm>
            <a:off x="4453286" y="1504223"/>
            <a:ext cx="10913812" cy="883539"/>
          </a:xfrm>
          <a:prstGeom prst="rect">
            <a:avLst/>
          </a:prstGeom>
        </p:spPr>
        <p:txBody>
          <a:bodyPr lIns="0" tIns="0" rIns="0" bIns="0" rtlCol="0" anchor="t">
            <a:spAutoFit/>
          </a:bodyPr>
          <a:lstStyle/>
          <a:p>
            <a:pPr marL="0" lvl="0" indent="0" algn="l">
              <a:lnSpc>
                <a:spcPts val="6408"/>
              </a:lnSpc>
              <a:spcBef>
                <a:spcPct val="0"/>
              </a:spcBef>
            </a:pPr>
            <a:r>
              <a:rPr lang="en-US" sz="7200" b="1">
                <a:solidFill>
                  <a:srgbClr val="000000"/>
                </a:solidFill>
                <a:latin typeface="Monterchi Serif Bold"/>
                <a:ea typeface="Monterchi Serif Bold"/>
                <a:cs typeface="Monterchi Serif Bold"/>
                <a:sym typeface="Monterchi Serif Bold"/>
              </a:rPr>
              <a:t>OBJETIVO GENERAL</a:t>
            </a:r>
          </a:p>
        </p:txBody>
      </p:sp>
      <p:sp>
        <p:nvSpPr>
          <p:cNvPr id="6" name="TextBox 6"/>
          <p:cNvSpPr txBox="1"/>
          <p:nvPr/>
        </p:nvSpPr>
        <p:spPr>
          <a:xfrm>
            <a:off x="2175929" y="4121452"/>
            <a:ext cx="14201528" cy="1780540"/>
          </a:xfrm>
          <a:prstGeom prst="rect">
            <a:avLst/>
          </a:prstGeom>
        </p:spPr>
        <p:txBody>
          <a:bodyPr lIns="0" tIns="0" rIns="0" bIns="0" rtlCol="0" anchor="t">
            <a:spAutoFit/>
          </a:bodyPr>
          <a:lstStyle/>
          <a:p>
            <a:pPr algn="ctr">
              <a:lnSpc>
                <a:spcPts val="4759"/>
              </a:lnSpc>
            </a:pPr>
            <a:r>
              <a:rPr lang="en-US" sz="3399">
                <a:solidFill>
                  <a:srgbClr val="000000"/>
                </a:solidFill>
                <a:latin typeface="Open Sans"/>
                <a:ea typeface="Open Sans"/>
                <a:cs typeface="Open Sans"/>
                <a:sym typeface="Open Sans"/>
              </a:rPr>
              <a:t>Desarrollar una solución tecnológica compuesta por:</a:t>
            </a:r>
          </a:p>
          <a:p>
            <a:pPr marL="0" lvl="0" indent="0" algn="ctr">
              <a:lnSpc>
                <a:spcPts val="4759"/>
              </a:lnSpc>
              <a:spcBef>
                <a:spcPct val="0"/>
              </a:spcBef>
            </a:pPr>
            <a:r>
              <a:rPr lang="en-US" sz="3399">
                <a:solidFill>
                  <a:srgbClr val="000000"/>
                </a:solidFill>
                <a:latin typeface="Open Sans"/>
                <a:ea typeface="Open Sans"/>
                <a:cs typeface="Open Sans"/>
                <a:sym typeface="Open Sans"/>
              </a:rPr>
              <a:t>App Móvil que permita gestionar rut</a:t>
            </a:r>
            <a:r>
              <a:rPr lang="en-US" sz="3399" u="none" strike="noStrike">
                <a:solidFill>
                  <a:srgbClr val="000000"/>
                </a:solidFill>
                <a:latin typeface="Open Sans"/>
                <a:ea typeface="Open Sans"/>
                <a:cs typeface="Open Sans"/>
                <a:sym typeface="Open Sans"/>
              </a:rPr>
              <a:t>as y eventos deportivos, y web que permite integrar análisis y reportería.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8C52FF">
                <a:alpha val="100000"/>
              </a:srgbClr>
            </a:gs>
            <a:gs pos="100000">
              <a:srgbClr val="5CE1E6">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224446" y="3792748"/>
            <a:ext cx="3575342" cy="3690274"/>
          </a:xfrm>
          <a:custGeom>
            <a:avLst/>
            <a:gdLst/>
            <a:ahLst/>
            <a:cxnLst/>
            <a:rect l="l" t="t" r="r" b="b"/>
            <a:pathLst>
              <a:path w="3575342" h="3690274">
                <a:moveTo>
                  <a:pt x="0" y="0"/>
                </a:moveTo>
                <a:lnTo>
                  <a:pt x="3575341" y="0"/>
                </a:lnTo>
                <a:lnTo>
                  <a:pt x="3575341" y="3690274"/>
                </a:lnTo>
                <a:lnTo>
                  <a:pt x="0" y="369027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L"/>
          </a:p>
        </p:txBody>
      </p:sp>
      <p:sp>
        <p:nvSpPr>
          <p:cNvPr id="3" name="Freeform 3"/>
          <p:cNvSpPr/>
          <p:nvPr/>
        </p:nvSpPr>
        <p:spPr>
          <a:xfrm>
            <a:off x="7076262" y="5232823"/>
            <a:ext cx="3575342" cy="3690274"/>
          </a:xfrm>
          <a:custGeom>
            <a:avLst/>
            <a:gdLst/>
            <a:ahLst/>
            <a:cxnLst/>
            <a:rect l="l" t="t" r="r" b="b"/>
            <a:pathLst>
              <a:path w="3575342" h="3690274">
                <a:moveTo>
                  <a:pt x="0" y="0"/>
                </a:moveTo>
                <a:lnTo>
                  <a:pt x="3575342" y="0"/>
                </a:lnTo>
                <a:lnTo>
                  <a:pt x="3575342" y="3690275"/>
                </a:lnTo>
                <a:lnTo>
                  <a:pt x="0" y="369027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s-CL"/>
          </a:p>
        </p:txBody>
      </p:sp>
      <p:sp>
        <p:nvSpPr>
          <p:cNvPr id="4" name="Freeform 4"/>
          <p:cNvSpPr/>
          <p:nvPr/>
        </p:nvSpPr>
        <p:spPr>
          <a:xfrm>
            <a:off x="12928460" y="3792748"/>
            <a:ext cx="4084524" cy="4215825"/>
          </a:xfrm>
          <a:custGeom>
            <a:avLst/>
            <a:gdLst/>
            <a:ahLst/>
            <a:cxnLst/>
            <a:rect l="l" t="t" r="r" b="b"/>
            <a:pathLst>
              <a:path w="4084524" h="4215825">
                <a:moveTo>
                  <a:pt x="0" y="0"/>
                </a:moveTo>
                <a:lnTo>
                  <a:pt x="4084524" y="0"/>
                </a:lnTo>
                <a:lnTo>
                  <a:pt x="4084524" y="4215825"/>
                </a:lnTo>
                <a:lnTo>
                  <a:pt x="0" y="421582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s-CL"/>
          </a:p>
        </p:txBody>
      </p:sp>
      <p:sp>
        <p:nvSpPr>
          <p:cNvPr id="5" name="TextBox 5"/>
          <p:cNvSpPr txBox="1"/>
          <p:nvPr/>
        </p:nvSpPr>
        <p:spPr>
          <a:xfrm>
            <a:off x="7219578" y="4512950"/>
            <a:ext cx="2270877" cy="514350"/>
          </a:xfrm>
          <a:prstGeom prst="rect">
            <a:avLst/>
          </a:prstGeom>
        </p:spPr>
        <p:txBody>
          <a:bodyPr lIns="0" tIns="0" rIns="0" bIns="0" rtlCol="0" anchor="t">
            <a:spAutoFit/>
          </a:bodyPr>
          <a:lstStyle/>
          <a:p>
            <a:pPr algn="just">
              <a:lnSpc>
                <a:spcPts val="4200"/>
              </a:lnSpc>
              <a:spcBef>
                <a:spcPct val="0"/>
              </a:spcBef>
            </a:pPr>
            <a:r>
              <a:rPr lang="en-US" sz="3000" b="1" i="1">
                <a:solidFill>
                  <a:srgbClr val="000000"/>
                </a:solidFill>
                <a:latin typeface="Open Sans Bold Italics"/>
                <a:ea typeface="Open Sans Bold Italics"/>
                <a:cs typeface="Open Sans Bold Italics"/>
                <a:sym typeface="Open Sans Bold Italics"/>
              </a:rPr>
              <a:t>2.-</a:t>
            </a:r>
          </a:p>
        </p:txBody>
      </p:sp>
      <p:sp>
        <p:nvSpPr>
          <p:cNvPr id="6" name="TextBox 6"/>
          <p:cNvSpPr txBox="1"/>
          <p:nvPr/>
        </p:nvSpPr>
        <p:spPr>
          <a:xfrm>
            <a:off x="13835283" y="3113553"/>
            <a:ext cx="2270877" cy="514350"/>
          </a:xfrm>
          <a:prstGeom prst="rect">
            <a:avLst/>
          </a:prstGeom>
        </p:spPr>
        <p:txBody>
          <a:bodyPr lIns="0" tIns="0" rIns="0" bIns="0" rtlCol="0" anchor="t">
            <a:spAutoFit/>
          </a:bodyPr>
          <a:lstStyle/>
          <a:p>
            <a:pPr algn="just">
              <a:lnSpc>
                <a:spcPts val="4200"/>
              </a:lnSpc>
              <a:spcBef>
                <a:spcPct val="0"/>
              </a:spcBef>
            </a:pPr>
            <a:r>
              <a:rPr lang="en-US" sz="3000" b="1" i="1">
                <a:solidFill>
                  <a:srgbClr val="000000"/>
                </a:solidFill>
                <a:latin typeface="Open Sans Bold Italics"/>
                <a:ea typeface="Open Sans Bold Italics"/>
                <a:cs typeface="Open Sans Bold Italics"/>
                <a:sym typeface="Open Sans Bold Italics"/>
              </a:rPr>
              <a:t>3.-</a:t>
            </a:r>
          </a:p>
        </p:txBody>
      </p:sp>
      <p:sp>
        <p:nvSpPr>
          <p:cNvPr id="7" name="TextBox 7"/>
          <p:cNvSpPr txBox="1"/>
          <p:nvPr/>
        </p:nvSpPr>
        <p:spPr>
          <a:xfrm>
            <a:off x="1612739" y="4326293"/>
            <a:ext cx="2798754" cy="2585085"/>
          </a:xfrm>
          <a:prstGeom prst="rect">
            <a:avLst/>
          </a:prstGeom>
        </p:spPr>
        <p:txBody>
          <a:bodyPr lIns="0" tIns="0" rIns="0" bIns="0" rtlCol="0" anchor="t">
            <a:spAutoFit/>
          </a:bodyPr>
          <a:lstStyle/>
          <a:p>
            <a:pPr algn="l">
              <a:lnSpc>
                <a:spcPts val="2940"/>
              </a:lnSpc>
            </a:pPr>
            <a:r>
              <a:rPr lang="en-US" sz="2100">
                <a:solidFill>
                  <a:srgbClr val="000000"/>
                </a:solidFill>
                <a:latin typeface="Open Sans"/>
                <a:ea typeface="Open Sans"/>
                <a:cs typeface="Open Sans"/>
                <a:sym typeface="Open Sans"/>
              </a:rPr>
              <a:t>Lograr una retención de al menos el 40% de los usuarios registrados durante los primeros tres meses de funcionamiento.</a:t>
            </a:r>
          </a:p>
        </p:txBody>
      </p:sp>
      <p:sp>
        <p:nvSpPr>
          <p:cNvPr id="8" name="TextBox 8"/>
          <p:cNvSpPr txBox="1"/>
          <p:nvPr/>
        </p:nvSpPr>
        <p:spPr>
          <a:xfrm>
            <a:off x="1330675" y="3113553"/>
            <a:ext cx="563368" cy="514350"/>
          </a:xfrm>
          <a:prstGeom prst="rect">
            <a:avLst/>
          </a:prstGeom>
        </p:spPr>
        <p:txBody>
          <a:bodyPr lIns="0" tIns="0" rIns="0" bIns="0" rtlCol="0" anchor="t">
            <a:spAutoFit/>
          </a:bodyPr>
          <a:lstStyle/>
          <a:p>
            <a:pPr algn="just">
              <a:lnSpc>
                <a:spcPts val="4200"/>
              </a:lnSpc>
              <a:spcBef>
                <a:spcPct val="0"/>
              </a:spcBef>
            </a:pPr>
            <a:r>
              <a:rPr lang="en-US" sz="3000" b="1" i="1">
                <a:solidFill>
                  <a:srgbClr val="000000"/>
                </a:solidFill>
                <a:latin typeface="Open Sans Bold Italics"/>
                <a:ea typeface="Open Sans Bold Italics"/>
                <a:cs typeface="Open Sans Bold Italics"/>
                <a:sym typeface="Open Sans Bold Italics"/>
              </a:rPr>
              <a:t>1.-</a:t>
            </a:r>
          </a:p>
        </p:txBody>
      </p:sp>
      <p:sp>
        <p:nvSpPr>
          <p:cNvPr id="9" name="TextBox 9"/>
          <p:cNvSpPr txBox="1"/>
          <p:nvPr/>
        </p:nvSpPr>
        <p:spPr>
          <a:xfrm>
            <a:off x="7464556" y="5659347"/>
            <a:ext cx="2798754" cy="2585085"/>
          </a:xfrm>
          <a:prstGeom prst="rect">
            <a:avLst/>
          </a:prstGeom>
        </p:spPr>
        <p:txBody>
          <a:bodyPr lIns="0" tIns="0" rIns="0" bIns="0" rtlCol="0" anchor="t">
            <a:spAutoFit/>
          </a:bodyPr>
          <a:lstStyle/>
          <a:p>
            <a:pPr algn="l">
              <a:lnSpc>
                <a:spcPts val="2940"/>
              </a:lnSpc>
            </a:pPr>
            <a:r>
              <a:rPr lang="en-US" sz="2100">
                <a:solidFill>
                  <a:srgbClr val="000000"/>
                </a:solidFill>
                <a:latin typeface="Open Sans"/>
                <a:ea typeface="Open Sans"/>
                <a:cs typeface="Open Sans"/>
                <a:sym typeface="Open Sans"/>
              </a:rPr>
              <a:t>Conseguir que un 35% de los usuarios activos registren y compartan al menos una ruta deportiva durante sus primeros tres meses de uso.</a:t>
            </a:r>
          </a:p>
        </p:txBody>
      </p:sp>
      <p:sp>
        <p:nvSpPr>
          <p:cNvPr id="10" name="TextBox 10"/>
          <p:cNvSpPr txBox="1"/>
          <p:nvPr/>
        </p:nvSpPr>
        <p:spPr>
          <a:xfrm>
            <a:off x="13835283" y="4039462"/>
            <a:ext cx="2798754" cy="4070985"/>
          </a:xfrm>
          <a:prstGeom prst="rect">
            <a:avLst/>
          </a:prstGeom>
        </p:spPr>
        <p:txBody>
          <a:bodyPr lIns="0" tIns="0" rIns="0" bIns="0" rtlCol="0" anchor="t">
            <a:spAutoFit/>
          </a:bodyPr>
          <a:lstStyle/>
          <a:p>
            <a:pPr algn="l">
              <a:lnSpc>
                <a:spcPts val="2940"/>
              </a:lnSpc>
            </a:pPr>
            <a:r>
              <a:rPr lang="en-US" sz="2100">
                <a:solidFill>
                  <a:srgbClr val="000000"/>
                </a:solidFill>
                <a:latin typeface="Open Sans"/>
                <a:ea typeface="Open Sans"/>
                <a:cs typeface="Open Sans"/>
                <a:sym typeface="Open Sans"/>
              </a:rPr>
              <a:t>Comprobar la participación comunitaria, constatando que el 40% de los usuarios participe en al menos un evento deportivo grupal durante los primeros 3 meses de uso.</a:t>
            </a:r>
          </a:p>
          <a:p>
            <a:pPr algn="l">
              <a:lnSpc>
                <a:spcPts val="2940"/>
              </a:lnSpc>
            </a:pPr>
            <a:endParaRPr lang="en-US" sz="2100">
              <a:solidFill>
                <a:srgbClr val="000000"/>
              </a:solidFill>
              <a:latin typeface="Open Sans"/>
              <a:ea typeface="Open Sans"/>
              <a:cs typeface="Open Sans"/>
              <a:sym typeface="Open Sans"/>
            </a:endParaRPr>
          </a:p>
        </p:txBody>
      </p:sp>
      <p:sp>
        <p:nvSpPr>
          <p:cNvPr id="11" name="TextBox 11"/>
          <p:cNvSpPr txBox="1"/>
          <p:nvPr/>
        </p:nvSpPr>
        <p:spPr>
          <a:xfrm>
            <a:off x="3633901" y="1820439"/>
            <a:ext cx="10986901" cy="883539"/>
          </a:xfrm>
          <a:prstGeom prst="rect">
            <a:avLst/>
          </a:prstGeom>
        </p:spPr>
        <p:txBody>
          <a:bodyPr lIns="0" tIns="0" rIns="0" bIns="0" rtlCol="0" anchor="t">
            <a:spAutoFit/>
          </a:bodyPr>
          <a:lstStyle/>
          <a:p>
            <a:pPr marL="0" lvl="0" indent="0" algn="l">
              <a:lnSpc>
                <a:spcPts val="6408"/>
              </a:lnSpc>
              <a:spcBef>
                <a:spcPct val="0"/>
              </a:spcBef>
            </a:pPr>
            <a:r>
              <a:rPr lang="en-US" sz="7200" b="1" i="1">
                <a:solidFill>
                  <a:srgbClr val="000000"/>
                </a:solidFill>
                <a:latin typeface="Monterchi Serif Bold Italics"/>
                <a:ea typeface="Monterchi Serif Bold Italics"/>
                <a:cs typeface="Monterchi Serif Bold Italics"/>
                <a:sym typeface="Monterchi Serif Bold Italics"/>
              </a:rPr>
              <a:t>OBJETIVOS ESPECÍFICOS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rot="5400000">
            <a:off x="4601203" y="5378756"/>
            <a:ext cx="9265170" cy="179575"/>
            <a:chOff x="0" y="0"/>
            <a:chExt cx="1381433" cy="26775"/>
          </a:xfrm>
        </p:grpSpPr>
        <p:sp>
          <p:nvSpPr>
            <p:cNvPr id="3" name="Freeform 3"/>
            <p:cNvSpPr/>
            <p:nvPr/>
          </p:nvSpPr>
          <p:spPr>
            <a:xfrm>
              <a:off x="0" y="-10078"/>
              <a:ext cx="1381434" cy="46931"/>
            </a:xfrm>
            <a:custGeom>
              <a:avLst/>
              <a:gdLst/>
              <a:ahLst/>
              <a:cxnLst/>
              <a:rect l="l" t="t" r="r" b="b"/>
              <a:pathLst>
                <a:path w="1381434" h="46931">
                  <a:moveTo>
                    <a:pt x="695930" y="15266"/>
                  </a:moveTo>
                  <a:cubicBezTo>
                    <a:pt x="927906" y="10915"/>
                    <a:pt x="1154670" y="-16592"/>
                    <a:pt x="1381434" y="14931"/>
                  </a:cubicBezTo>
                  <a:lnTo>
                    <a:pt x="1381434" y="30828"/>
                  </a:lnTo>
                  <a:cubicBezTo>
                    <a:pt x="1146850" y="22796"/>
                    <a:pt x="912267" y="27314"/>
                    <a:pt x="685504" y="31665"/>
                  </a:cubicBezTo>
                  <a:cubicBezTo>
                    <a:pt x="453527" y="36016"/>
                    <a:pt x="226764" y="63523"/>
                    <a:pt x="0" y="32000"/>
                  </a:cubicBezTo>
                  <a:lnTo>
                    <a:pt x="0" y="16102"/>
                  </a:lnTo>
                  <a:cubicBezTo>
                    <a:pt x="234583" y="24135"/>
                    <a:pt x="469166" y="19616"/>
                    <a:pt x="695930" y="15266"/>
                  </a:cubicBezTo>
                  <a:close/>
                </a:path>
              </a:pathLst>
            </a:custGeom>
            <a:solidFill>
              <a:srgbClr val="FFFFFF"/>
            </a:solidFill>
          </p:spPr>
          <p:txBody>
            <a:bodyPr/>
            <a:lstStyle/>
            <a:p>
              <a:endParaRPr lang="es-CL"/>
            </a:p>
          </p:txBody>
        </p:sp>
        <p:sp>
          <p:nvSpPr>
            <p:cNvPr id="4" name="TextBox 4"/>
            <p:cNvSpPr txBox="1"/>
            <p:nvPr/>
          </p:nvSpPr>
          <p:spPr>
            <a:xfrm>
              <a:off x="0" y="-21881"/>
              <a:ext cx="1381433" cy="41962"/>
            </a:xfrm>
            <a:prstGeom prst="rect">
              <a:avLst/>
            </a:prstGeom>
          </p:spPr>
          <p:txBody>
            <a:bodyPr lIns="50800" tIns="50800" rIns="50800" bIns="50800" rtlCol="0" anchor="ctr"/>
            <a:lstStyle/>
            <a:p>
              <a:pPr algn="ctr">
                <a:lnSpc>
                  <a:spcPts val="2921"/>
                </a:lnSpc>
              </a:pPr>
              <a:endParaRPr/>
            </a:p>
          </p:txBody>
        </p:sp>
      </p:grpSp>
      <p:sp>
        <p:nvSpPr>
          <p:cNvPr id="5" name="TextBox 5"/>
          <p:cNvSpPr txBox="1"/>
          <p:nvPr/>
        </p:nvSpPr>
        <p:spPr>
          <a:xfrm>
            <a:off x="1921620" y="691706"/>
            <a:ext cx="9291139" cy="883539"/>
          </a:xfrm>
          <a:prstGeom prst="rect">
            <a:avLst/>
          </a:prstGeom>
        </p:spPr>
        <p:txBody>
          <a:bodyPr lIns="0" tIns="0" rIns="0" bIns="0" rtlCol="0" anchor="t">
            <a:spAutoFit/>
          </a:bodyPr>
          <a:lstStyle/>
          <a:p>
            <a:pPr marL="0" lvl="0" indent="0" algn="l">
              <a:lnSpc>
                <a:spcPts val="6408"/>
              </a:lnSpc>
              <a:spcBef>
                <a:spcPct val="0"/>
              </a:spcBef>
            </a:pPr>
            <a:r>
              <a:rPr lang="en-US" sz="7200" b="1">
                <a:solidFill>
                  <a:srgbClr val="FFFFFF"/>
                </a:solidFill>
                <a:latin typeface="Monterchi Serif Bold"/>
                <a:ea typeface="Monterchi Serif Bold"/>
                <a:cs typeface="Monterchi Serif Bold"/>
                <a:sym typeface="Monterchi Serif Bold"/>
              </a:rPr>
              <a:t>ALCANCES </a:t>
            </a:r>
          </a:p>
        </p:txBody>
      </p:sp>
      <p:sp>
        <p:nvSpPr>
          <p:cNvPr id="6" name="TextBox 6"/>
          <p:cNvSpPr txBox="1"/>
          <p:nvPr/>
        </p:nvSpPr>
        <p:spPr>
          <a:xfrm>
            <a:off x="10162810" y="691706"/>
            <a:ext cx="9291139" cy="883539"/>
          </a:xfrm>
          <a:prstGeom prst="rect">
            <a:avLst/>
          </a:prstGeom>
        </p:spPr>
        <p:txBody>
          <a:bodyPr lIns="0" tIns="0" rIns="0" bIns="0" rtlCol="0" anchor="t">
            <a:spAutoFit/>
          </a:bodyPr>
          <a:lstStyle/>
          <a:p>
            <a:pPr marL="0" lvl="0" indent="0" algn="l">
              <a:lnSpc>
                <a:spcPts val="6408"/>
              </a:lnSpc>
              <a:spcBef>
                <a:spcPct val="0"/>
              </a:spcBef>
            </a:pPr>
            <a:r>
              <a:rPr lang="en-US" sz="7200" b="1">
                <a:solidFill>
                  <a:srgbClr val="FFFFFF"/>
                </a:solidFill>
                <a:latin typeface="Monterchi Serif Bold"/>
                <a:ea typeface="Monterchi Serif Bold"/>
                <a:cs typeface="Monterchi Serif Bold"/>
                <a:sym typeface="Monterchi Serif Bold"/>
              </a:rPr>
              <a:t>LIMITACIONES </a:t>
            </a:r>
          </a:p>
        </p:txBody>
      </p:sp>
      <p:sp>
        <p:nvSpPr>
          <p:cNvPr id="7" name="TextBox 7"/>
          <p:cNvSpPr txBox="1"/>
          <p:nvPr/>
        </p:nvSpPr>
        <p:spPr>
          <a:xfrm>
            <a:off x="10162810" y="1729220"/>
            <a:ext cx="7283691" cy="6508169"/>
          </a:xfrm>
          <a:prstGeom prst="rect">
            <a:avLst/>
          </a:prstGeom>
        </p:spPr>
        <p:txBody>
          <a:bodyPr lIns="0" tIns="0" rIns="0" bIns="0" rtlCol="0" anchor="t">
            <a:spAutoFit/>
          </a:bodyPr>
          <a:lstStyle/>
          <a:p>
            <a:pPr algn="l">
              <a:lnSpc>
                <a:spcPts val="3079"/>
              </a:lnSpc>
            </a:pPr>
            <a:r>
              <a:rPr lang="en-US" sz="2199" b="1">
                <a:solidFill>
                  <a:srgbClr val="000000"/>
                </a:solidFill>
                <a:latin typeface="Open Sans Bold"/>
                <a:ea typeface="Open Sans Bold"/>
                <a:cs typeface="Open Sans Bold"/>
                <a:sym typeface="Open Sans Bold"/>
              </a:rPr>
              <a:t>La aplicación NO contempla:</a:t>
            </a:r>
          </a:p>
          <a:p>
            <a:pPr algn="l">
              <a:lnSpc>
                <a:spcPts val="3079"/>
              </a:lnSpc>
            </a:pPr>
            <a:endParaRPr lang="en-US" sz="2199" b="1">
              <a:solidFill>
                <a:srgbClr val="000000"/>
              </a:solidFill>
              <a:latin typeface="Open Sans Bold"/>
              <a:ea typeface="Open Sans Bold"/>
              <a:cs typeface="Open Sans Bold"/>
              <a:sym typeface="Open Sans Bold"/>
            </a:endParaRPr>
          </a:p>
          <a:p>
            <a:pPr marL="474979" lvl="1" indent="-237490" algn="l">
              <a:lnSpc>
                <a:spcPts val="3079"/>
              </a:lnSpc>
              <a:buFont typeface="Arial"/>
              <a:buChar char="•"/>
            </a:pPr>
            <a:r>
              <a:rPr lang="en-US" sz="2199" b="1">
                <a:solidFill>
                  <a:srgbClr val="000000"/>
                </a:solidFill>
                <a:latin typeface="Open Sans Bold"/>
                <a:ea typeface="Open Sans Bold"/>
                <a:cs typeface="Open Sans Bold"/>
                <a:sym typeface="Open Sans Bold"/>
              </a:rPr>
              <a:t> Sistema de mensajería entre usuarios.</a:t>
            </a:r>
          </a:p>
          <a:p>
            <a:pPr algn="l">
              <a:lnSpc>
                <a:spcPts val="3079"/>
              </a:lnSpc>
            </a:pPr>
            <a:endParaRPr lang="en-US" sz="2199" b="1">
              <a:solidFill>
                <a:srgbClr val="000000"/>
              </a:solidFill>
              <a:latin typeface="Open Sans Bold"/>
              <a:ea typeface="Open Sans Bold"/>
              <a:cs typeface="Open Sans Bold"/>
              <a:sym typeface="Open Sans Bold"/>
            </a:endParaRPr>
          </a:p>
          <a:p>
            <a:pPr marL="474979" lvl="1" indent="-237490" algn="l">
              <a:lnSpc>
                <a:spcPts val="3079"/>
              </a:lnSpc>
              <a:buFont typeface="Arial"/>
              <a:buChar char="•"/>
            </a:pPr>
            <a:r>
              <a:rPr lang="en-US" sz="2199" b="1">
                <a:solidFill>
                  <a:srgbClr val="000000"/>
                </a:solidFill>
                <a:latin typeface="Open Sans Bold"/>
                <a:ea typeface="Open Sans Bold"/>
                <a:cs typeface="Open Sans Bold"/>
                <a:sym typeface="Open Sans Bold"/>
              </a:rPr>
              <a:t>Visualización de otros perfiles de usuario.</a:t>
            </a:r>
          </a:p>
          <a:p>
            <a:pPr algn="l">
              <a:lnSpc>
                <a:spcPts val="3079"/>
              </a:lnSpc>
            </a:pPr>
            <a:endParaRPr lang="en-US" sz="2199" b="1">
              <a:solidFill>
                <a:srgbClr val="000000"/>
              </a:solidFill>
              <a:latin typeface="Open Sans Bold"/>
              <a:ea typeface="Open Sans Bold"/>
              <a:cs typeface="Open Sans Bold"/>
              <a:sym typeface="Open Sans Bold"/>
            </a:endParaRPr>
          </a:p>
          <a:p>
            <a:pPr marL="474979" lvl="1" indent="-237490" algn="l">
              <a:lnSpc>
                <a:spcPts val="3079"/>
              </a:lnSpc>
              <a:buFont typeface="Arial"/>
              <a:buChar char="•"/>
            </a:pPr>
            <a:r>
              <a:rPr lang="en-US" sz="2199" b="1">
                <a:solidFill>
                  <a:srgbClr val="000000"/>
                </a:solidFill>
                <a:latin typeface="Open Sans Bold"/>
                <a:ea typeface="Open Sans Bold"/>
                <a:cs typeface="Open Sans Bold"/>
                <a:sym typeface="Open Sans Bold"/>
              </a:rPr>
              <a:t>Falta de recomendaciones automáticas de rutas o eventos.</a:t>
            </a:r>
          </a:p>
          <a:p>
            <a:pPr algn="l">
              <a:lnSpc>
                <a:spcPts val="3079"/>
              </a:lnSpc>
            </a:pPr>
            <a:endParaRPr lang="en-US" sz="2199" b="1">
              <a:solidFill>
                <a:srgbClr val="000000"/>
              </a:solidFill>
              <a:latin typeface="Open Sans Bold"/>
              <a:ea typeface="Open Sans Bold"/>
              <a:cs typeface="Open Sans Bold"/>
              <a:sym typeface="Open Sans Bold"/>
            </a:endParaRPr>
          </a:p>
          <a:p>
            <a:pPr marL="474979" lvl="1" indent="-237490" algn="l">
              <a:lnSpc>
                <a:spcPts val="3079"/>
              </a:lnSpc>
              <a:buFont typeface="Arial"/>
              <a:buChar char="•"/>
            </a:pPr>
            <a:r>
              <a:rPr lang="en-US" sz="2199" b="1">
                <a:solidFill>
                  <a:srgbClr val="000000"/>
                </a:solidFill>
                <a:latin typeface="Open Sans Bold"/>
                <a:ea typeface="Open Sans Bold"/>
                <a:cs typeface="Open Sans Bold"/>
                <a:sym typeface="Open Sans Bold"/>
              </a:rPr>
              <a:t>Integración con dispositivos inteligentes.</a:t>
            </a:r>
          </a:p>
          <a:p>
            <a:pPr algn="l">
              <a:lnSpc>
                <a:spcPts val="3079"/>
              </a:lnSpc>
            </a:pPr>
            <a:endParaRPr lang="en-US" sz="2199" b="1">
              <a:solidFill>
                <a:srgbClr val="000000"/>
              </a:solidFill>
              <a:latin typeface="Open Sans Bold"/>
              <a:ea typeface="Open Sans Bold"/>
              <a:cs typeface="Open Sans Bold"/>
              <a:sym typeface="Open Sans Bold"/>
            </a:endParaRPr>
          </a:p>
          <a:p>
            <a:pPr marL="452475" lvl="1" indent="-226238" algn="l">
              <a:lnSpc>
                <a:spcPts val="2934"/>
              </a:lnSpc>
              <a:buFont typeface="Arial"/>
              <a:buChar char="•"/>
            </a:pPr>
            <a:r>
              <a:rPr lang="en-US" sz="2095" b="1" u="none" strike="noStrike">
                <a:solidFill>
                  <a:srgbClr val="000000"/>
                </a:solidFill>
                <a:latin typeface="Open Sans Bold"/>
                <a:ea typeface="Open Sans Bold"/>
                <a:cs typeface="Open Sans Bold"/>
                <a:sym typeface="Open Sans Bold"/>
              </a:rPr>
              <a:t>Datos biométricos y calorías.</a:t>
            </a:r>
          </a:p>
          <a:p>
            <a:pPr algn="l">
              <a:lnSpc>
                <a:spcPts val="2934"/>
              </a:lnSpc>
            </a:pPr>
            <a:endParaRPr lang="en-US" sz="2095" b="1" u="none" strike="noStrike">
              <a:solidFill>
                <a:srgbClr val="000000"/>
              </a:solidFill>
              <a:latin typeface="Open Sans Bold"/>
              <a:ea typeface="Open Sans Bold"/>
              <a:cs typeface="Open Sans Bold"/>
              <a:sym typeface="Open Sans Bold"/>
            </a:endParaRPr>
          </a:p>
          <a:p>
            <a:pPr marL="452475" lvl="1" indent="-226238" algn="l">
              <a:lnSpc>
                <a:spcPts val="2934"/>
              </a:lnSpc>
              <a:buFont typeface="Arial"/>
              <a:buChar char="•"/>
            </a:pPr>
            <a:r>
              <a:rPr lang="en-US" sz="2095" b="1" u="none" strike="noStrike">
                <a:solidFill>
                  <a:srgbClr val="000000"/>
                </a:solidFill>
                <a:latin typeface="Open Sans Bold"/>
                <a:ea typeface="Open Sans Bold"/>
                <a:cs typeface="Open Sans Bold"/>
                <a:sym typeface="Open Sans Bold"/>
              </a:rPr>
              <a:t>Mantenimiento posterior a la entrega.</a:t>
            </a:r>
          </a:p>
          <a:p>
            <a:pPr algn="l">
              <a:lnSpc>
                <a:spcPts val="2934"/>
              </a:lnSpc>
            </a:pPr>
            <a:endParaRPr lang="en-US" sz="2095" b="1" u="none" strike="noStrike">
              <a:solidFill>
                <a:srgbClr val="000000"/>
              </a:solidFill>
              <a:latin typeface="Open Sans Bold"/>
              <a:ea typeface="Open Sans Bold"/>
              <a:cs typeface="Open Sans Bold"/>
              <a:sym typeface="Open Sans Bold"/>
            </a:endParaRPr>
          </a:p>
          <a:p>
            <a:pPr marL="452475" lvl="1" indent="-226238" algn="l">
              <a:lnSpc>
                <a:spcPts val="2934"/>
              </a:lnSpc>
              <a:buFont typeface="Arial"/>
              <a:buChar char="•"/>
            </a:pPr>
            <a:r>
              <a:rPr lang="en-US" sz="2095" b="1" u="none" strike="noStrike">
                <a:solidFill>
                  <a:srgbClr val="000000"/>
                </a:solidFill>
                <a:latin typeface="Open Sans Bold"/>
                <a:ea typeface="Open Sans Bold"/>
                <a:cs typeface="Open Sans Bold"/>
                <a:sym typeface="Open Sans Bold"/>
              </a:rPr>
              <a:t>Depende de internet y GPS.</a:t>
            </a:r>
          </a:p>
          <a:p>
            <a:pPr algn="l">
              <a:lnSpc>
                <a:spcPts val="2934"/>
              </a:lnSpc>
              <a:spcBef>
                <a:spcPct val="0"/>
              </a:spcBef>
            </a:pPr>
            <a:endParaRPr lang="en-US" sz="2095" b="1" u="none" strike="noStrike">
              <a:solidFill>
                <a:srgbClr val="000000"/>
              </a:solidFill>
              <a:latin typeface="Open Sans Bold"/>
              <a:ea typeface="Open Sans Bold"/>
              <a:cs typeface="Open Sans Bold"/>
              <a:sym typeface="Open Sans Bold"/>
            </a:endParaRPr>
          </a:p>
        </p:txBody>
      </p:sp>
      <p:sp>
        <p:nvSpPr>
          <p:cNvPr id="8" name="TextBox 8"/>
          <p:cNvSpPr txBox="1"/>
          <p:nvPr/>
        </p:nvSpPr>
        <p:spPr>
          <a:xfrm>
            <a:off x="235534" y="1951899"/>
            <a:ext cx="8685142" cy="5189855"/>
          </a:xfrm>
          <a:prstGeom prst="rect">
            <a:avLst/>
          </a:prstGeom>
        </p:spPr>
        <p:txBody>
          <a:bodyPr lIns="0" tIns="0" rIns="0" bIns="0" rtlCol="0" anchor="t">
            <a:spAutoFit/>
          </a:bodyPr>
          <a:lstStyle/>
          <a:p>
            <a:pPr marL="496571" lvl="1" indent="-248285" algn="just">
              <a:lnSpc>
                <a:spcPts val="3220"/>
              </a:lnSpc>
              <a:buFont typeface="Arial"/>
              <a:buChar char="•"/>
            </a:pPr>
            <a:r>
              <a:rPr lang="en-US" sz="2300" b="1">
                <a:solidFill>
                  <a:srgbClr val="000000"/>
                </a:solidFill>
                <a:latin typeface="Open Sans Bold"/>
                <a:ea typeface="Open Sans Bold"/>
                <a:cs typeface="Open Sans Bold"/>
                <a:sym typeface="Open Sans Bold"/>
              </a:rPr>
              <a:t>Registro y autenticación de usuarios.</a:t>
            </a:r>
          </a:p>
          <a:p>
            <a:pPr algn="just">
              <a:lnSpc>
                <a:spcPts val="3220"/>
              </a:lnSpc>
            </a:pPr>
            <a:endParaRPr lang="en-US" sz="2300" b="1">
              <a:solidFill>
                <a:srgbClr val="000000"/>
              </a:solidFill>
              <a:latin typeface="Open Sans Bold"/>
              <a:ea typeface="Open Sans Bold"/>
              <a:cs typeface="Open Sans Bold"/>
              <a:sym typeface="Open Sans Bold"/>
            </a:endParaRPr>
          </a:p>
          <a:p>
            <a:pPr marL="496571" lvl="1" indent="-248285" algn="just">
              <a:lnSpc>
                <a:spcPts val="3220"/>
              </a:lnSpc>
              <a:buFont typeface="Arial"/>
              <a:buChar char="•"/>
            </a:pPr>
            <a:r>
              <a:rPr lang="en-US" sz="2300" b="1">
                <a:solidFill>
                  <a:srgbClr val="000000"/>
                </a:solidFill>
                <a:latin typeface="Open Sans Bold"/>
                <a:ea typeface="Open Sans Bold"/>
                <a:cs typeface="Open Sans Bold"/>
                <a:sym typeface="Open Sans Bold"/>
              </a:rPr>
              <a:t>Gestión de perfil de usuario personalizable.</a:t>
            </a:r>
          </a:p>
          <a:p>
            <a:pPr algn="just">
              <a:lnSpc>
                <a:spcPts val="3220"/>
              </a:lnSpc>
            </a:pPr>
            <a:endParaRPr lang="en-US" sz="2300" b="1">
              <a:solidFill>
                <a:srgbClr val="000000"/>
              </a:solidFill>
              <a:latin typeface="Open Sans Bold"/>
              <a:ea typeface="Open Sans Bold"/>
              <a:cs typeface="Open Sans Bold"/>
              <a:sym typeface="Open Sans Bold"/>
            </a:endParaRPr>
          </a:p>
          <a:p>
            <a:pPr marL="496571" lvl="1" indent="-248285" algn="just">
              <a:lnSpc>
                <a:spcPts val="3220"/>
              </a:lnSpc>
              <a:buFont typeface="Arial"/>
              <a:buChar char="•"/>
            </a:pPr>
            <a:r>
              <a:rPr lang="en-US" sz="2300" b="1" u="none" strike="noStrike">
                <a:solidFill>
                  <a:srgbClr val="000000"/>
                </a:solidFill>
                <a:latin typeface="Open Sans Bold"/>
                <a:ea typeface="Open Sans Bold"/>
                <a:cs typeface="Open Sans Bold"/>
                <a:sym typeface="Open Sans Bold"/>
              </a:rPr>
              <a:t>Gestión de rutas con GPS.</a:t>
            </a:r>
          </a:p>
          <a:p>
            <a:pPr algn="just">
              <a:lnSpc>
                <a:spcPts val="3220"/>
              </a:lnSpc>
              <a:spcBef>
                <a:spcPct val="0"/>
              </a:spcBef>
            </a:pPr>
            <a:endParaRPr lang="en-US" sz="2300" b="1" u="none" strike="noStrike">
              <a:solidFill>
                <a:srgbClr val="000000"/>
              </a:solidFill>
              <a:latin typeface="Open Sans Bold"/>
              <a:ea typeface="Open Sans Bold"/>
              <a:cs typeface="Open Sans Bold"/>
              <a:sym typeface="Open Sans Bold"/>
            </a:endParaRPr>
          </a:p>
          <a:p>
            <a:pPr marL="496571" lvl="1" indent="-248285" algn="just">
              <a:lnSpc>
                <a:spcPts val="3220"/>
              </a:lnSpc>
              <a:buFont typeface="Arial"/>
              <a:buChar char="•"/>
            </a:pPr>
            <a:r>
              <a:rPr lang="en-US" sz="2300" b="1" u="none" strike="noStrike">
                <a:solidFill>
                  <a:srgbClr val="000000"/>
                </a:solidFill>
                <a:latin typeface="Open Sans Bold"/>
                <a:ea typeface="Open Sans Bold"/>
                <a:cs typeface="Open Sans Bold"/>
                <a:sym typeface="Open Sans Bold"/>
              </a:rPr>
              <a:t>Gestión de eventos.</a:t>
            </a:r>
          </a:p>
          <a:p>
            <a:pPr algn="just">
              <a:lnSpc>
                <a:spcPts val="3220"/>
              </a:lnSpc>
            </a:pPr>
            <a:endParaRPr lang="en-US" sz="2300" b="1" u="none" strike="noStrike">
              <a:solidFill>
                <a:srgbClr val="000000"/>
              </a:solidFill>
              <a:latin typeface="Open Sans Bold"/>
              <a:ea typeface="Open Sans Bold"/>
              <a:cs typeface="Open Sans Bold"/>
              <a:sym typeface="Open Sans Bold"/>
            </a:endParaRPr>
          </a:p>
          <a:p>
            <a:pPr marL="496571" lvl="1" indent="-248285" algn="just">
              <a:lnSpc>
                <a:spcPts val="3220"/>
              </a:lnSpc>
              <a:buFont typeface="Arial"/>
              <a:buChar char="•"/>
            </a:pPr>
            <a:r>
              <a:rPr lang="en-US" sz="2300" b="1" u="none" strike="noStrike">
                <a:solidFill>
                  <a:srgbClr val="000000"/>
                </a:solidFill>
                <a:latin typeface="Open Sans Bold"/>
                <a:ea typeface="Open Sans Bold"/>
                <a:cs typeface="Open Sans Bold"/>
                <a:sym typeface="Open Sans Bold"/>
              </a:rPr>
              <a:t>Sistema  de Analítica y reportes (panel web)</a:t>
            </a:r>
          </a:p>
          <a:p>
            <a:pPr algn="just">
              <a:lnSpc>
                <a:spcPts val="3220"/>
              </a:lnSpc>
              <a:spcBef>
                <a:spcPct val="0"/>
              </a:spcBef>
            </a:pPr>
            <a:endParaRPr lang="en-US" sz="2300" b="1" u="none" strike="noStrike">
              <a:solidFill>
                <a:srgbClr val="000000"/>
              </a:solidFill>
              <a:latin typeface="Open Sans Bold"/>
              <a:ea typeface="Open Sans Bold"/>
              <a:cs typeface="Open Sans Bold"/>
              <a:sym typeface="Open Sans Bold"/>
            </a:endParaRPr>
          </a:p>
          <a:p>
            <a:pPr algn="just">
              <a:lnSpc>
                <a:spcPts val="3220"/>
              </a:lnSpc>
              <a:spcBef>
                <a:spcPct val="0"/>
              </a:spcBef>
            </a:pPr>
            <a:endParaRPr lang="en-US" sz="2300" b="1" u="none" strike="noStrike">
              <a:solidFill>
                <a:srgbClr val="000000"/>
              </a:solidFill>
              <a:latin typeface="Open Sans Bold"/>
              <a:ea typeface="Open Sans Bold"/>
              <a:cs typeface="Open Sans Bold"/>
              <a:sym typeface="Open Sans Bold"/>
            </a:endParaRPr>
          </a:p>
          <a:p>
            <a:pPr algn="just">
              <a:lnSpc>
                <a:spcPts val="3220"/>
              </a:lnSpc>
              <a:spcBef>
                <a:spcPct val="0"/>
              </a:spcBef>
            </a:pPr>
            <a:endParaRPr lang="en-US" sz="2300" b="1" u="none" strike="noStrike">
              <a:solidFill>
                <a:srgbClr val="000000"/>
              </a:solidFill>
              <a:latin typeface="Open Sans Bold"/>
              <a:ea typeface="Open Sans Bold"/>
              <a:cs typeface="Open Sans Bold"/>
              <a:sym typeface="Open Sans Bold"/>
            </a:endParaRPr>
          </a:p>
          <a:p>
            <a:pPr marL="0" lvl="0" indent="0" algn="just">
              <a:lnSpc>
                <a:spcPts val="3220"/>
              </a:lnSpc>
              <a:spcBef>
                <a:spcPct val="0"/>
              </a:spcBef>
            </a:pPr>
            <a:endParaRPr lang="en-US" sz="2300" b="1" u="none" strike="noStrike">
              <a:solidFill>
                <a:srgbClr val="000000"/>
              </a:solidFill>
              <a:latin typeface="Open Sans Bold"/>
              <a:ea typeface="Open Sans Bold"/>
              <a:cs typeface="Open Sans Bold"/>
              <a:sym typeface="Open Sans 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4241366" y="1238250"/>
            <a:ext cx="9291139" cy="883539"/>
          </a:xfrm>
          <a:prstGeom prst="rect">
            <a:avLst/>
          </a:prstGeom>
        </p:spPr>
        <p:txBody>
          <a:bodyPr lIns="0" tIns="0" rIns="0" bIns="0" rtlCol="0" anchor="t">
            <a:spAutoFit/>
          </a:bodyPr>
          <a:lstStyle/>
          <a:p>
            <a:pPr marL="0" lvl="0" indent="0" algn="l">
              <a:lnSpc>
                <a:spcPts val="6408"/>
              </a:lnSpc>
              <a:spcBef>
                <a:spcPct val="0"/>
              </a:spcBef>
            </a:pPr>
            <a:r>
              <a:rPr lang="en-US" sz="7200" b="1">
                <a:solidFill>
                  <a:srgbClr val="000000"/>
                </a:solidFill>
                <a:latin typeface="Monterchi Serif Bold"/>
                <a:ea typeface="Monterchi Serif Bold"/>
                <a:cs typeface="Monterchi Serif Bold"/>
                <a:sym typeface="Monterchi Serif Bold"/>
              </a:rPr>
              <a:t>METODOLOGÍA AGÍL</a:t>
            </a:r>
          </a:p>
        </p:txBody>
      </p:sp>
      <p:grpSp>
        <p:nvGrpSpPr>
          <p:cNvPr id="3" name="Group 3"/>
          <p:cNvGrpSpPr/>
          <p:nvPr/>
        </p:nvGrpSpPr>
        <p:grpSpPr>
          <a:xfrm>
            <a:off x="1550281" y="2455220"/>
            <a:ext cx="5377536" cy="1373705"/>
            <a:chOff x="0" y="0"/>
            <a:chExt cx="1416306" cy="361799"/>
          </a:xfrm>
        </p:grpSpPr>
        <p:sp>
          <p:nvSpPr>
            <p:cNvPr id="4" name="Freeform 4"/>
            <p:cNvSpPr/>
            <p:nvPr/>
          </p:nvSpPr>
          <p:spPr>
            <a:xfrm>
              <a:off x="0" y="0"/>
              <a:ext cx="1416306" cy="361799"/>
            </a:xfrm>
            <a:custGeom>
              <a:avLst/>
              <a:gdLst/>
              <a:ahLst/>
              <a:cxnLst/>
              <a:rect l="l" t="t" r="r" b="b"/>
              <a:pathLst>
                <a:path w="1416306" h="361799">
                  <a:moveTo>
                    <a:pt x="0" y="0"/>
                  </a:moveTo>
                  <a:lnTo>
                    <a:pt x="1416306" y="0"/>
                  </a:lnTo>
                  <a:lnTo>
                    <a:pt x="1416306" y="361799"/>
                  </a:lnTo>
                  <a:lnTo>
                    <a:pt x="0" y="361799"/>
                  </a:lnTo>
                  <a:close/>
                </a:path>
              </a:pathLst>
            </a:custGeom>
            <a:solidFill>
              <a:srgbClr val="7ED957"/>
            </a:solidFill>
            <a:ln cap="sq">
              <a:noFill/>
              <a:prstDash val="solid"/>
              <a:miter/>
            </a:ln>
          </p:spPr>
          <p:txBody>
            <a:bodyPr/>
            <a:lstStyle/>
            <a:p>
              <a:endParaRPr lang="es-CL"/>
            </a:p>
          </p:txBody>
        </p:sp>
        <p:sp>
          <p:nvSpPr>
            <p:cNvPr id="5" name="TextBox 5"/>
            <p:cNvSpPr txBox="1"/>
            <p:nvPr/>
          </p:nvSpPr>
          <p:spPr>
            <a:xfrm>
              <a:off x="0" y="-28575"/>
              <a:ext cx="1416306" cy="390374"/>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6" name="Group 6"/>
          <p:cNvGrpSpPr/>
          <p:nvPr/>
        </p:nvGrpSpPr>
        <p:grpSpPr>
          <a:xfrm>
            <a:off x="1550281" y="4113231"/>
            <a:ext cx="5377536" cy="1373705"/>
            <a:chOff x="0" y="0"/>
            <a:chExt cx="1416306" cy="361799"/>
          </a:xfrm>
        </p:grpSpPr>
        <p:sp>
          <p:nvSpPr>
            <p:cNvPr id="7" name="Freeform 7"/>
            <p:cNvSpPr/>
            <p:nvPr/>
          </p:nvSpPr>
          <p:spPr>
            <a:xfrm>
              <a:off x="0" y="0"/>
              <a:ext cx="1416306" cy="361799"/>
            </a:xfrm>
            <a:custGeom>
              <a:avLst/>
              <a:gdLst/>
              <a:ahLst/>
              <a:cxnLst/>
              <a:rect l="l" t="t" r="r" b="b"/>
              <a:pathLst>
                <a:path w="1416306" h="361799">
                  <a:moveTo>
                    <a:pt x="0" y="0"/>
                  </a:moveTo>
                  <a:lnTo>
                    <a:pt x="1416306" y="0"/>
                  </a:lnTo>
                  <a:lnTo>
                    <a:pt x="1416306" y="361799"/>
                  </a:lnTo>
                  <a:lnTo>
                    <a:pt x="0" y="361799"/>
                  </a:lnTo>
                  <a:close/>
                </a:path>
              </a:pathLst>
            </a:custGeom>
            <a:gradFill rotWithShape="1">
              <a:gsLst>
                <a:gs pos="0">
                  <a:srgbClr val="89D957">
                    <a:alpha val="100000"/>
                  </a:srgbClr>
                </a:gs>
                <a:gs pos="100000">
                  <a:srgbClr val="C9E265">
                    <a:alpha val="100000"/>
                  </a:srgbClr>
                </a:gs>
              </a:gsLst>
              <a:lin ang="0"/>
            </a:gradFill>
            <a:ln cap="sq">
              <a:noFill/>
              <a:prstDash val="solid"/>
              <a:miter/>
            </a:ln>
          </p:spPr>
          <p:txBody>
            <a:bodyPr/>
            <a:lstStyle/>
            <a:p>
              <a:endParaRPr lang="es-CL"/>
            </a:p>
          </p:txBody>
        </p:sp>
        <p:sp>
          <p:nvSpPr>
            <p:cNvPr id="8" name="TextBox 8"/>
            <p:cNvSpPr txBox="1"/>
            <p:nvPr/>
          </p:nvSpPr>
          <p:spPr>
            <a:xfrm>
              <a:off x="0" y="-28575"/>
              <a:ext cx="1416306" cy="390374"/>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9" name="Group 9"/>
          <p:cNvGrpSpPr/>
          <p:nvPr/>
        </p:nvGrpSpPr>
        <p:grpSpPr>
          <a:xfrm>
            <a:off x="1550281" y="5772686"/>
            <a:ext cx="5377536" cy="1373705"/>
            <a:chOff x="0" y="0"/>
            <a:chExt cx="1416306" cy="361799"/>
          </a:xfrm>
        </p:grpSpPr>
        <p:sp>
          <p:nvSpPr>
            <p:cNvPr id="10" name="Freeform 10"/>
            <p:cNvSpPr/>
            <p:nvPr/>
          </p:nvSpPr>
          <p:spPr>
            <a:xfrm>
              <a:off x="0" y="0"/>
              <a:ext cx="1416306" cy="361799"/>
            </a:xfrm>
            <a:custGeom>
              <a:avLst/>
              <a:gdLst/>
              <a:ahLst/>
              <a:cxnLst/>
              <a:rect l="l" t="t" r="r" b="b"/>
              <a:pathLst>
                <a:path w="1416306" h="361799">
                  <a:moveTo>
                    <a:pt x="0" y="0"/>
                  </a:moveTo>
                  <a:lnTo>
                    <a:pt x="1416306" y="0"/>
                  </a:lnTo>
                  <a:lnTo>
                    <a:pt x="1416306" y="361799"/>
                  </a:lnTo>
                  <a:lnTo>
                    <a:pt x="0" y="361799"/>
                  </a:lnTo>
                  <a:close/>
                </a:path>
              </a:pathLst>
            </a:custGeom>
            <a:gradFill rotWithShape="1">
              <a:gsLst>
                <a:gs pos="0">
                  <a:srgbClr val="89D957">
                    <a:alpha val="100000"/>
                  </a:srgbClr>
                </a:gs>
                <a:gs pos="100000">
                  <a:srgbClr val="C9E265">
                    <a:alpha val="100000"/>
                  </a:srgbClr>
                </a:gs>
              </a:gsLst>
              <a:lin ang="0"/>
            </a:gradFill>
            <a:ln cap="sq">
              <a:noFill/>
              <a:prstDash val="solid"/>
              <a:miter/>
            </a:ln>
          </p:spPr>
          <p:txBody>
            <a:bodyPr/>
            <a:lstStyle/>
            <a:p>
              <a:endParaRPr lang="es-CL"/>
            </a:p>
          </p:txBody>
        </p:sp>
        <p:sp>
          <p:nvSpPr>
            <p:cNvPr id="11" name="TextBox 11"/>
            <p:cNvSpPr txBox="1"/>
            <p:nvPr/>
          </p:nvSpPr>
          <p:spPr>
            <a:xfrm>
              <a:off x="0" y="-28575"/>
              <a:ext cx="1416306" cy="390374"/>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12" name="Group 12"/>
          <p:cNvGrpSpPr/>
          <p:nvPr/>
        </p:nvGrpSpPr>
        <p:grpSpPr>
          <a:xfrm>
            <a:off x="1550281" y="7432141"/>
            <a:ext cx="5377536" cy="1373705"/>
            <a:chOff x="0" y="0"/>
            <a:chExt cx="1416306" cy="361799"/>
          </a:xfrm>
        </p:grpSpPr>
        <p:sp>
          <p:nvSpPr>
            <p:cNvPr id="13" name="Freeform 13"/>
            <p:cNvSpPr/>
            <p:nvPr/>
          </p:nvSpPr>
          <p:spPr>
            <a:xfrm>
              <a:off x="0" y="0"/>
              <a:ext cx="1416306" cy="361799"/>
            </a:xfrm>
            <a:custGeom>
              <a:avLst/>
              <a:gdLst/>
              <a:ahLst/>
              <a:cxnLst/>
              <a:rect l="l" t="t" r="r" b="b"/>
              <a:pathLst>
                <a:path w="1416306" h="361799">
                  <a:moveTo>
                    <a:pt x="0" y="0"/>
                  </a:moveTo>
                  <a:lnTo>
                    <a:pt x="1416306" y="0"/>
                  </a:lnTo>
                  <a:lnTo>
                    <a:pt x="1416306" y="361799"/>
                  </a:lnTo>
                  <a:lnTo>
                    <a:pt x="0" y="361799"/>
                  </a:lnTo>
                  <a:close/>
                </a:path>
              </a:pathLst>
            </a:custGeom>
            <a:gradFill rotWithShape="1">
              <a:gsLst>
                <a:gs pos="0">
                  <a:srgbClr val="89D957">
                    <a:alpha val="100000"/>
                  </a:srgbClr>
                </a:gs>
                <a:gs pos="100000">
                  <a:srgbClr val="C9E265">
                    <a:alpha val="100000"/>
                  </a:srgbClr>
                </a:gs>
              </a:gsLst>
              <a:lin ang="0"/>
            </a:gradFill>
            <a:ln cap="sq">
              <a:noFill/>
              <a:prstDash val="solid"/>
              <a:miter/>
            </a:ln>
          </p:spPr>
          <p:txBody>
            <a:bodyPr/>
            <a:lstStyle/>
            <a:p>
              <a:endParaRPr lang="es-CL"/>
            </a:p>
          </p:txBody>
        </p:sp>
        <p:sp>
          <p:nvSpPr>
            <p:cNvPr id="14" name="TextBox 14"/>
            <p:cNvSpPr txBox="1"/>
            <p:nvPr/>
          </p:nvSpPr>
          <p:spPr>
            <a:xfrm>
              <a:off x="0" y="-28575"/>
              <a:ext cx="1416306" cy="390374"/>
            </a:xfrm>
            <a:prstGeom prst="rect">
              <a:avLst/>
            </a:prstGeom>
          </p:spPr>
          <p:txBody>
            <a:bodyPr lIns="50800" tIns="50800" rIns="50800" bIns="50800" rtlCol="0" anchor="ctr"/>
            <a:lstStyle/>
            <a:p>
              <a:pPr marL="0" lvl="0" indent="0" algn="ctr">
                <a:lnSpc>
                  <a:spcPts val="2921"/>
                </a:lnSpc>
                <a:spcBef>
                  <a:spcPct val="0"/>
                </a:spcBef>
              </a:pPr>
              <a:endParaRPr/>
            </a:p>
          </p:txBody>
        </p:sp>
      </p:grpSp>
      <p:sp>
        <p:nvSpPr>
          <p:cNvPr id="15" name="TextBox 15"/>
          <p:cNvSpPr txBox="1"/>
          <p:nvPr/>
        </p:nvSpPr>
        <p:spPr>
          <a:xfrm>
            <a:off x="1818864" y="2996357"/>
            <a:ext cx="4845004" cy="490855"/>
          </a:xfrm>
          <a:prstGeom prst="rect">
            <a:avLst/>
          </a:prstGeom>
        </p:spPr>
        <p:txBody>
          <a:bodyPr lIns="0" tIns="0" rIns="0" bIns="0" rtlCol="0" anchor="t">
            <a:spAutoFit/>
          </a:bodyPr>
          <a:lstStyle/>
          <a:p>
            <a:pPr algn="l">
              <a:lnSpc>
                <a:spcPts val="3560"/>
              </a:lnSpc>
            </a:pPr>
            <a:r>
              <a:rPr lang="en-US" sz="4000" b="1">
                <a:solidFill>
                  <a:srgbClr val="000000"/>
                </a:solidFill>
                <a:latin typeface="Monterchi Serif Bold"/>
                <a:ea typeface="Monterchi Serif Bold"/>
                <a:cs typeface="Monterchi Serif Bold"/>
                <a:sym typeface="Monterchi Serif Bold"/>
              </a:rPr>
              <a:t>División en Sprints</a:t>
            </a:r>
          </a:p>
        </p:txBody>
      </p:sp>
      <p:sp>
        <p:nvSpPr>
          <p:cNvPr id="16" name="TextBox 16"/>
          <p:cNvSpPr txBox="1"/>
          <p:nvPr/>
        </p:nvSpPr>
        <p:spPr>
          <a:xfrm>
            <a:off x="1818864" y="4430530"/>
            <a:ext cx="4845004" cy="938530"/>
          </a:xfrm>
          <a:prstGeom prst="rect">
            <a:avLst/>
          </a:prstGeom>
        </p:spPr>
        <p:txBody>
          <a:bodyPr lIns="0" tIns="0" rIns="0" bIns="0" rtlCol="0" anchor="t">
            <a:spAutoFit/>
          </a:bodyPr>
          <a:lstStyle/>
          <a:p>
            <a:pPr algn="l">
              <a:lnSpc>
                <a:spcPts val="3560"/>
              </a:lnSpc>
            </a:pPr>
            <a:r>
              <a:rPr lang="en-US" sz="4000" b="1">
                <a:solidFill>
                  <a:srgbClr val="000000"/>
                </a:solidFill>
                <a:latin typeface="Monterchi Serif Bold"/>
                <a:ea typeface="Monterchi Serif Bold"/>
                <a:cs typeface="Monterchi Serif Bold"/>
                <a:sym typeface="Monterchi Serif Bold"/>
              </a:rPr>
              <a:t>Flexibilidad ante cambios</a:t>
            </a:r>
          </a:p>
        </p:txBody>
      </p:sp>
      <p:sp>
        <p:nvSpPr>
          <p:cNvPr id="17" name="TextBox 17"/>
          <p:cNvSpPr txBox="1"/>
          <p:nvPr/>
        </p:nvSpPr>
        <p:spPr>
          <a:xfrm>
            <a:off x="1818864" y="6313823"/>
            <a:ext cx="4845004" cy="490855"/>
          </a:xfrm>
          <a:prstGeom prst="rect">
            <a:avLst/>
          </a:prstGeom>
        </p:spPr>
        <p:txBody>
          <a:bodyPr lIns="0" tIns="0" rIns="0" bIns="0" rtlCol="0" anchor="t">
            <a:spAutoFit/>
          </a:bodyPr>
          <a:lstStyle/>
          <a:p>
            <a:pPr algn="l">
              <a:lnSpc>
                <a:spcPts val="3560"/>
              </a:lnSpc>
            </a:pPr>
            <a:r>
              <a:rPr lang="en-US" sz="4000" b="1">
                <a:solidFill>
                  <a:srgbClr val="000000"/>
                </a:solidFill>
                <a:latin typeface="Monterchi Serif Bold"/>
                <a:ea typeface="Monterchi Serif Bold"/>
                <a:cs typeface="Monterchi Serif Bold"/>
                <a:sym typeface="Monterchi Serif Bold"/>
              </a:rPr>
              <a:t>Entregas incrementales</a:t>
            </a:r>
          </a:p>
        </p:txBody>
      </p:sp>
      <p:sp>
        <p:nvSpPr>
          <p:cNvPr id="18" name="TextBox 18"/>
          <p:cNvSpPr txBox="1"/>
          <p:nvPr/>
        </p:nvSpPr>
        <p:spPr>
          <a:xfrm>
            <a:off x="1818864" y="7757202"/>
            <a:ext cx="4366171" cy="938530"/>
          </a:xfrm>
          <a:prstGeom prst="rect">
            <a:avLst/>
          </a:prstGeom>
        </p:spPr>
        <p:txBody>
          <a:bodyPr lIns="0" tIns="0" rIns="0" bIns="0" rtlCol="0" anchor="t">
            <a:spAutoFit/>
          </a:bodyPr>
          <a:lstStyle/>
          <a:p>
            <a:pPr algn="l">
              <a:lnSpc>
                <a:spcPts val="3560"/>
              </a:lnSpc>
            </a:pPr>
            <a:r>
              <a:rPr lang="en-US" sz="4000" b="1">
                <a:solidFill>
                  <a:srgbClr val="000000"/>
                </a:solidFill>
                <a:latin typeface="Monterchi Serif Bold"/>
                <a:ea typeface="Monterchi Serif Bold"/>
                <a:cs typeface="Monterchi Serif Bold"/>
                <a:sym typeface="Monterchi Serif Bold"/>
              </a:rPr>
              <a:t>Retroalimentación y </a:t>
            </a:r>
          </a:p>
          <a:p>
            <a:pPr marL="0" lvl="0" indent="0" algn="l">
              <a:lnSpc>
                <a:spcPts val="3560"/>
              </a:lnSpc>
              <a:spcBef>
                <a:spcPct val="0"/>
              </a:spcBef>
            </a:pPr>
            <a:r>
              <a:rPr lang="en-US" sz="4000" b="1">
                <a:solidFill>
                  <a:srgbClr val="000000"/>
                </a:solidFill>
                <a:latin typeface="Monterchi Serif Bold"/>
                <a:ea typeface="Monterchi Serif Bold"/>
                <a:cs typeface="Monterchi Serif Bold"/>
                <a:sym typeface="Monterchi Serif Bold"/>
              </a:rPr>
              <a:t>mejora continua</a:t>
            </a:r>
          </a:p>
        </p:txBody>
      </p:sp>
      <p:grpSp>
        <p:nvGrpSpPr>
          <p:cNvPr id="19" name="Group 19"/>
          <p:cNvGrpSpPr/>
          <p:nvPr/>
        </p:nvGrpSpPr>
        <p:grpSpPr>
          <a:xfrm>
            <a:off x="6927817" y="2455220"/>
            <a:ext cx="9084604" cy="1373705"/>
            <a:chOff x="0" y="0"/>
            <a:chExt cx="2392653" cy="361799"/>
          </a:xfrm>
        </p:grpSpPr>
        <p:sp>
          <p:nvSpPr>
            <p:cNvPr id="20" name="Freeform 20"/>
            <p:cNvSpPr/>
            <p:nvPr/>
          </p:nvSpPr>
          <p:spPr>
            <a:xfrm>
              <a:off x="0" y="0"/>
              <a:ext cx="2392653" cy="361799"/>
            </a:xfrm>
            <a:custGeom>
              <a:avLst/>
              <a:gdLst/>
              <a:ahLst/>
              <a:cxnLst/>
              <a:rect l="l" t="t" r="r" b="b"/>
              <a:pathLst>
                <a:path w="2392653" h="361799">
                  <a:moveTo>
                    <a:pt x="0" y="0"/>
                  </a:moveTo>
                  <a:lnTo>
                    <a:pt x="2392653" y="0"/>
                  </a:lnTo>
                  <a:lnTo>
                    <a:pt x="2392653" y="361799"/>
                  </a:lnTo>
                  <a:lnTo>
                    <a:pt x="0" y="361799"/>
                  </a:lnTo>
                  <a:close/>
                </a:path>
              </a:pathLst>
            </a:custGeom>
            <a:solidFill>
              <a:srgbClr val="F2F1EC"/>
            </a:solidFill>
            <a:ln cap="sq">
              <a:noFill/>
              <a:prstDash val="solid"/>
              <a:miter/>
            </a:ln>
          </p:spPr>
          <p:txBody>
            <a:bodyPr/>
            <a:lstStyle/>
            <a:p>
              <a:endParaRPr lang="es-CL"/>
            </a:p>
          </p:txBody>
        </p:sp>
        <p:sp>
          <p:nvSpPr>
            <p:cNvPr id="21" name="TextBox 21"/>
            <p:cNvSpPr txBox="1"/>
            <p:nvPr/>
          </p:nvSpPr>
          <p:spPr>
            <a:xfrm>
              <a:off x="0" y="-28575"/>
              <a:ext cx="2392653" cy="390374"/>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22" name="Group 22"/>
          <p:cNvGrpSpPr/>
          <p:nvPr/>
        </p:nvGrpSpPr>
        <p:grpSpPr>
          <a:xfrm>
            <a:off x="6927817" y="4113231"/>
            <a:ext cx="9084604" cy="1373705"/>
            <a:chOff x="0" y="0"/>
            <a:chExt cx="2392653" cy="361799"/>
          </a:xfrm>
        </p:grpSpPr>
        <p:sp>
          <p:nvSpPr>
            <p:cNvPr id="23" name="Freeform 23"/>
            <p:cNvSpPr/>
            <p:nvPr/>
          </p:nvSpPr>
          <p:spPr>
            <a:xfrm>
              <a:off x="0" y="0"/>
              <a:ext cx="2392653" cy="361799"/>
            </a:xfrm>
            <a:custGeom>
              <a:avLst/>
              <a:gdLst/>
              <a:ahLst/>
              <a:cxnLst/>
              <a:rect l="l" t="t" r="r" b="b"/>
              <a:pathLst>
                <a:path w="2392653" h="361799">
                  <a:moveTo>
                    <a:pt x="0" y="0"/>
                  </a:moveTo>
                  <a:lnTo>
                    <a:pt x="2392653" y="0"/>
                  </a:lnTo>
                  <a:lnTo>
                    <a:pt x="2392653" y="361799"/>
                  </a:lnTo>
                  <a:lnTo>
                    <a:pt x="0" y="361799"/>
                  </a:lnTo>
                  <a:close/>
                </a:path>
              </a:pathLst>
            </a:custGeom>
            <a:solidFill>
              <a:srgbClr val="F2F1EC"/>
            </a:solidFill>
            <a:ln cap="sq">
              <a:noFill/>
              <a:prstDash val="solid"/>
              <a:miter/>
            </a:ln>
          </p:spPr>
          <p:txBody>
            <a:bodyPr/>
            <a:lstStyle/>
            <a:p>
              <a:endParaRPr lang="es-CL"/>
            </a:p>
          </p:txBody>
        </p:sp>
        <p:sp>
          <p:nvSpPr>
            <p:cNvPr id="24" name="TextBox 24"/>
            <p:cNvSpPr txBox="1"/>
            <p:nvPr/>
          </p:nvSpPr>
          <p:spPr>
            <a:xfrm>
              <a:off x="0" y="-28575"/>
              <a:ext cx="2392653" cy="390374"/>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25" name="Group 25"/>
          <p:cNvGrpSpPr/>
          <p:nvPr/>
        </p:nvGrpSpPr>
        <p:grpSpPr>
          <a:xfrm>
            <a:off x="6927817" y="5772686"/>
            <a:ext cx="9084604" cy="1373705"/>
            <a:chOff x="0" y="0"/>
            <a:chExt cx="2392653" cy="361799"/>
          </a:xfrm>
        </p:grpSpPr>
        <p:sp>
          <p:nvSpPr>
            <p:cNvPr id="26" name="Freeform 26"/>
            <p:cNvSpPr/>
            <p:nvPr/>
          </p:nvSpPr>
          <p:spPr>
            <a:xfrm>
              <a:off x="0" y="0"/>
              <a:ext cx="2392653" cy="361799"/>
            </a:xfrm>
            <a:custGeom>
              <a:avLst/>
              <a:gdLst/>
              <a:ahLst/>
              <a:cxnLst/>
              <a:rect l="l" t="t" r="r" b="b"/>
              <a:pathLst>
                <a:path w="2392653" h="361799">
                  <a:moveTo>
                    <a:pt x="0" y="0"/>
                  </a:moveTo>
                  <a:lnTo>
                    <a:pt x="2392653" y="0"/>
                  </a:lnTo>
                  <a:lnTo>
                    <a:pt x="2392653" y="361799"/>
                  </a:lnTo>
                  <a:lnTo>
                    <a:pt x="0" y="361799"/>
                  </a:lnTo>
                  <a:close/>
                </a:path>
              </a:pathLst>
            </a:custGeom>
            <a:solidFill>
              <a:srgbClr val="F2F1EC"/>
            </a:solidFill>
            <a:ln cap="sq">
              <a:noFill/>
              <a:prstDash val="solid"/>
              <a:miter/>
            </a:ln>
          </p:spPr>
          <p:txBody>
            <a:bodyPr/>
            <a:lstStyle/>
            <a:p>
              <a:endParaRPr lang="es-CL"/>
            </a:p>
          </p:txBody>
        </p:sp>
        <p:sp>
          <p:nvSpPr>
            <p:cNvPr id="27" name="TextBox 27"/>
            <p:cNvSpPr txBox="1"/>
            <p:nvPr/>
          </p:nvSpPr>
          <p:spPr>
            <a:xfrm>
              <a:off x="0" y="-28575"/>
              <a:ext cx="2392653" cy="390374"/>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28" name="Group 28"/>
          <p:cNvGrpSpPr/>
          <p:nvPr/>
        </p:nvGrpSpPr>
        <p:grpSpPr>
          <a:xfrm>
            <a:off x="6927817" y="7432141"/>
            <a:ext cx="9084604" cy="1373705"/>
            <a:chOff x="0" y="0"/>
            <a:chExt cx="2392653" cy="361799"/>
          </a:xfrm>
        </p:grpSpPr>
        <p:sp>
          <p:nvSpPr>
            <p:cNvPr id="29" name="Freeform 29"/>
            <p:cNvSpPr/>
            <p:nvPr/>
          </p:nvSpPr>
          <p:spPr>
            <a:xfrm>
              <a:off x="0" y="0"/>
              <a:ext cx="2392653" cy="361799"/>
            </a:xfrm>
            <a:custGeom>
              <a:avLst/>
              <a:gdLst/>
              <a:ahLst/>
              <a:cxnLst/>
              <a:rect l="l" t="t" r="r" b="b"/>
              <a:pathLst>
                <a:path w="2392653" h="361799">
                  <a:moveTo>
                    <a:pt x="0" y="0"/>
                  </a:moveTo>
                  <a:lnTo>
                    <a:pt x="2392653" y="0"/>
                  </a:lnTo>
                  <a:lnTo>
                    <a:pt x="2392653" y="361799"/>
                  </a:lnTo>
                  <a:lnTo>
                    <a:pt x="0" y="361799"/>
                  </a:lnTo>
                  <a:close/>
                </a:path>
              </a:pathLst>
            </a:custGeom>
            <a:solidFill>
              <a:srgbClr val="F2F1EC"/>
            </a:solidFill>
            <a:ln cap="sq">
              <a:noFill/>
              <a:prstDash val="solid"/>
              <a:miter/>
            </a:ln>
          </p:spPr>
          <p:txBody>
            <a:bodyPr/>
            <a:lstStyle/>
            <a:p>
              <a:endParaRPr lang="es-CL"/>
            </a:p>
          </p:txBody>
        </p:sp>
        <p:sp>
          <p:nvSpPr>
            <p:cNvPr id="30" name="TextBox 30"/>
            <p:cNvSpPr txBox="1"/>
            <p:nvPr/>
          </p:nvSpPr>
          <p:spPr>
            <a:xfrm>
              <a:off x="0" y="-28575"/>
              <a:ext cx="2392653" cy="390374"/>
            </a:xfrm>
            <a:prstGeom prst="rect">
              <a:avLst/>
            </a:prstGeom>
          </p:spPr>
          <p:txBody>
            <a:bodyPr lIns="50800" tIns="50800" rIns="50800" bIns="50800" rtlCol="0" anchor="ctr"/>
            <a:lstStyle/>
            <a:p>
              <a:pPr marL="0" lvl="0" indent="0" algn="ctr">
                <a:lnSpc>
                  <a:spcPts val="2921"/>
                </a:lnSpc>
                <a:spcBef>
                  <a:spcPct val="0"/>
                </a:spcBef>
              </a:pPr>
              <a:endParaRPr/>
            </a:p>
          </p:txBody>
        </p:sp>
      </p:grpSp>
      <p:sp>
        <p:nvSpPr>
          <p:cNvPr id="31" name="TextBox 31"/>
          <p:cNvSpPr txBox="1"/>
          <p:nvPr/>
        </p:nvSpPr>
        <p:spPr>
          <a:xfrm>
            <a:off x="7578996" y="2785266"/>
            <a:ext cx="7782248" cy="685038"/>
          </a:xfrm>
          <a:prstGeom prst="rect">
            <a:avLst/>
          </a:prstGeom>
        </p:spPr>
        <p:txBody>
          <a:bodyPr lIns="0" tIns="0" rIns="0" bIns="0" rtlCol="0" anchor="t">
            <a:spAutoFit/>
          </a:bodyPr>
          <a:lstStyle/>
          <a:p>
            <a:pPr algn="l">
              <a:lnSpc>
                <a:spcPts val="2751"/>
              </a:lnSpc>
            </a:pPr>
            <a:r>
              <a:rPr lang="en-US" sz="2100">
                <a:solidFill>
                  <a:srgbClr val="000000"/>
                </a:solidFill>
                <a:latin typeface="Roboto"/>
                <a:ea typeface="Roboto"/>
                <a:cs typeface="Roboto"/>
                <a:sym typeface="Roboto"/>
              </a:rPr>
              <a:t>El desarrollo se organizó en 5 sprints, cada uno con una duración aproximada de 2 semanas</a:t>
            </a:r>
          </a:p>
        </p:txBody>
      </p:sp>
      <p:sp>
        <p:nvSpPr>
          <p:cNvPr id="32" name="TextBox 32"/>
          <p:cNvSpPr txBox="1"/>
          <p:nvPr/>
        </p:nvSpPr>
        <p:spPr>
          <a:xfrm>
            <a:off x="7578996" y="4443277"/>
            <a:ext cx="7782248" cy="685038"/>
          </a:xfrm>
          <a:prstGeom prst="rect">
            <a:avLst/>
          </a:prstGeom>
        </p:spPr>
        <p:txBody>
          <a:bodyPr lIns="0" tIns="0" rIns="0" bIns="0" rtlCol="0" anchor="t">
            <a:spAutoFit/>
          </a:bodyPr>
          <a:lstStyle/>
          <a:p>
            <a:pPr algn="l">
              <a:lnSpc>
                <a:spcPts val="2751"/>
              </a:lnSpc>
            </a:pPr>
            <a:r>
              <a:rPr lang="en-US" sz="2100">
                <a:solidFill>
                  <a:srgbClr val="000000"/>
                </a:solidFill>
                <a:latin typeface="Roboto"/>
                <a:ea typeface="Roboto"/>
                <a:cs typeface="Roboto"/>
                <a:sym typeface="Roboto"/>
              </a:rPr>
              <a:t>El enfoque ágil permitió incorporar nuevas ideas sin afectar la estructura principal a medida que se desarrrollaba.</a:t>
            </a:r>
          </a:p>
        </p:txBody>
      </p:sp>
      <p:sp>
        <p:nvSpPr>
          <p:cNvPr id="33" name="TextBox 33"/>
          <p:cNvSpPr txBox="1"/>
          <p:nvPr/>
        </p:nvSpPr>
        <p:spPr>
          <a:xfrm>
            <a:off x="7578996" y="5931282"/>
            <a:ext cx="7782248" cy="1027938"/>
          </a:xfrm>
          <a:prstGeom prst="rect">
            <a:avLst/>
          </a:prstGeom>
        </p:spPr>
        <p:txBody>
          <a:bodyPr lIns="0" tIns="0" rIns="0" bIns="0" rtlCol="0" anchor="t">
            <a:spAutoFit/>
          </a:bodyPr>
          <a:lstStyle/>
          <a:p>
            <a:pPr algn="l">
              <a:lnSpc>
                <a:spcPts val="2751"/>
              </a:lnSpc>
            </a:pPr>
            <a:r>
              <a:rPr lang="en-US" sz="2100">
                <a:solidFill>
                  <a:srgbClr val="000000"/>
                </a:solidFill>
                <a:latin typeface="Roboto"/>
                <a:ea typeface="Roboto"/>
                <a:cs typeface="Roboto"/>
                <a:sym typeface="Roboto"/>
              </a:rPr>
              <a:t>Cada sprint entregó una versión funcional del sistema con nuevas características, este enfoque permitió ver avances tangibles</a:t>
            </a:r>
          </a:p>
        </p:txBody>
      </p:sp>
      <p:sp>
        <p:nvSpPr>
          <p:cNvPr id="34" name="TextBox 34"/>
          <p:cNvSpPr txBox="1"/>
          <p:nvPr/>
        </p:nvSpPr>
        <p:spPr>
          <a:xfrm>
            <a:off x="7578996" y="7762187"/>
            <a:ext cx="7782248" cy="685038"/>
          </a:xfrm>
          <a:prstGeom prst="rect">
            <a:avLst/>
          </a:prstGeom>
        </p:spPr>
        <p:txBody>
          <a:bodyPr lIns="0" tIns="0" rIns="0" bIns="0" rtlCol="0" anchor="t">
            <a:spAutoFit/>
          </a:bodyPr>
          <a:lstStyle/>
          <a:p>
            <a:pPr algn="l">
              <a:lnSpc>
                <a:spcPts val="2751"/>
              </a:lnSpc>
            </a:pPr>
            <a:r>
              <a:rPr lang="en-US" sz="2100">
                <a:solidFill>
                  <a:srgbClr val="000000"/>
                </a:solidFill>
                <a:latin typeface="Roboto"/>
                <a:ea typeface="Roboto"/>
                <a:cs typeface="Roboto"/>
                <a:sym typeface="Roboto"/>
              </a:rPr>
              <a:t>Se mejoraron aspectos de interfaz, rendimiento y flujo de navegación según comentarios del equipo y usuarios.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720353" y="1215432"/>
          <a:ext cx="16538946" cy="8682617"/>
        </p:xfrm>
        <a:graphic>
          <a:graphicData uri="http://schemas.openxmlformats.org/drawingml/2006/table">
            <a:tbl>
              <a:tblPr/>
              <a:tblGrid>
                <a:gridCol w="5239520">
                  <a:extLst>
                    <a:ext uri="{9D8B030D-6E8A-4147-A177-3AD203B41FA5}">
                      <a16:colId xmlns:a16="http://schemas.microsoft.com/office/drawing/2014/main" val="20000"/>
                    </a:ext>
                  </a:extLst>
                </a:gridCol>
                <a:gridCol w="6145535">
                  <a:extLst>
                    <a:ext uri="{9D8B030D-6E8A-4147-A177-3AD203B41FA5}">
                      <a16:colId xmlns:a16="http://schemas.microsoft.com/office/drawing/2014/main" val="20001"/>
                    </a:ext>
                  </a:extLst>
                </a:gridCol>
                <a:gridCol w="2381908">
                  <a:extLst>
                    <a:ext uri="{9D8B030D-6E8A-4147-A177-3AD203B41FA5}">
                      <a16:colId xmlns:a16="http://schemas.microsoft.com/office/drawing/2014/main" val="20002"/>
                    </a:ext>
                  </a:extLst>
                </a:gridCol>
                <a:gridCol w="2771983">
                  <a:extLst>
                    <a:ext uri="{9D8B030D-6E8A-4147-A177-3AD203B41FA5}">
                      <a16:colId xmlns:a16="http://schemas.microsoft.com/office/drawing/2014/main" val="20003"/>
                    </a:ext>
                  </a:extLst>
                </a:gridCol>
              </a:tblGrid>
              <a:tr h="878971">
                <a:tc>
                  <a:txBody>
                    <a:bodyPr/>
                    <a:lstStyle/>
                    <a:p>
                      <a:pPr algn="ctr">
                        <a:lnSpc>
                          <a:spcPts val="2100"/>
                        </a:lnSpc>
                        <a:defRPr/>
                      </a:pPr>
                      <a:r>
                        <a:rPr lang="en-US" sz="1500" b="1">
                          <a:solidFill>
                            <a:srgbClr val="000000"/>
                          </a:solidFill>
                          <a:latin typeface="Open Sans Bold"/>
                          <a:ea typeface="Open Sans Bold"/>
                          <a:cs typeface="Open Sans Bold"/>
                          <a:sym typeface="Open Sans Bold"/>
                        </a:rPr>
                        <a:t>Etapa</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99AC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Descripción</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99AC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Fecha de inicio</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99AC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Fecha de Término</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99ACFF"/>
                    </a:solidFill>
                  </a:tcPr>
                </a:tc>
                <a:extLst>
                  <a:ext uri="{0D108BD9-81ED-4DB2-BD59-A6C34878D82A}">
                    <a16:rowId xmlns:a16="http://schemas.microsoft.com/office/drawing/2014/main" val="10000"/>
                  </a:ext>
                </a:extLst>
              </a:tr>
              <a:tr h="853731">
                <a:tc>
                  <a:txBody>
                    <a:bodyPr/>
                    <a:lstStyle/>
                    <a:p>
                      <a:pPr algn="ctr">
                        <a:lnSpc>
                          <a:spcPts val="2100"/>
                        </a:lnSpc>
                        <a:defRPr/>
                      </a:pPr>
                      <a:r>
                        <a:rPr lang="en-US" sz="1500" b="1">
                          <a:solidFill>
                            <a:srgbClr val="000000"/>
                          </a:solidFill>
                          <a:latin typeface="Open Sans Bold"/>
                          <a:ea typeface="Open Sans Bold"/>
                          <a:cs typeface="Open Sans Bold"/>
                          <a:sym typeface="Open Sans Bold"/>
                        </a:rPr>
                        <a:t>Inicial</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Documentos de visión, epicas, mockups, Base de datos.</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 08-09-25</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12-09-25</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1"/>
                  </a:ext>
                </a:extLst>
              </a:tr>
              <a:tr h="1136585">
                <a:tc>
                  <a:txBody>
                    <a:bodyPr/>
                    <a:lstStyle/>
                    <a:p>
                      <a:pPr algn="ctr">
                        <a:lnSpc>
                          <a:spcPts val="2100"/>
                        </a:lnSpc>
                        <a:defRPr/>
                      </a:pPr>
                      <a:r>
                        <a:rPr lang="en-US" sz="1500" b="1">
                          <a:solidFill>
                            <a:srgbClr val="000000"/>
                          </a:solidFill>
                          <a:latin typeface="Open Sans Bold"/>
                          <a:ea typeface="Open Sans Bold"/>
                          <a:cs typeface="Open Sans Bold"/>
                          <a:sym typeface="Open Sans Bold"/>
                        </a:rPr>
                        <a:t>Sprint 1</a:t>
                      </a:r>
                      <a:endParaRPr lang="en-US" sz="1100"/>
                    </a:p>
                    <a:p>
                      <a:pPr algn="ctr">
                        <a:lnSpc>
                          <a:spcPts val="2100"/>
                        </a:lnSpc>
                      </a:pPr>
                      <a:r>
                        <a:rPr lang="en-US" sz="1500" b="1">
                          <a:solidFill>
                            <a:srgbClr val="000000"/>
                          </a:solidFill>
                          <a:latin typeface="Open Sans Bold"/>
                          <a:ea typeface="Open Sans Bold"/>
                          <a:cs typeface="Open Sans Bold"/>
                          <a:sym typeface="Open Sans Bold"/>
                        </a:rPr>
                        <a:t>Autenticación y Gestión de Usuario</a:t>
                      </a: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Gestión del usuario y personalización del perfil.</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1819"/>
                        </a:lnSpc>
                        <a:defRPr/>
                      </a:pPr>
                      <a:r>
                        <a:rPr lang="en-US" sz="1299" b="1">
                          <a:solidFill>
                            <a:srgbClr val="000000"/>
                          </a:solidFill>
                          <a:latin typeface="Open Sans Bold"/>
                          <a:ea typeface="Open Sans Bold"/>
                          <a:cs typeface="Open Sans Bold"/>
                          <a:sym typeface="Open Sans Bold"/>
                        </a:rPr>
                        <a:t>15-09-25</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24-09-25</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2"/>
                  </a:ext>
                </a:extLst>
              </a:tr>
              <a:tr h="1136585">
                <a:tc>
                  <a:txBody>
                    <a:bodyPr/>
                    <a:lstStyle/>
                    <a:p>
                      <a:pPr algn="ctr">
                        <a:lnSpc>
                          <a:spcPts val="2100"/>
                        </a:lnSpc>
                        <a:defRPr/>
                      </a:pPr>
                      <a:r>
                        <a:rPr lang="en-US" sz="1500" b="1">
                          <a:solidFill>
                            <a:srgbClr val="000000"/>
                          </a:solidFill>
                          <a:latin typeface="Open Sans Bold"/>
                          <a:ea typeface="Open Sans Bold"/>
                          <a:cs typeface="Open Sans Bold"/>
                          <a:sym typeface="Open Sans Bold"/>
                        </a:rPr>
                        <a:t>Sprint 2 </a:t>
                      </a:r>
                      <a:endParaRPr lang="en-US" sz="1100"/>
                    </a:p>
                    <a:p>
                      <a:pPr algn="ctr">
                        <a:lnSpc>
                          <a:spcPts val="2100"/>
                        </a:lnSpc>
                      </a:pPr>
                      <a:r>
                        <a:rPr lang="en-US" sz="1500" b="1">
                          <a:solidFill>
                            <a:srgbClr val="000000"/>
                          </a:solidFill>
                          <a:latin typeface="Open Sans Bold"/>
                          <a:ea typeface="Open Sans Bold"/>
                          <a:cs typeface="Open Sans Bold"/>
                          <a:sym typeface="Open Sans Bold"/>
                        </a:rPr>
                        <a:t>Gestión de Eventos</a:t>
                      </a: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Interfaz del evento, detalle del evento, validaciones del evento, unirse o cancelar participación.</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25-09-25</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09-10-25</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3"/>
                  </a:ext>
                </a:extLst>
              </a:tr>
              <a:tr h="1378704">
                <a:tc>
                  <a:txBody>
                    <a:bodyPr/>
                    <a:lstStyle/>
                    <a:p>
                      <a:pPr algn="ctr">
                        <a:lnSpc>
                          <a:spcPts val="2100"/>
                        </a:lnSpc>
                        <a:defRPr/>
                      </a:pPr>
                      <a:r>
                        <a:rPr lang="en-US" sz="1500" b="1">
                          <a:solidFill>
                            <a:srgbClr val="000000"/>
                          </a:solidFill>
                          <a:latin typeface="Open Sans Bold"/>
                          <a:ea typeface="Open Sans Bold"/>
                          <a:cs typeface="Open Sans Bold"/>
                          <a:sym typeface="Open Sans Bold"/>
                        </a:rPr>
                        <a:t>Sprint 3</a:t>
                      </a:r>
                      <a:endParaRPr lang="en-US" sz="1100"/>
                    </a:p>
                    <a:p>
                      <a:pPr algn="ctr">
                        <a:lnSpc>
                          <a:spcPts val="2100"/>
                        </a:lnSpc>
                      </a:pPr>
                      <a:r>
                        <a:rPr lang="en-US" sz="1500" b="1">
                          <a:solidFill>
                            <a:srgbClr val="000000"/>
                          </a:solidFill>
                          <a:latin typeface="Open Sans Bold"/>
                          <a:ea typeface="Open Sans Bold"/>
                          <a:cs typeface="Open Sans Bold"/>
                          <a:sym typeface="Open Sans Bold"/>
                        </a:rPr>
                        <a:t>Geolocalización y Grabación de Rutas</a:t>
                      </a: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Permisos de ubicación, mapa integrado, visualización en tiempo real, grabación y guardado de rutas.</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10-10-25</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21-10-25</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4"/>
                  </a:ext>
                </a:extLst>
              </a:tr>
              <a:tr h="1136585">
                <a:tc>
                  <a:txBody>
                    <a:bodyPr/>
                    <a:lstStyle/>
                    <a:p>
                      <a:pPr algn="ctr">
                        <a:lnSpc>
                          <a:spcPts val="2100"/>
                        </a:lnSpc>
                        <a:defRPr/>
                      </a:pPr>
                      <a:r>
                        <a:rPr lang="en-US" sz="1500" b="1">
                          <a:solidFill>
                            <a:srgbClr val="000000"/>
                          </a:solidFill>
                          <a:latin typeface="Open Sans Bold"/>
                          <a:ea typeface="Open Sans Bold"/>
                          <a:cs typeface="Open Sans Bold"/>
                          <a:sym typeface="Open Sans Bold"/>
                        </a:rPr>
                        <a:t>Sprint 4</a:t>
                      </a:r>
                      <a:endParaRPr lang="en-US" sz="1100"/>
                    </a:p>
                    <a:p>
                      <a:pPr algn="ctr">
                        <a:lnSpc>
                          <a:spcPts val="2100"/>
                        </a:lnSpc>
                      </a:pPr>
                      <a:r>
                        <a:rPr lang="en-US" sz="1500" b="1">
                          <a:solidFill>
                            <a:srgbClr val="000000"/>
                          </a:solidFill>
                          <a:latin typeface="Open Sans Bold"/>
                          <a:ea typeface="Open Sans Bold"/>
                          <a:cs typeface="Open Sans Bold"/>
                          <a:sym typeface="Open Sans Bold"/>
                        </a:rPr>
                        <a:t>Gestión y Valoración de Rutas</a:t>
                      </a: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Interfaz de rutas, listado de mis rutas, todas y rutas populares, valorización.</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100"/>
                        </a:lnSpc>
                        <a:defRPr/>
                      </a:pPr>
                      <a:r>
                        <a:rPr lang="en-US" sz="1500" b="1">
                          <a:solidFill>
                            <a:srgbClr val="000000"/>
                          </a:solidFill>
                          <a:latin typeface="Arimo Bold"/>
                          <a:ea typeface="Arimo Bold"/>
                          <a:cs typeface="Arimo Bold"/>
                          <a:sym typeface="Arimo Bold"/>
                        </a:rPr>
                        <a:t>22-10-25</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29-10-25</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5"/>
                  </a:ext>
                </a:extLst>
              </a:tr>
              <a:tr h="1184632">
                <a:tc>
                  <a:txBody>
                    <a:bodyPr/>
                    <a:lstStyle/>
                    <a:p>
                      <a:pPr algn="ctr">
                        <a:lnSpc>
                          <a:spcPts val="2100"/>
                        </a:lnSpc>
                        <a:defRPr/>
                      </a:pPr>
                      <a:r>
                        <a:rPr lang="en-US" sz="1500" b="1">
                          <a:solidFill>
                            <a:srgbClr val="000000"/>
                          </a:solidFill>
                          <a:latin typeface="Open Sans Bold"/>
                          <a:ea typeface="Open Sans Bold"/>
                          <a:cs typeface="Open Sans Bold"/>
                          <a:sym typeface="Open Sans Bold"/>
                        </a:rPr>
                        <a:t>Sprint 5</a:t>
                      </a:r>
                      <a:endParaRPr lang="en-US" sz="1100"/>
                    </a:p>
                    <a:p>
                      <a:pPr algn="ctr">
                        <a:lnSpc>
                          <a:spcPts val="2100"/>
                        </a:lnSpc>
                      </a:pPr>
                      <a:r>
                        <a:rPr lang="en-US" sz="1500" b="1">
                          <a:solidFill>
                            <a:srgbClr val="000000"/>
                          </a:solidFill>
                          <a:latin typeface="Open Sans Bold"/>
                          <a:ea typeface="Open Sans Bold"/>
                          <a:cs typeface="Open Sans Bold"/>
                          <a:sym typeface="Open Sans Bold"/>
                        </a:rPr>
                        <a:t>Panel Web de Reportes y Administración</a:t>
                      </a: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Plantilla de aplicación web, autenticación de usuario, interfaz de reportes y gráficos.</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30-10-25</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06-11-25</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6"/>
                  </a:ext>
                </a:extLst>
              </a:tr>
              <a:tr h="976824">
                <a:tc>
                  <a:txBody>
                    <a:bodyPr/>
                    <a:lstStyle/>
                    <a:p>
                      <a:pPr algn="ctr">
                        <a:lnSpc>
                          <a:spcPts val="2100"/>
                        </a:lnSpc>
                        <a:defRPr/>
                      </a:pPr>
                      <a:r>
                        <a:rPr lang="en-US" sz="1500" b="1">
                          <a:solidFill>
                            <a:srgbClr val="000000"/>
                          </a:solidFill>
                          <a:latin typeface="Open Sans Bold"/>
                          <a:ea typeface="Open Sans Bold"/>
                          <a:cs typeface="Open Sans Bold"/>
                          <a:sym typeface="Open Sans Bold"/>
                        </a:rPr>
                        <a:t>Fase de cierre</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Documentos finales del proyecto.</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07-11-25</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100"/>
                        </a:lnSpc>
                        <a:defRPr/>
                      </a:pPr>
                      <a:r>
                        <a:rPr lang="en-US" sz="1500" b="1">
                          <a:solidFill>
                            <a:srgbClr val="000000"/>
                          </a:solidFill>
                          <a:latin typeface="Open Sans Bold"/>
                          <a:ea typeface="Open Sans Bold"/>
                          <a:cs typeface="Open Sans Bold"/>
                          <a:sym typeface="Open Sans Bold"/>
                        </a:rPr>
                        <a:t>07-11-25</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7"/>
                  </a:ext>
                </a:extLst>
              </a:tr>
            </a:tbl>
          </a:graphicData>
        </a:graphic>
      </p:graphicFrame>
      <p:sp>
        <p:nvSpPr>
          <p:cNvPr id="3" name="TextBox 3"/>
          <p:cNvSpPr txBox="1"/>
          <p:nvPr/>
        </p:nvSpPr>
        <p:spPr>
          <a:xfrm>
            <a:off x="1765561" y="262922"/>
            <a:ext cx="15065225" cy="952510"/>
          </a:xfrm>
          <a:prstGeom prst="rect">
            <a:avLst/>
          </a:prstGeom>
        </p:spPr>
        <p:txBody>
          <a:bodyPr lIns="0" tIns="0" rIns="0" bIns="0" rtlCol="0" anchor="t">
            <a:spAutoFit/>
          </a:bodyPr>
          <a:lstStyle/>
          <a:p>
            <a:pPr algn="ctr">
              <a:lnSpc>
                <a:spcPts val="7400"/>
              </a:lnSpc>
            </a:pPr>
            <a:r>
              <a:rPr lang="en-US" sz="6667" b="1" spc="-173">
                <a:solidFill>
                  <a:srgbClr val="FFFFFF"/>
                </a:solidFill>
                <a:latin typeface="Monterchi Serif Bold"/>
                <a:ea typeface="Monterchi Serif Bold"/>
                <a:cs typeface="Monterchi Serif Bold"/>
                <a:sym typeface="Monterchi Serif Bold"/>
              </a:rPr>
              <a:t>PLANIFICACIÓN TEMPORAL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838223" y="230365"/>
            <a:ext cx="14611555" cy="9826271"/>
          </a:xfrm>
          <a:custGeom>
            <a:avLst/>
            <a:gdLst/>
            <a:ahLst/>
            <a:cxnLst/>
            <a:rect l="l" t="t" r="r" b="b"/>
            <a:pathLst>
              <a:path w="14611555" h="9826271">
                <a:moveTo>
                  <a:pt x="0" y="0"/>
                </a:moveTo>
                <a:lnTo>
                  <a:pt x="14611554" y="0"/>
                </a:lnTo>
                <a:lnTo>
                  <a:pt x="14611554" y="9826270"/>
                </a:lnTo>
                <a:lnTo>
                  <a:pt x="0" y="9826270"/>
                </a:lnTo>
                <a:lnTo>
                  <a:pt x="0" y="0"/>
                </a:lnTo>
                <a:close/>
              </a:path>
            </a:pathLst>
          </a:custGeom>
          <a:blipFill>
            <a:blip r:embed="rId3"/>
            <a:stretch>
              <a:fillRect/>
            </a:stretch>
          </a:blipFill>
        </p:spPr>
        <p:txBody>
          <a:bodyPr/>
          <a:lstStyle/>
          <a:p>
            <a:endParaRPr lang="es-CL"/>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5DE0E6">
                <a:alpha val="100000"/>
              </a:srgbClr>
            </a:gs>
            <a:gs pos="100000">
              <a:srgbClr val="004AA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232993" y="170662"/>
            <a:ext cx="15822015" cy="9945676"/>
          </a:xfrm>
          <a:custGeom>
            <a:avLst/>
            <a:gdLst/>
            <a:ahLst/>
            <a:cxnLst/>
            <a:rect l="l" t="t" r="r" b="b"/>
            <a:pathLst>
              <a:path w="15822015" h="9945676">
                <a:moveTo>
                  <a:pt x="0" y="0"/>
                </a:moveTo>
                <a:lnTo>
                  <a:pt x="15822014" y="0"/>
                </a:lnTo>
                <a:lnTo>
                  <a:pt x="15822014" y="9945676"/>
                </a:lnTo>
                <a:lnTo>
                  <a:pt x="0" y="9945676"/>
                </a:lnTo>
                <a:lnTo>
                  <a:pt x="0" y="0"/>
                </a:lnTo>
                <a:close/>
              </a:path>
            </a:pathLst>
          </a:custGeom>
          <a:blipFill>
            <a:blip r:embed="rId3"/>
            <a:stretch>
              <a:fillRect t="-2597" b="-2597"/>
            </a:stretch>
          </a:blipFill>
        </p:spPr>
        <p:txBody>
          <a:bodyPr/>
          <a:lstStyle/>
          <a:p>
            <a:endParaRPr lang="es-CL"/>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4952989" y="-199218"/>
            <a:ext cx="10188173" cy="10685435"/>
          </a:xfrm>
          <a:custGeom>
            <a:avLst/>
            <a:gdLst/>
            <a:ahLst/>
            <a:cxnLst/>
            <a:rect l="l" t="t" r="r" b="b"/>
            <a:pathLst>
              <a:path w="10188173" h="10685435">
                <a:moveTo>
                  <a:pt x="0" y="0"/>
                </a:moveTo>
                <a:lnTo>
                  <a:pt x="10188172" y="0"/>
                </a:lnTo>
                <a:lnTo>
                  <a:pt x="10188172" y="10685436"/>
                </a:lnTo>
                <a:lnTo>
                  <a:pt x="0" y="10685436"/>
                </a:lnTo>
                <a:lnTo>
                  <a:pt x="0" y="0"/>
                </a:lnTo>
                <a:close/>
              </a:path>
            </a:pathLst>
          </a:custGeom>
          <a:blipFill>
            <a:blip r:embed="rId3"/>
            <a:stretch>
              <a:fillRect l="-292"/>
            </a:stretch>
          </a:blipFill>
        </p:spPr>
        <p:txBody>
          <a:bodyPr/>
          <a:lstStyle/>
          <a:p>
            <a:endParaRPr lang="es-CL"/>
          </a:p>
        </p:txBody>
      </p:sp>
      <p:sp>
        <p:nvSpPr>
          <p:cNvPr id="3" name="TextBox 3"/>
          <p:cNvSpPr txBox="1"/>
          <p:nvPr/>
        </p:nvSpPr>
        <p:spPr>
          <a:xfrm>
            <a:off x="761414" y="3564251"/>
            <a:ext cx="3758928" cy="1816227"/>
          </a:xfrm>
          <a:prstGeom prst="rect">
            <a:avLst/>
          </a:prstGeom>
        </p:spPr>
        <p:txBody>
          <a:bodyPr lIns="0" tIns="0" rIns="0" bIns="0" rtlCol="0" anchor="t">
            <a:spAutoFit/>
          </a:bodyPr>
          <a:lstStyle/>
          <a:p>
            <a:pPr algn="l">
              <a:lnSpc>
                <a:spcPts val="7103"/>
              </a:lnSpc>
            </a:pPr>
            <a:r>
              <a:rPr lang="en-US" sz="6399" b="1" spc="-166">
                <a:solidFill>
                  <a:srgbClr val="365B6D"/>
                </a:solidFill>
                <a:latin typeface="Monterchi Serif Bold"/>
                <a:ea typeface="Monterchi Serif Bold"/>
                <a:cs typeface="Monterchi Serif Bold"/>
                <a:sym typeface="Monterchi Serif Bold"/>
              </a:rPr>
              <a:t>MODELO DE DATOS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3404262" y="-1264527"/>
            <a:ext cx="16292239" cy="14703746"/>
          </a:xfrm>
          <a:custGeom>
            <a:avLst/>
            <a:gdLst/>
            <a:ahLst/>
            <a:cxnLst/>
            <a:rect l="l" t="t" r="r" b="b"/>
            <a:pathLst>
              <a:path w="16292239" h="14703746">
                <a:moveTo>
                  <a:pt x="0" y="0"/>
                </a:moveTo>
                <a:lnTo>
                  <a:pt x="16292239" y="0"/>
                </a:lnTo>
                <a:lnTo>
                  <a:pt x="16292239" y="14703746"/>
                </a:lnTo>
                <a:lnTo>
                  <a:pt x="0" y="14703746"/>
                </a:lnTo>
                <a:lnTo>
                  <a:pt x="0" y="0"/>
                </a:lnTo>
                <a:close/>
              </a:path>
            </a:pathLst>
          </a:custGeom>
          <a:blipFill>
            <a:blip r:embed="rId3"/>
            <a:stretch>
              <a:fillRect/>
            </a:stretch>
          </a:blipFill>
        </p:spPr>
        <p:txBody>
          <a:bodyPr/>
          <a:lstStyle/>
          <a:p>
            <a:endParaRPr lang="es-CL"/>
          </a:p>
        </p:txBody>
      </p:sp>
      <p:sp>
        <p:nvSpPr>
          <p:cNvPr id="3" name="TextBox 3"/>
          <p:cNvSpPr txBox="1"/>
          <p:nvPr/>
        </p:nvSpPr>
        <p:spPr>
          <a:xfrm>
            <a:off x="596104" y="4341985"/>
            <a:ext cx="5068104" cy="2369058"/>
          </a:xfrm>
          <a:prstGeom prst="rect">
            <a:avLst/>
          </a:prstGeom>
        </p:spPr>
        <p:txBody>
          <a:bodyPr lIns="0" tIns="0" rIns="0" bIns="0" rtlCol="0" anchor="t">
            <a:spAutoFit/>
          </a:bodyPr>
          <a:lstStyle/>
          <a:p>
            <a:pPr algn="l">
              <a:lnSpc>
                <a:spcPts val="6216"/>
              </a:lnSpc>
            </a:pPr>
            <a:r>
              <a:rPr lang="en-US" sz="5600" b="1" spc="-145">
                <a:solidFill>
                  <a:srgbClr val="365B6D"/>
                </a:solidFill>
                <a:latin typeface="Monterchi Serif Bold"/>
                <a:ea typeface="Monterchi Serif Bold"/>
                <a:cs typeface="Monterchi Serif Bold"/>
                <a:sym typeface="Monterchi Serif Bold"/>
              </a:rPr>
              <a:t>DIAGRAMA DE </a:t>
            </a:r>
          </a:p>
          <a:p>
            <a:pPr algn="l">
              <a:lnSpc>
                <a:spcPts val="6216"/>
              </a:lnSpc>
            </a:pPr>
            <a:r>
              <a:rPr lang="en-US" sz="5600" b="1" spc="-145">
                <a:solidFill>
                  <a:srgbClr val="365B6D"/>
                </a:solidFill>
                <a:latin typeface="Monterchi Serif Bold"/>
                <a:ea typeface="Monterchi Serif Bold"/>
                <a:cs typeface="Monterchi Serif Bold"/>
                <a:sym typeface="Monterchi Serif Bold"/>
              </a:rPr>
              <a:t>CLASES</a:t>
            </a:r>
          </a:p>
          <a:p>
            <a:pPr algn="l">
              <a:lnSpc>
                <a:spcPts val="6216"/>
              </a:lnSpc>
            </a:pPr>
            <a:endParaRPr lang="en-US" sz="5600" b="1" spc="-145">
              <a:solidFill>
                <a:srgbClr val="365B6D"/>
              </a:solidFill>
              <a:latin typeface="Monterchi Serif Bold"/>
              <a:ea typeface="Monterchi Serif Bold"/>
              <a:cs typeface="Monterchi Serif Bold"/>
              <a:sym typeface="Monterchi Serif Bo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5170FF">
                <a:alpha val="100000"/>
              </a:srgbClr>
            </a:gs>
            <a:gs pos="100000">
              <a:srgbClr val="FF66C4">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331473" y="1076325"/>
            <a:ext cx="14701807" cy="920877"/>
          </a:xfrm>
          <a:prstGeom prst="rect">
            <a:avLst/>
          </a:prstGeom>
        </p:spPr>
        <p:txBody>
          <a:bodyPr lIns="0" tIns="0" rIns="0" bIns="0" rtlCol="0" anchor="t">
            <a:spAutoFit/>
          </a:bodyPr>
          <a:lstStyle/>
          <a:p>
            <a:pPr algn="ctr">
              <a:lnSpc>
                <a:spcPts val="7103"/>
              </a:lnSpc>
            </a:pPr>
            <a:r>
              <a:rPr lang="en-US" sz="6399" b="1" spc="-166">
                <a:solidFill>
                  <a:srgbClr val="000000"/>
                </a:solidFill>
                <a:latin typeface="Monterchi Serif Bold"/>
                <a:ea typeface="Monterchi Serif Bold"/>
                <a:cs typeface="Monterchi Serif Bold"/>
                <a:sym typeface="Monterchi Serif Bold"/>
              </a:rPr>
              <a:t>ELEMENTOS ANALÍTICOS A INCORPORAR</a:t>
            </a:r>
          </a:p>
        </p:txBody>
      </p:sp>
      <p:grpSp>
        <p:nvGrpSpPr>
          <p:cNvPr id="3" name="Group 3"/>
          <p:cNvGrpSpPr/>
          <p:nvPr/>
        </p:nvGrpSpPr>
        <p:grpSpPr>
          <a:xfrm rot="-5400000">
            <a:off x="167039" y="7518466"/>
            <a:ext cx="2328868" cy="2662947"/>
            <a:chOff x="0" y="0"/>
            <a:chExt cx="3105157" cy="3550596"/>
          </a:xfrm>
        </p:grpSpPr>
        <p:grpSp>
          <p:nvGrpSpPr>
            <p:cNvPr id="4" name="Group 4"/>
            <p:cNvGrpSpPr/>
            <p:nvPr/>
          </p:nvGrpSpPr>
          <p:grpSpPr>
            <a:xfrm>
              <a:off x="0" y="232756"/>
              <a:ext cx="3105157" cy="203447"/>
              <a:chOff x="0" y="0"/>
              <a:chExt cx="947774" cy="62097"/>
            </a:xfrm>
          </p:grpSpPr>
          <p:sp>
            <p:nvSpPr>
              <p:cNvPr id="5" name="Freeform 5"/>
              <p:cNvSpPr/>
              <p:nvPr/>
            </p:nvSpPr>
            <p:spPr>
              <a:xfrm>
                <a:off x="0" y="0"/>
                <a:ext cx="947774" cy="62097"/>
              </a:xfrm>
              <a:custGeom>
                <a:avLst/>
                <a:gdLst/>
                <a:ahLst/>
                <a:cxnLst/>
                <a:rect l="l" t="t" r="r" b="b"/>
                <a:pathLst>
                  <a:path w="947774" h="62097">
                    <a:moveTo>
                      <a:pt x="0" y="0"/>
                    </a:moveTo>
                    <a:lnTo>
                      <a:pt x="947774" y="0"/>
                    </a:lnTo>
                    <a:lnTo>
                      <a:pt x="947774" y="62097"/>
                    </a:lnTo>
                    <a:lnTo>
                      <a:pt x="0" y="62097"/>
                    </a:lnTo>
                    <a:close/>
                  </a:path>
                </a:pathLst>
              </a:custGeom>
              <a:gradFill rotWithShape="1">
                <a:gsLst>
                  <a:gs pos="0">
                    <a:srgbClr val="8C52FF">
                      <a:alpha val="100000"/>
                    </a:srgbClr>
                  </a:gs>
                  <a:gs pos="100000">
                    <a:srgbClr val="5CE1E6">
                      <a:alpha val="100000"/>
                    </a:srgbClr>
                  </a:gs>
                </a:gsLst>
                <a:lin ang="0"/>
              </a:gradFill>
              <a:ln cap="sq">
                <a:noFill/>
                <a:prstDash val="solid"/>
                <a:miter/>
              </a:ln>
            </p:spPr>
            <p:txBody>
              <a:bodyPr/>
              <a:lstStyle/>
              <a:p>
                <a:endParaRPr lang="es-CL"/>
              </a:p>
            </p:txBody>
          </p:sp>
          <p:sp>
            <p:nvSpPr>
              <p:cNvPr id="6" name="TextBox 6"/>
              <p:cNvSpPr txBox="1"/>
              <p:nvPr/>
            </p:nvSpPr>
            <p:spPr>
              <a:xfrm>
                <a:off x="0" y="-28575"/>
                <a:ext cx="947774"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7" name="Group 7"/>
            <p:cNvGrpSpPr/>
            <p:nvPr/>
          </p:nvGrpSpPr>
          <p:grpSpPr>
            <a:xfrm>
              <a:off x="0" y="598885"/>
              <a:ext cx="2378523" cy="203447"/>
              <a:chOff x="0" y="0"/>
              <a:chExt cx="725987" cy="62097"/>
            </a:xfrm>
          </p:grpSpPr>
          <p:sp>
            <p:nvSpPr>
              <p:cNvPr id="8" name="Freeform 8"/>
              <p:cNvSpPr/>
              <p:nvPr/>
            </p:nvSpPr>
            <p:spPr>
              <a:xfrm>
                <a:off x="0" y="0"/>
                <a:ext cx="725987" cy="62097"/>
              </a:xfrm>
              <a:custGeom>
                <a:avLst/>
                <a:gdLst/>
                <a:ahLst/>
                <a:cxnLst/>
                <a:rect l="l" t="t" r="r" b="b"/>
                <a:pathLst>
                  <a:path w="725987" h="62097">
                    <a:moveTo>
                      <a:pt x="0" y="0"/>
                    </a:moveTo>
                    <a:lnTo>
                      <a:pt x="725987" y="0"/>
                    </a:lnTo>
                    <a:lnTo>
                      <a:pt x="725987" y="62097"/>
                    </a:lnTo>
                    <a:lnTo>
                      <a:pt x="0" y="62097"/>
                    </a:lnTo>
                    <a:close/>
                  </a:path>
                </a:pathLst>
              </a:custGeom>
              <a:gradFill rotWithShape="1">
                <a:gsLst>
                  <a:gs pos="0">
                    <a:srgbClr val="8C52FF">
                      <a:alpha val="100000"/>
                    </a:srgbClr>
                  </a:gs>
                  <a:gs pos="100000">
                    <a:srgbClr val="5CE1E6">
                      <a:alpha val="100000"/>
                    </a:srgbClr>
                  </a:gs>
                </a:gsLst>
                <a:lin ang="0"/>
              </a:gradFill>
              <a:ln cap="sq">
                <a:noFill/>
                <a:prstDash val="solid"/>
                <a:miter/>
              </a:ln>
            </p:spPr>
            <p:txBody>
              <a:bodyPr/>
              <a:lstStyle/>
              <a:p>
                <a:endParaRPr lang="es-CL"/>
              </a:p>
            </p:txBody>
          </p:sp>
          <p:sp>
            <p:nvSpPr>
              <p:cNvPr id="9" name="TextBox 9"/>
              <p:cNvSpPr txBox="1"/>
              <p:nvPr/>
            </p:nvSpPr>
            <p:spPr>
              <a:xfrm>
                <a:off x="0" y="-28575"/>
                <a:ext cx="725987"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10" name="Group 10"/>
            <p:cNvGrpSpPr/>
            <p:nvPr/>
          </p:nvGrpSpPr>
          <p:grpSpPr>
            <a:xfrm rot="-5400000">
              <a:off x="-421040" y="995860"/>
              <a:ext cx="2195167" cy="203447"/>
              <a:chOff x="0" y="0"/>
              <a:chExt cx="670022" cy="62097"/>
            </a:xfrm>
          </p:grpSpPr>
          <p:sp>
            <p:nvSpPr>
              <p:cNvPr id="11" name="Freeform 11"/>
              <p:cNvSpPr/>
              <p:nvPr/>
            </p:nvSpPr>
            <p:spPr>
              <a:xfrm>
                <a:off x="0" y="0"/>
                <a:ext cx="670022" cy="62097"/>
              </a:xfrm>
              <a:custGeom>
                <a:avLst/>
                <a:gdLst/>
                <a:ahLst/>
                <a:cxnLst/>
                <a:rect l="l" t="t" r="r" b="b"/>
                <a:pathLst>
                  <a:path w="670022" h="62097">
                    <a:moveTo>
                      <a:pt x="0" y="0"/>
                    </a:moveTo>
                    <a:lnTo>
                      <a:pt x="670022" y="0"/>
                    </a:lnTo>
                    <a:lnTo>
                      <a:pt x="670022" y="62097"/>
                    </a:lnTo>
                    <a:lnTo>
                      <a:pt x="0" y="62097"/>
                    </a:lnTo>
                    <a:close/>
                  </a:path>
                </a:pathLst>
              </a:custGeom>
              <a:gradFill rotWithShape="1">
                <a:gsLst>
                  <a:gs pos="0">
                    <a:srgbClr val="8C52FF">
                      <a:alpha val="100000"/>
                    </a:srgbClr>
                  </a:gs>
                  <a:gs pos="100000">
                    <a:srgbClr val="5CE1E6">
                      <a:alpha val="100000"/>
                    </a:srgbClr>
                  </a:gs>
                </a:gsLst>
                <a:lin ang="0"/>
              </a:gradFill>
              <a:ln cap="sq">
                <a:noFill/>
                <a:prstDash val="solid"/>
                <a:miter/>
              </a:ln>
            </p:spPr>
            <p:txBody>
              <a:bodyPr/>
              <a:lstStyle/>
              <a:p>
                <a:endParaRPr lang="es-CL"/>
              </a:p>
            </p:txBody>
          </p:sp>
          <p:sp>
            <p:nvSpPr>
              <p:cNvPr id="12" name="TextBox 12"/>
              <p:cNvSpPr txBox="1"/>
              <p:nvPr/>
            </p:nvSpPr>
            <p:spPr>
              <a:xfrm>
                <a:off x="0" y="-28575"/>
                <a:ext cx="670022"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13" name="Group 13"/>
            <p:cNvGrpSpPr/>
            <p:nvPr/>
          </p:nvGrpSpPr>
          <p:grpSpPr>
            <a:xfrm rot="-5400000">
              <a:off x="-1374132" y="1973017"/>
              <a:ext cx="2951710" cy="203447"/>
              <a:chOff x="0" y="0"/>
              <a:chExt cx="900938" cy="62097"/>
            </a:xfrm>
          </p:grpSpPr>
          <p:sp>
            <p:nvSpPr>
              <p:cNvPr id="14" name="Freeform 14"/>
              <p:cNvSpPr/>
              <p:nvPr/>
            </p:nvSpPr>
            <p:spPr>
              <a:xfrm>
                <a:off x="0" y="0"/>
                <a:ext cx="900938" cy="62097"/>
              </a:xfrm>
              <a:custGeom>
                <a:avLst/>
                <a:gdLst/>
                <a:ahLst/>
                <a:cxnLst/>
                <a:rect l="l" t="t" r="r" b="b"/>
                <a:pathLst>
                  <a:path w="900938" h="62097">
                    <a:moveTo>
                      <a:pt x="0" y="0"/>
                    </a:moveTo>
                    <a:lnTo>
                      <a:pt x="900938" y="0"/>
                    </a:lnTo>
                    <a:lnTo>
                      <a:pt x="900938" y="62097"/>
                    </a:lnTo>
                    <a:lnTo>
                      <a:pt x="0" y="62097"/>
                    </a:lnTo>
                    <a:close/>
                  </a:path>
                </a:pathLst>
              </a:custGeom>
              <a:gradFill rotWithShape="1">
                <a:gsLst>
                  <a:gs pos="0">
                    <a:srgbClr val="8C52FF">
                      <a:alpha val="100000"/>
                    </a:srgbClr>
                  </a:gs>
                  <a:gs pos="100000">
                    <a:srgbClr val="5CE1E6">
                      <a:alpha val="100000"/>
                    </a:srgbClr>
                  </a:gs>
                </a:gsLst>
                <a:lin ang="0"/>
              </a:gradFill>
              <a:ln cap="sq">
                <a:noFill/>
                <a:prstDash val="solid"/>
                <a:miter/>
              </a:ln>
            </p:spPr>
            <p:txBody>
              <a:bodyPr/>
              <a:lstStyle/>
              <a:p>
                <a:endParaRPr lang="es-CL"/>
              </a:p>
            </p:txBody>
          </p:sp>
          <p:sp>
            <p:nvSpPr>
              <p:cNvPr id="15" name="TextBox 15"/>
              <p:cNvSpPr txBox="1"/>
              <p:nvPr/>
            </p:nvSpPr>
            <p:spPr>
              <a:xfrm>
                <a:off x="0" y="-28575"/>
                <a:ext cx="900938"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grpSp>
        <p:nvGrpSpPr>
          <p:cNvPr id="16" name="Group 16"/>
          <p:cNvGrpSpPr/>
          <p:nvPr/>
        </p:nvGrpSpPr>
        <p:grpSpPr>
          <a:xfrm rot="5400000">
            <a:off x="15334918" y="12979"/>
            <a:ext cx="2623587" cy="2999944"/>
            <a:chOff x="0" y="0"/>
            <a:chExt cx="3498116" cy="3999925"/>
          </a:xfrm>
        </p:grpSpPr>
        <p:grpSp>
          <p:nvGrpSpPr>
            <p:cNvPr id="17" name="Group 17"/>
            <p:cNvGrpSpPr/>
            <p:nvPr/>
          </p:nvGrpSpPr>
          <p:grpSpPr>
            <a:xfrm>
              <a:off x="0" y="262212"/>
              <a:ext cx="3498116" cy="229194"/>
              <a:chOff x="0" y="0"/>
              <a:chExt cx="947774" cy="62097"/>
            </a:xfrm>
          </p:grpSpPr>
          <p:sp>
            <p:nvSpPr>
              <p:cNvPr id="18" name="Freeform 18"/>
              <p:cNvSpPr/>
              <p:nvPr/>
            </p:nvSpPr>
            <p:spPr>
              <a:xfrm>
                <a:off x="0" y="0"/>
                <a:ext cx="947774" cy="62097"/>
              </a:xfrm>
              <a:custGeom>
                <a:avLst/>
                <a:gdLst/>
                <a:ahLst/>
                <a:cxnLst/>
                <a:rect l="l" t="t" r="r" b="b"/>
                <a:pathLst>
                  <a:path w="947774" h="62097">
                    <a:moveTo>
                      <a:pt x="0" y="0"/>
                    </a:moveTo>
                    <a:lnTo>
                      <a:pt x="947774" y="0"/>
                    </a:lnTo>
                    <a:lnTo>
                      <a:pt x="947774" y="62097"/>
                    </a:lnTo>
                    <a:lnTo>
                      <a:pt x="0" y="62097"/>
                    </a:lnTo>
                    <a:close/>
                  </a:path>
                </a:pathLst>
              </a:custGeom>
              <a:gradFill rotWithShape="1">
                <a:gsLst>
                  <a:gs pos="0">
                    <a:srgbClr val="8C52FF">
                      <a:alpha val="100000"/>
                    </a:srgbClr>
                  </a:gs>
                  <a:gs pos="100000">
                    <a:srgbClr val="5CE1E6">
                      <a:alpha val="100000"/>
                    </a:srgbClr>
                  </a:gs>
                </a:gsLst>
                <a:lin ang="0"/>
              </a:gradFill>
              <a:ln cap="sq">
                <a:noFill/>
                <a:prstDash val="solid"/>
                <a:miter/>
              </a:ln>
            </p:spPr>
            <p:txBody>
              <a:bodyPr/>
              <a:lstStyle/>
              <a:p>
                <a:endParaRPr lang="es-CL"/>
              </a:p>
            </p:txBody>
          </p:sp>
          <p:sp>
            <p:nvSpPr>
              <p:cNvPr id="19" name="TextBox 19"/>
              <p:cNvSpPr txBox="1"/>
              <p:nvPr/>
            </p:nvSpPr>
            <p:spPr>
              <a:xfrm>
                <a:off x="0" y="-28575"/>
                <a:ext cx="947774"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20" name="Group 20"/>
            <p:cNvGrpSpPr/>
            <p:nvPr/>
          </p:nvGrpSpPr>
          <p:grpSpPr>
            <a:xfrm>
              <a:off x="0" y="674675"/>
              <a:ext cx="2679526" cy="229194"/>
              <a:chOff x="0" y="0"/>
              <a:chExt cx="725987" cy="62097"/>
            </a:xfrm>
          </p:grpSpPr>
          <p:sp>
            <p:nvSpPr>
              <p:cNvPr id="21" name="Freeform 21"/>
              <p:cNvSpPr/>
              <p:nvPr/>
            </p:nvSpPr>
            <p:spPr>
              <a:xfrm>
                <a:off x="0" y="0"/>
                <a:ext cx="725987" cy="62097"/>
              </a:xfrm>
              <a:custGeom>
                <a:avLst/>
                <a:gdLst/>
                <a:ahLst/>
                <a:cxnLst/>
                <a:rect l="l" t="t" r="r" b="b"/>
                <a:pathLst>
                  <a:path w="725987" h="62097">
                    <a:moveTo>
                      <a:pt x="0" y="0"/>
                    </a:moveTo>
                    <a:lnTo>
                      <a:pt x="725987" y="0"/>
                    </a:lnTo>
                    <a:lnTo>
                      <a:pt x="725987" y="62097"/>
                    </a:lnTo>
                    <a:lnTo>
                      <a:pt x="0" y="62097"/>
                    </a:lnTo>
                    <a:close/>
                  </a:path>
                </a:pathLst>
              </a:custGeom>
              <a:gradFill rotWithShape="1">
                <a:gsLst>
                  <a:gs pos="0">
                    <a:srgbClr val="8C52FF">
                      <a:alpha val="100000"/>
                    </a:srgbClr>
                  </a:gs>
                  <a:gs pos="100000">
                    <a:srgbClr val="5CE1E6">
                      <a:alpha val="100000"/>
                    </a:srgbClr>
                  </a:gs>
                </a:gsLst>
                <a:lin ang="0"/>
              </a:gradFill>
              <a:ln cap="sq">
                <a:noFill/>
                <a:prstDash val="solid"/>
                <a:miter/>
              </a:ln>
            </p:spPr>
            <p:txBody>
              <a:bodyPr/>
              <a:lstStyle/>
              <a:p>
                <a:endParaRPr lang="es-CL"/>
              </a:p>
            </p:txBody>
          </p:sp>
          <p:sp>
            <p:nvSpPr>
              <p:cNvPr id="22" name="TextBox 22"/>
              <p:cNvSpPr txBox="1"/>
              <p:nvPr/>
            </p:nvSpPr>
            <p:spPr>
              <a:xfrm>
                <a:off x="0" y="-28575"/>
                <a:ext cx="725987"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23" name="Group 23"/>
            <p:cNvGrpSpPr/>
            <p:nvPr/>
          </p:nvGrpSpPr>
          <p:grpSpPr>
            <a:xfrm rot="-5400000">
              <a:off x="-474323" y="1121886"/>
              <a:ext cx="2472966" cy="229194"/>
              <a:chOff x="0" y="0"/>
              <a:chExt cx="670022" cy="62097"/>
            </a:xfrm>
          </p:grpSpPr>
          <p:sp>
            <p:nvSpPr>
              <p:cNvPr id="24" name="Freeform 24"/>
              <p:cNvSpPr/>
              <p:nvPr/>
            </p:nvSpPr>
            <p:spPr>
              <a:xfrm>
                <a:off x="0" y="0"/>
                <a:ext cx="670022" cy="62097"/>
              </a:xfrm>
              <a:custGeom>
                <a:avLst/>
                <a:gdLst/>
                <a:ahLst/>
                <a:cxnLst/>
                <a:rect l="l" t="t" r="r" b="b"/>
                <a:pathLst>
                  <a:path w="670022" h="62097">
                    <a:moveTo>
                      <a:pt x="0" y="0"/>
                    </a:moveTo>
                    <a:lnTo>
                      <a:pt x="670022" y="0"/>
                    </a:lnTo>
                    <a:lnTo>
                      <a:pt x="670022" y="62097"/>
                    </a:lnTo>
                    <a:lnTo>
                      <a:pt x="0" y="62097"/>
                    </a:lnTo>
                    <a:close/>
                  </a:path>
                </a:pathLst>
              </a:custGeom>
              <a:gradFill rotWithShape="1">
                <a:gsLst>
                  <a:gs pos="0">
                    <a:srgbClr val="8C52FF">
                      <a:alpha val="100000"/>
                    </a:srgbClr>
                  </a:gs>
                  <a:gs pos="100000">
                    <a:srgbClr val="5CE1E6">
                      <a:alpha val="100000"/>
                    </a:srgbClr>
                  </a:gs>
                </a:gsLst>
                <a:lin ang="0"/>
              </a:gradFill>
              <a:ln cap="sq">
                <a:noFill/>
                <a:prstDash val="solid"/>
                <a:miter/>
              </a:ln>
            </p:spPr>
            <p:txBody>
              <a:bodyPr/>
              <a:lstStyle/>
              <a:p>
                <a:endParaRPr lang="es-CL"/>
              </a:p>
            </p:txBody>
          </p:sp>
          <p:sp>
            <p:nvSpPr>
              <p:cNvPr id="25" name="TextBox 25"/>
              <p:cNvSpPr txBox="1"/>
              <p:nvPr/>
            </p:nvSpPr>
            <p:spPr>
              <a:xfrm>
                <a:off x="0" y="-28575"/>
                <a:ext cx="670022"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26" name="Group 26"/>
            <p:cNvGrpSpPr/>
            <p:nvPr/>
          </p:nvGrpSpPr>
          <p:grpSpPr>
            <a:xfrm rot="-5400000">
              <a:off x="-1548029" y="2222703"/>
              <a:ext cx="3325251" cy="229194"/>
              <a:chOff x="0" y="0"/>
              <a:chExt cx="900938" cy="62097"/>
            </a:xfrm>
          </p:grpSpPr>
          <p:sp>
            <p:nvSpPr>
              <p:cNvPr id="27" name="Freeform 27"/>
              <p:cNvSpPr/>
              <p:nvPr/>
            </p:nvSpPr>
            <p:spPr>
              <a:xfrm>
                <a:off x="0" y="0"/>
                <a:ext cx="900938" cy="62097"/>
              </a:xfrm>
              <a:custGeom>
                <a:avLst/>
                <a:gdLst/>
                <a:ahLst/>
                <a:cxnLst/>
                <a:rect l="l" t="t" r="r" b="b"/>
                <a:pathLst>
                  <a:path w="900938" h="62097">
                    <a:moveTo>
                      <a:pt x="0" y="0"/>
                    </a:moveTo>
                    <a:lnTo>
                      <a:pt x="900938" y="0"/>
                    </a:lnTo>
                    <a:lnTo>
                      <a:pt x="900938" y="62097"/>
                    </a:lnTo>
                    <a:lnTo>
                      <a:pt x="0" y="62097"/>
                    </a:lnTo>
                    <a:close/>
                  </a:path>
                </a:pathLst>
              </a:custGeom>
              <a:gradFill rotWithShape="1">
                <a:gsLst>
                  <a:gs pos="0">
                    <a:srgbClr val="8C52FF">
                      <a:alpha val="100000"/>
                    </a:srgbClr>
                  </a:gs>
                  <a:gs pos="100000">
                    <a:srgbClr val="5CE1E6">
                      <a:alpha val="100000"/>
                    </a:srgbClr>
                  </a:gs>
                </a:gsLst>
                <a:lin ang="0"/>
              </a:gradFill>
              <a:ln cap="sq">
                <a:noFill/>
                <a:prstDash val="solid"/>
                <a:miter/>
              </a:ln>
            </p:spPr>
            <p:txBody>
              <a:bodyPr/>
              <a:lstStyle/>
              <a:p>
                <a:endParaRPr lang="es-CL"/>
              </a:p>
            </p:txBody>
          </p:sp>
          <p:sp>
            <p:nvSpPr>
              <p:cNvPr id="28" name="TextBox 28"/>
              <p:cNvSpPr txBox="1"/>
              <p:nvPr/>
            </p:nvSpPr>
            <p:spPr>
              <a:xfrm>
                <a:off x="0" y="-28575"/>
                <a:ext cx="900938"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sp>
        <p:nvSpPr>
          <p:cNvPr id="29" name="TextBox 29"/>
          <p:cNvSpPr txBox="1"/>
          <p:nvPr/>
        </p:nvSpPr>
        <p:spPr>
          <a:xfrm>
            <a:off x="6217179" y="2543589"/>
            <a:ext cx="5532020" cy="3928357"/>
          </a:xfrm>
          <a:prstGeom prst="rect">
            <a:avLst/>
          </a:prstGeom>
        </p:spPr>
        <p:txBody>
          <a:bodyPr lIns="0" tIns="0" rIns="0" bIns="0" rtlCol="0" anchor="t">
            <a:spAutoFit/>
          </a:bodyPr>
          <a:lstStyle/>
          <a:p>
            <a:pPr marL="0" lvl="0" indent="0" algn="l">
              <a:lnSpc>
                <a:spcPts val="2509"/>
              </a:lnSpc>
              <a:spcBef>
                <a:spcPct val="0"/>
              </a:spcBef>
            </a:pPr>
            <a:r>
              <a:rPr lang="en-US" sz="1792" b="1">
                <a:solidFill>
                  <a:srgbClr val="000000"/>
                </a:solidFill>
                <a:latin typeface="Open Sans Bold"/>
                <a:ea typeface="Open Sans Bold"/>
                <a:cs typeface="Open Sans Bold"/>
                <a:sym typeface="Open Sans Bold"/>
              </a:rPr>
              <a:t>2.- </a:t>
            </a:r>
            <a:r>
              <a:rPr lang="en-US" sz="1792" b="1" u="none" strike="noStrike">
                <a:solidFill>
                  <a:srgbClr val="000000"/>
                </a:solidFill>
                <a:latin typeface="Open Sans Bold"/>
                <a:ea typeface="Open Sans Bold"/>
                <a:cs typeface="Open Sans Bold"/>
                <a:sym typeface="Open Sans Bold"/>
              </a:rPr>
              <a:t>Análisis anual de la evolución de la calidad de las rutas según valoraciones promedio.</a:t>
            </a:r>
          </a:p>
          <a:p>
            <a:pPr marL="0" lvl="0" indent="0" algn="l">
              <a:lnSpc>
                <a:spcPts val="1533"/>
              </a:lnSpc>
              <a:spcBef>
                <a:spcPct val="0"/>
              </a:spcBef>
            </a:pPr>
            <a:endParaRPr lang="en-US" sz="1792" b="1" u="none" strike="noStrike">
              <a:solidFill>
                <a:srgbClr val="000000"/>
              </a:solidFill>
              <a:latin typeface="Open Sans Bold"/>
              <a:ea typeface="Open Sans Bold"/>
              <a:cs typeface="Open Sans Bold"/>
              <a:sym typeface="Open Sans Bold"/>
            </a:endParaRPr>
          </a:p>
          <a:p>
            <a:pPr marL="0" lvl="0" indent="0" algn="l">
              <a:lnSpc>
                <a:spcPts val="2509"/>
              </a:lnSpc>
              <a:spcBef>
                <a:spcPct val="0"/>
              </a:spcBef>
            </a:pPr>
            <a:r>
              <a:rPr lang="en-US" sz="1792" u="none" strike="noStrike">
                <a:solidFill>
                  <a:srgbClr val="000000"/>
                </a:solidFill>
                <a:latin typeface="Open Sans"/>
                <a:ea typeface="Open Sans"/>
                <a:cs typeface="Open Sans"/>
                <a:sym typeface="Open Sans"/>
              </a:rPr>
              <a:t>¿Qué muestra? Promedio de valoraciones de rutas comparado entre años, permite ver si mejoran o empeoran en la percepción de los usuarios</a:t>
            </a:r>
          </a:p>
          <a:p>
            <a:pPr marL="0" lvl="0" indent="0" algn="l">
              <a:lnSpc>
                <a:spcPts val="2509"/>
              </a:lnSpc>
              <a:spcBef>
                <a:spcPct val="0"/>
              </a:spcBef>
            </a:pPr>
            <a:r>
              <a:rPr lang="en-US" sz="1792" u="none" strike="noStrike">
                <a:solidFill>
                  <a:srgbClr val="000000"/>
                </a:solidFill>
                <a:latin typeface="Open Sans"/>
                <a:ea typeface="Open Sans"/>
                <a:cs typeface="Open Sans"/>
                <a:sym typeface="Open Sans"/>
              </a:rPr>
              <a:t>¿Por qué? Identifica tendencias de satisfacción y orienta decisiones de mantenimiento y optimización.</a:t>
            </a:r>
          </a:p>
          <a:p>
            <a:pPr marL="0" lvl="0" indent="0" algn="l">
              <a:lnSpc>
                <a:spcPts val="2509"/>
              </a:lnSpc>
              <a:spcBef>
                <a:spcPct val="0"/>
              </a:spcBef>
            </a:pPr>
            <a:r>
              <a:rPr lang="en-US" sz="1792" u="none" strike="noStrike">
                <a:solidFill>
                  <a:srgbClr val="000000"/>
                </a:solidFill>
                <a:latin typeface="Open Sans"/>
                <a:ea typeface="Open Sans"/>
                <a:cs typeface="Open Sans"/>
                <a:sym typeface="Open Sans"/>
              </a:rPr>
              <a:t>¿Cómo? Agrupar rutas por fecha de creación  → calcular promedio de valoración, también opcional se puede comparar por tipo de deporte.</a:t>
            </a:r>
          </a:p>
          <a:p>
            <a:pPr marL="0" lvl="0" indent="0" algn="ctr">
              <a:lnSpc>
                <a:spcPts val="2509"/>
              </a:lnSpc>
              <a:spcBef>
                <a:spcPct val="0"/>
              </a:spcBef>
            </a:pPr>
            <a:endParaRPr lang="en-US" sz="1792" u="none" strike="noStrike">
              <a:solidFill>
                <a:srgbClr val="000000"/>
              </a:solidFill>
              <a:latin typeface="Open Sans"/>
              <a:ea typeface="Open Sans"/>
              <a:cs typeface="Open Sans"/>
              <a:sym typeface="Open Sans"/>
            </a:endParaRPr>
          </a:p>
        </p:txBody>
      </p:sp>
      <p:sp>
        <p:nvSpPr>
          <p:cNvPr id="30" name="TextBox 30"/>
          <p:cNvSpPr txBox="1"/>
          <p:nvPr/>
        </p:nvSpPr>
        <p:spPr>
          <a:xfrm>
            <a:off x="674122" y="2572164"/>
            <a:ext cx="5015307" cy="5698998"/>
          </a:xfrm>
          <a:prstGeom prst="rect">
            <a:avLst/>
          </a:prstGeom>
        </p:spPr>
        <p:txBody>
          <a:bodyPr lIns="0" tIns="0" rIns="0" bIns="0" rtlCol="0" anchor="t">
            <a:spAutoFit/>
          </a:bodyPr>
          <a:lstStyle/>
          <a:p>
            <a:pPr algn="l">
              <a:lnSpc>
                <a:spcPts val="2286"/>
              </a:lnSpc>
              <a:spcBef>
                <a:spcPct val="0"/>
              </a:spcBef>
            </a:pPr>
            <a:r>
              <a:rPr lang="en-US" sz="1800" b="1">
                <a:solidFill>
                  <a:srgbClr val="000000"/>
                </a:solidFill>
                <a:latin typeface="Open Sans Bold"/>
                <a:ea typeface="Open Sans Bold"/>
                <a:cs typeface="Open Sans Bold"/>
                <a:sym typeface="Open Sans Bold"/>
              </a:rPr>
              <a:t>1.-Análisis de distribución de usuarios por grupo etario y deporte más practicado según tendencias estacionales y variaciones anuales.</a:t>
            </a:r>
          </a:p>
          <a:p>
            <a:pPr algn="l">
              <a:lnSpc>
                <a:spcPts val="2286"/>
              </a:lnSpc>
              <a:spcBef>
                <a:spcPct val="0"/>
              </a:spcBef>
            </a:pPr>
            <a:endParaRPr lang="en-US" sz="1800" b="1">
              <a:solidFill>
                <a:srgbClr val="000000"/>
              </a:solidFill>
              <a:latin typeface="Open Sans Bold"/>
              <a:ea typeface="Open Sans Bold"/>
              <a:cs typeface="Open Sans Bold"/>
              <a:sym typeface="Open Sans Bold"/>
            </a:endParaRPr>
          </a:p>
          <a:p>
            <a:pPr algn="l">
              <a:lnSpc>
                <a:spcPts val="2286"/>
              </a:lnSpc>
              <a:spcBef>
                <a:spcPct val="0"/>
              </a:spcBef>
            </a:pPr>
            <a:r>
              <a:rPr lang="en-US" sz="1800">
                <a:solidFill>
                  <a:srgbClr val="000000"/>
                </a:solidFill>
                <a:latin typeface="Open Sans"/>
                <a:ea typeface="Open Sans"/>
                <a:cs typeface="Open Sans"/>
                <a:sym typeface="Open Sans"/>
              </a:rPr>
              <a:t>¿Qué muestra? Frecuencia de actividades (rutas creadas y eventos realizados o participados) agrupadas por grupo etario , deporte y estación del año, comparadas anualmente.</a:t>
            </a:r>
          </a:p>
          <a:p>
            <a:pPr algn="l">
              <a:lnSpc>
                <a:spcPts val="2286"/>
              </a:lnSpc>
              <a:spcBef>
                <a:spcPct val="0"/>
              </a:spcBef>
            </a:pPr>
            <a:r>
              <a:rPr lang="en-US" sz="1800">
                <a:solidFill>
                  <a:srgbClr val="000000"/>
                </a:solidFill>
                <a:latin typeface="Open Sans"/>
                <a:ea typeface="Open Sans"/>
                <a:cs typeface="Open Sans"/>
                <a:sym typeface="Open Sans"/>
              </a:rPr>
              <a:t>¿Por qué? Identifica los deportes más practicados por rango de edad, según la época del año, facilitando la planificación de eventos o campañas deportivas.</a:t>
            </a:r>
          </a:p>
          <a:p>
            <a:pPr algn="l">
              <a:lnSpc>
                <a:spcPts val="2286"/>
              </a:lnSpc>
              <a:spcBef>
                <a:spcPct val="0"/>
              </a:spcBef>
            </a:pPr>
            <a:r>
              <a:rPr lang="en-US" sz="1800">
                <a:solidFill>
                  <a:srgbClr val="000000"/>
                </a:solidFill>
                <a:latin typeface="Open Sans"/>
                <a:ea typeface="Open Sans"/>
                <a:cs typeface="Open Sans"/>
                <a:sym typeface="Open Sans"/>
              </a:rPr>
              <a:t>¿Cómo? Unir rutas y eventos, calcular edad y grupo etario desde usuarios, derivar estación y año desde la fecha de actividad y agrupar por deporte y edad para obtener conteos comparativos.</a:t>
            </a:r>
          </a:p>
          <a:p>
            <a:pPr algn="l">
              <a:lnSpc>
                <a:spcPts val="2286"/>
              </a:lnSpc>
              <a:spcBef>
                <a:spcPct val="0"/>
              </a:spcBef>
            </a:pPr>
            <a:endParaRPr lang="en-US" sz="1800">
              <a:solidFill>
                <a:srgbClr val="000000"/>
              </a:solidFill>
              <a:latin typeface="Open Sans"/>
              <a:ea typeface="Open Sans"/>
              <a:cs typeface="Open Sans"/>
              <a:sym typeface="Open Sans"/>
            </a:endParaRPr>
          </a:p>
        </p:txBody>
      </p:sp>
      <p:sp>
        <p:nvSpPr>
          <p:cNvPr id="31" name="TextBox 31"/>
          <p:cNvSpPr txBox="1"/>
          <p:nvPr/>
        </p:nvSpPr>
        <p:spPr>
          <a:xfrm>
            <a:off x="12276949" y="2543589"/>
            <a:ext cx="4982351" cy="4069207"/>
          </a:xfrm>
          <a:prstGeom prst="rect">
            <a:avLst/>
          </a:prstGeom>
        </p:spPr>
        <p:txBody>
          <a:bodyPr lIns="0" tIns="0" rIns="0" bIns="0" rtlCol="0" anchor="t">
            <a:spAutoFit/>
          </a:bodyPr>
          <a:lstStyle/>
          <a:p>
            <a:pPr algn="just">
              <a:lnSpc>
                <a:spcPts val="2520"/>
              </a:lnSpc>
              <a:spcBef>
                <a:spcPct val="0"/>
              </a:spcBef>
            </a:pPr>
            <a:r>
              <a:rPr lang="en-US" sz="1800" b="1">
                <a:solidFill>
                  <a:srgbClr val="000000"/>
                </a:solidFill>
                <a:latin typeface="Open Sans Bold"/>
                <a:ea typeface="Open Sans Bold"/>
                <a:cs typeface="Open Sans Bold"/>
                <a:sym typeface="Open Sans Bold"/>
              </a:rPr>
              <a:t>3.- Análisis trimestral de la participación y ocupación en eventos deportivos</a:t>
            </a:r>
          </a:p>
          <a:p>
            <a:pPr algn="just">
              <a:lnSpc>
                <a:spcPts val="2520"/>
              </a:lnSpc>
              <a:spcBef>
                <a:spcPct val="0"/>
              </a:spcBef>
            </a:pPr>
            <a:endParaRPr lang="en-US" sz="1800" b="1">
              <a:solidFill>
                <a:srgbClr val="000000"/>
              </a:solidFill>
              <a:latin typeface="Open Sans Bold"/>
              <a:ea typeface="Open Sans Bold"/>
              <a:cs typeface="Open Sans Bold"/>
              <a:sym typeface="Open Sans Bold"/>
            </a:endParaRPr>
          </a:p>
          <a:p>
            <a:pPr algn="just">
              <a:lnSpc>
                <a:spcPts val="2506"/>
              </a:lnSpc>
              <a:spcBef>
                <a:spcPct val="0"/>
              </a:spcBef>
            </a:pPr>
            <a:r>
              <a:rPr lang="en-US" sz="1790">
                <a:solidFill>
                  <a:srgbClr val="000000"/>
                </a:solidFill>
                <a:latin typeface="Open Sans"/>
                <a:ea typeface="Open Sans"/>
                <a:cs typeface="Open Sans"/>
                <a:sym typeface="Open Sans"/>
              </a:rPr>
              <a:t>¿Qué muestra? La variación de la participación en eventos durante el año, considerando asistentes promedio, porcentaje de ocupación y cantidad de eventos por trimestre.</a:t>
            </a:r>
          </a:p>
          <a:p>
            <a:pPr algn="just">
              <a:lnSpc>
                <a:spcPts val="2506"/>
              </a:lnSpc>
              <a:spcBef>
                <a:spcPct val="0"/>
              </a:spcBef>
            </a:pPr>
            <a:r>
              <a:rPr lang="en-US" sz="1790">
                <a:solidFill>
                  <a:srgbClr val="000000"/>
                </a:solidFill>
                <a:latin typeface="Open Sans"/>
                <a:ea typeface="Open Sans"/>
                <a:cs typeface="Open Sans"/>
                <a:sym typeface="Open Sans"/>
              </a:rPr>
              <a:t>¿Por qué? Ayuda a identificar en qué periodos hay mayor interés de los usuarios y evaluar la efectividad de la planificación de actividades.</a:t>
            </a:r>
          </a:p>
          <a:p>
            <a:pPr algn="just">
              <a:lnSpc>
                <a:spcPts val="2506"/>
              </a:lnSpc>
              <a:spcBef>
                <a:spcPct val="0"/>
              </a:spcBef>
            </a:pPr>
            <a:r>
              <a:rPr lang="en-US" sz="1790">
                <a:solidFill>
                  <a:srgbClr val="000000"/>
                </a:solidFill>
                <a:latin typeface="Roboto"/>
                <a:ea typeface="Roboto"/>
                <a:cs typeface="Roboto"/>
                <a:sym typeface="Roboto"/>
              </a:rPr>
              <a:t>¿Cómo? Agrupando los eventos por trimestre y analizando sus registros de participación, capacidad y fecha de realización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8C52FF">
                <a:alpha val="100000"/>
              </a:srgbClr>
            </a:gs>
            <a:gs pos="100000">
              <a:srgbClr val="5CE1E6">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7691881" y="3452573"/>
            <a:ext cx="2974128" cy="1821654"/>
          </a:xfrm>
          <a:custGeom>
            <a:avLst/>
            <a:gdLst/>
            <a:ahLst/>
            <a:cxnLst/>
            <a:rect l="l" t="t" r="r" b="b"/>
            <a:pathLst>
              <a:path w="2974128" h="1821654">
                <a:moveTo>
                  <a:pt x="0" y="0"/>
                </a:moveTo>
                <a:lnTo>
                  <a:pt x="2974129" y="0"/>
                </a:lnTo>
                <a:lnTo>
                  <a:pt x="2974129" y="1821654"/>
                </a:lnTo>
                <a:lnTo>
                  <a:pt x="0" y="1821654"/>
                </a:lnTo>
                <a:lnTo>
                  <a:pt x="0" y="0"/>
                </a:lnTo>
                <a:close/>
              </a:path>
            </a:pathLst>
          </a:custGeom>
          <a:blipFill>
            <a:blip r:embed="rId3"/>
            <a:stretch>
              <a:fillRect/>
            </a:stretch>
          </a:blipFill>
        </p:spPr>
        <p:txBody>
          <a:bodyPr/>
          <a:lstStyle/>
          <a:p>
            <a:endParaRPr lang="es-CL"/>
          </a:p>
        </p:txBody>
      </p:sp>
      <p:sp>
        <p:nvSpPr>
          <p:cNvPr id="3" name="Freeform 3"/>
          <p:cNvSpPr/>
          <p:nvPr/>
        </p:nvSpPr>
        <p:spPr>
          <a:xfrm>
            <a:off x="13124185" y="8035681"/>
            <a:ext cx="4528219" cy="1222619"/>
          </a:xfrm>
          <a:custGeom>
            <a:avLst/>
            <a:gdLst/>
            <a:ahLst/>
            <a:cxnLst/>
            <a:rect l="l" t="t" r="r" b="b"/>
            <a:pathLst>
              <a:path w="4528219" h="1222619">
                <a:moveTo>
                  <a:pt x="0" y="0"/>
                </a:moveTo>
                <a:lnTo>
                  <a:pt x="4528219" y="0"/>
                </a:lnTo>
                <a:lnTo>
                  <a:pt x="4528219" y="1222619"/>
                </a:lnTo>
                <a:lnTo>
                  <a:pt x="0" y="1222619"/>
                </a:lnTo>
                <a:lnTo>
                  <a:pt x="0" y="0"/>
                </a:lnTo>
                <a:close/>
              </a:path>
            </a:pathLst>
          </a:custGeom>
          <a:blipFill>
            <a:blip r:embed="rId4"/>
            <a:stretch>
              <a:fillRect/>
            </a:stretch>
          </a:blipFill>
        </p:spPr>
        <p:txBody>
          <a:bodyPr/>
          <a:lstStyle/>
          <a:p>
            <a:endParaRPr lang="es-CL"/>
          </a:p>
        </p:txBody>
      </p:sp>
      <p:sp>
        <p:nvSpPr>
          <p:cNvPr id="4" name="Freeform 4"/>
          <p:cNvSpPr/>
          <p:nvPr/>
        </p:nvSpPr>
        <p:spPr>
          <a:xfrm>
            <a:off x="705630" y="8044331"/>
            <a:ext cx="4316335" cy="1213969"/>
          </a:xfrm>
          <a:custGeom>
            <a:avLst/>
            <a:gdLst/>
            <a:ahLst/>
            <a:cxnLst/>
            <a:rect l="l" t="t" r="r" b="b"/>
            <a:pathLst>
              <a:path w="4316335" h="1213969">
                <a:moveTo>
                  <a:pt x="0" y="0"/>
                </a:moveTo>
                <a:lnTo>
                  <a:pt x="4316335" y="0"/>
                </a:lnTo>
                <a:lnTo>
                  <a:pt x="4316335" y="1213969"/>
                </a:lnTo>
                <a:lnTo>
                  <a:pt x="0" y="1213969"/>
                </a:lnTo>
                <a:lnTo>
                  <a:pt x="0" y="0"/>
                </a:lnTo>
                <a:close/>
              </a:path>
            </a:pathLst>
          </a:custGeom>
          <a:blipFill>
            <a:blip r:embed="rId5"/>
            <a:stretch>
              <a:fillRect/>
            </a:stretch>
          </a:blipFill>
        </p:spPr>
        <p:txBody>
          <a:bodyPr/>
          <a:lstStyle/>
          <a:p>
            <a:endParaRPr lang="es-CL"/>
          </a:p>
        </p:txBody>
      </p:sp>
      <p:sp>
        <p:nvSpPr>
          <p:cNvPr id="5" name="Freeform 5"/>
          <p:cNvSpPr/>
          <p:nvPr/>
        </p:nvSpPr>
        <p:spPr>
          <a:xfrm>
            <a:off x="6575648" y="8117334"/>
            <a:ext cx="5136704" cy="988816"/>
          </a:xfrm>
          <a:custGeom>
            <a:avLst/>
            <a:gdLst/>
            <a:ahLst/>
            <a:cxnLst/>
            <a:rect l="l" t="t" r="r" b="b"/>
            <a:pathLst>
              <a:path w="5136704" h="988816">
                <a:moveTo>
                  <a:pt x="0" y="0"/>
                </a:moveTo>
                <a:lnTo>
                  <a:pt x="5136704" y="0"/>
                </a:lnTo>
                <a:lnTo>
                  <a:pt x="5136704" y="988815"/>
                </a:lnTo>
                <a:lnTo>
                  <a:pt x="0" y="988815"/>
                </a:lnTo>
                <a:lnTo>
                  <a:pt x="0" y="0"/>
                </a:lnTo>
                <a:close/>
              </a:path>
            </a:pathLst>
          </a:custGeom>
          <a:blipFill>
            <a:blip r:embed="rId6"/>
            <a:stretch>
              <a:fillRect/>
            </a:stretch>
          </a:blipFill>
        </p:spPr>
        <p:txBody>
          <a:bodyPr/>
          <a:lstStyle/>
          <a:p>
            <a:endParaRPr lang="es-CL"/>
          </a:p>
        </p:txBody>
      </p:sp>
      <p:sp>
        <p:nvSpPr>
          <p:cNvPr id="6" name="Freeform 6"/>
          <p:cNvSpPr/>
          <p:nvPr/>
        </p:nvSpPr>
        <p:spPr>
          <a:xfrm>
            <a:off x="12374768" y="3163317"/>
            <a:ext cx="5648737" cy="1544577"/>
          </a:xfrm>
          <a:custGeom>
            <a:avLst/>
            <a:gdLst/>
            <a:ahLst/>
            <a:cxnLst/>
            <a:rect l="l" t="t" r="r" b="b"/>
            <a:pathLst>
              <a:path w="5648737" h="1544577">
                <a:moveTo>
                  <a:pt x="0" y="0"/>
                </a:moveTo>
                <a:lnTo>
                  <a:pt x="5648737" y="0"/>
                </a:lnTo>
                <a:lnTo>
                  <a:pt x="5648737" y="1544576"/>
                </a:lnTo>
                <a:lnTo>
                  <a:pt x="0" y="1544576"/>
                </a:lnTo>
                <a:lnTo>
                  <a:pt x="0" y="0"/>
                </a:lnTo>
                <a:close/>
              </a:path>
            </a:pathLst>
          </a:custGeom>
          <a:blipFill>
            <a:blip r:embed="rId7"/>
            <a:stretch>
              <a:fillRect/>
            </a:stretch>
          </a:blipFill>
        </p:spPr>
        <p:txBody>
          <a:bodyPr/>
          <a:lstStyle/>
          <a:p>
            <a:endParaRPr lang="es-CL"/>
          </a:p>
        </p:txBody>
      </p:sp>
      <p:sp>
        <p:nvSpPr>
          <p:cNvPr id="7" name="Freeform 7"/>
          <p:cNvSpPr/>
          <p:nvPr/>
        </p:nvSpPr>
        <p:spPr>
          <a:xfrm>
            <a:off x="1368367" y="3163317"/>
            <a:ext cx="2990861" cy="2400166"/>
          </a:xfrm>
          <a:custGeom>
            <a:avLst/>
            <a:gdLst/>
            <a:ahLst/>
            <a:cxnLst/>
            <a:rect l="l" t="t" r="r" b="b"/>
            <a:pathLst>
              <a:path w="2990861" h="2400166">
                <a:moveTo>
                  <a:pt x="0" y="0"/>
                </a:moveTo>
                <a:lnTo>
                  <a:pt x="2990861" y="0"/>
                </a:lnTo>
                <a:lnTo>
                  <a:pt x="2990861" y="2400166"/>
                </a:lnTo>
                <a:lnTo>
                  <a:pt x="0" y="2400166"/>
                </a:lnTo>
                <a:lnTo>
                  <a:pt x="0" y="0"/>
                </a:lnTo>
                <a:close/>
              </a:path>
            </a:pathLst>
          </a:custGeom>
          <a:blipFill>
            <a:blip r:embed="rId8"/>
            <a:stretch>
              <a:fillRect/>
            </a:stretch>
          </a:blipFill>
        </p:spPr>
        <p:txBody>
          <a:bodyPr/>
          <a:lstStyle/>
          <a:p>
            <a:endParaRPr lang="es-CL"/>
          </a:p>
        </p:txBody>
      </p:sp>
      <p:sp>
        <p:nvSpPr>
          <p:cNvPr id="8" name="TextBox 8"/>
          <p:cNvSpPr txBox="1"/>
          <p:nvPr/>
        </p:nvSpPr>
        <p:spPr>
          <a:xfrm>
            <a:off x="8131664" y="2731721"/>
            <a:ext cx="2144363" cy="365258"/>
          </a:xfrm>
          <a:prstGeom prst="rect">
            <a:avLst/>
          </a:prstGeom>
        </p:spPr>
        <p:txBody>
          <a:bodyPr lIns="0" tIns="0" rIns="0" bIns="0" rtlCol="0" anchor="t">
            <a:spAutoFit/>
          </a:bodyPr>
          <a:lstStyle/>
          <a:p>
            <a:pPr marL="0" lvl="0" indent="0" algn="l">
              <a:lnSpc>
                <a:spcPts val="2658"/>
              </a:lnSpc>
              <a:spcBef>
                <a:spcPct val="0"/>
              </a:spcBef>
            </a:pPr>
            <a:r>
              <a:rPr lang="en-US" sz="2987" b="1">
                <a:solidFill>
                  <a:srgbClr val="000000"/>
                </a:solidFill>
                <a:latin typeface="Monterchi Serif Bold"/>
                <a:ea typeface="Monterchi Serif Bold"/>
                <a:cs typeface="Monterchi Serif Bold"/>
                <a:sym typeface="Monterchi Serif Bold"/>
              </a:rPr>
              <a:t>Node.js</a:t>
            </a:r>
          </a:p>
        </p:txBody>
      </p:sp>
      <p:sp>
        <p:nvSpPr>
          <p:cNvPr id="9" name="TextBox 9"/>
          <p:cNvSpPr txBox="1"/>
          <p:nvPr/>
        </p:nvSpPr>
        <p:spPr>
          <a:xfrm>
            <a:off x="14471712" y="2731721"/>
            <a:ext cx="2226661" cy="365258"/>
          </a:xfrm>
          <a:prstGeom prst="rect">
            <a:avLst/>
          </a:prstGeom>
        </p:spPr>
        <p:txBody>
          <a:bodyPr lIns="0" tIns="0" rIns="0" bIns="0" rtlCol="0" anchor="t">
            <a:spAutoFit/>
          </a:bodyPr>
          <a:lstStyle/>
          <a:p>
            <a:pPr marL="0" lvl="0" indent="0" algn="l">
              <a:lnSpc>
                <a:spcPts val="2658"/>
              </a:lnSpc>
              <a:spcBef>
                <a:spcPct val="0"/>
              </a:spcBef>
            </a:pPr>
            <a:r>
              <a:rPr lang="en-US" sz="2987" b="1">
                <a:solidFill>
                  <a:srgbClr val="000000"/>
                </a:solidFill>
                <a:latin typeface="Monterchi Serif Bold"/>
                <a:ea typeface="Monterchi Serif Bold"/>
                <a:cs typeface="Monterchi Serif Bold"/>
                <a:sym typeface="Monterchi Serif Bold"/>
              </a:rPr>
              <a:t>Express.js</a:t>
            </a:r>
          </a:p>
        </p:txBody>
      </p:sp>
      <p:sp>
        <p:nvSpPr>
          <p:cNvPr id="10" name="TextBox 10"/>
          <p:cNvSpPr txBox="1"/>
          <p:nvPr/>
        </p:nvSpPr>
        <p:spPr>
          <a:xfrm>
            <a:off x="8106764" y="7066276"/>
            <a:ext cx="2144363" cy="698633"/>
          </a:xfrm>
          <a:prstGeom prst="rect">
            <a:avLst/>
          </a:prstGeom>
        </p:spPr>
        <p:txBody>
          <a:bodyPr lIns="0" tIns="0" rIns="0" bIns="0" rtlCol="0" anchor="t">
            <a:spAutoFit/>
          </a:bodyPr>
          <a:lstStyle/>
          <a:p>
            <a:pPr marL="0" lvl="0" indent="0" algn="l">
              <a:lnSpc>
                <a:spcPts val="2658"/>
              </a:lnSpc>
              <a:spcBef>
                <a:spcPct val="0"/>
              </a:spcBef>
            </a:pPr>
            <a:r>
              <a:rPr lang="en-US" sz="2987" b="1">
                <a:solidFill>
                  <a:srgbClr val="000000"/>
                </a:solidFill>
                <a:latin typeface="Monterchi Serif Bold"/>
                <a:ea typeface="Monterchi Serif Bold"/>
                <a:cs typeface="Monterchi Serif Bold"/>
                <a:sym typeface="Monterchi Serif Bold"/>
              </a:rPr>
              <a:t>Google Maps SDK</a:t>
            </a:r>
          </a:p>
        </p:txBody>
      </p:sp>
      <p:sp>
        <p:nvSpPr>
          <p:cNvPr id="11" name="TextBox 11"/>
          <p:cNvSpPr txBox="1"/>
          <p:nvPr/>
        </p:nvSpPr>
        <p:spPr>
          <a:xfrm>
            <a:off x="1791615" y="2731721"/>
            <a:ext cx="2144363" cy="365258"/>
          </a:xfrm>
          <a:prstGeom prst="rect">
            <a:avLst/>
          </a:prstGeom>
        </p:spPr>
        <p:txBody>
          <a:bodyPr lIns="0" tIns="0" rIns="0" bIns="0" rtlCol="0" anchor="t">
            <a:spAutoFit/>
          </a:bodyPr>
          <a:lstStyle/>
          <a:p>
            <a:pPr marL="0" lvl="0" indent="0" algn="l">
              <a:lnSpc>
                <a:spcPts val="2658"/>
              </a:lnSpc>
              <a:spcBef>
                <a:spcPct val="0"/>
              </a:spcBef>
            </a:pPr>
            <a:r>
              <a:rPr lang="en-US" sz="2987" b="1">
                <a:solidFill>
                  <a:srgbClr val="000000"/>
                </a:solidFill>
                <a:latin typeface="Monterchi Serif Bold"/>
                <a:ea typeface="Monterchi Serif Bold"/>
                <a:cs typeface="Monterchi Serif Bold"/>
                <a:sym typeface="Monterchi Serif Bold"/>
              </a:rPr>
              <a:t>React Native</a:t>
            </a:r>
          </a:p>
        </p:txBody>
      </p:sp>
      <p:sp>
        <p:nvSpPr>
          <p:cNvPr id="12" name="TextBox 12"/>
          <p:cNvSpPr txBox="1"/>
          <p:nvPr/>
        </p:nvSpPr>
        <p:spPr>
          <a:xfrm>
            <a:off x="1098591" y="883224"/>
            <a:ext cx="16160709" cy="1025271"/>
          </a:xfrm>
          <a:prstGeom prst="rect">
            <a:avLst/>
          </a:prstGeom>
        </p:spPr>
        <p:txBody>
          <a:bodyPr lIns="0" tIns="0" rIns="0" bIns="0" rtlCol="0" anchor="t">
            <a:spAutoFit/>
          </a:bodyPr>
          <a:lstStyle/>
          <a:p>
            <a:pPr algn="ctr">
              <a:lnSpc>
                <a:spcPts val="7992"/>
              </a:lnSpc>
            </a:pPr>
            <a:r>
              <a:rPr lang="en-US" sz="7200" b="1" spc="-187">
                <a:solidFill>
                  <a:srgbClr val="FFFFFF"/>
                </a:solidFill>
                <a:latin typeface="Monterchi Serif Bold"/>
                <a:ea typeface="Monterchi Serif Bold"/>
                <a:cs typeface="Monterchi Serif Bold"/>
                <a:sym typeface="Monterchi Serif Bold"/>
              </a:rPr>
              <a:t>TECNOLOGÍAS UTILIZADAS</a:t>
            </a:r>
          </a:p>
        </p:txBody>
      </p:sp>
      <p:sp>
        <p:nvSpPr>
          <p:cNvPr id="13" name="TextBox 13"/>
          <p:cNvSpPr txBox="1"/>
          <p:nvPr/>
        </p:nvSpPr>
        <p:spPr>
          <a:xfrm>
            <a:off x="14471712" y="7232964"/>
            <a:ext cx="2452203" cy="365258"/>
          </a:xfrm>
          <a:prstGeom prst="rect">
            <a:avLst/>
          </a:prstGeom>
        </p:spPr>
        <p:txBody>
          <a:bodyPr lIns="0" tIns="0" rIns="0" bIns="0" rtlCol="0" anchor="t">
            <a:spAutoFit/>
          </a:bodyPr>
          <a:lstStyle/>
          <a:p>
            <a:pPr marL="0" lvl="0" indent="0" algn="l">
              <a:lnSpc>
                <a:spcPts val="2658"/>
              </a:lnSpc>
              <a:spcBef>
                <a:spcPct val="0"/>
              </a:spcBef>
            </a:pPr>
            <a:r>
              <a:rPr lang="en-US" sz="2987" b="1">
                <a:solidFill>
                  <a:srgbClr val="000000"/>
                </a:solidFill>
                <a:latin typeface="Monterchi Serif Bold"/>
                <a:ea typeface="Monterchi Serif Bold"/>
                <a:cs typeface="Monterchi Serif Bold"/>
                <a:sym typeface="Monterchi Serif Bold"/>
              </a:rPr>
              <a:t>MongoDB</a:t>
            </a:r>
          </a:p>
        </p:txBody>
      </p:sp>
      <p:sp>
        <p:nvSpPr>
          <p:cNvPr id="14" name="TextBox 14"/>
          <p:cNvSpPr txBox="1"/>
          <p:nvPr/>
        </p:nvSpPr>
        <p:spPr>
          <a:xfrm>
            <a:off x="1791615" y="6840785"/>
            <a:ext cx="2452203" cy="698633"/>
          </a:xfrm>
          <a:prstGeom prst="rect">
            <a:avLst/>
          </a:prstGeom>
        </p:spPr>
        <p:txBody>
          <a:bodyPr lIns="0" tIns="0" rIns="0" bIns="0" rtlCol="0" anchor="t">
            <a:spAutoFit/>
          </a:bodyPr>
          <a:lstStyle/>
          <a:p>
            <a:pPr marL="0" lvl="0" indent="0" algn="l">
              <a:lnSpc>
                <a:spcPts val="2658"/>
              </a:lnSpc>
              <a:spcBef>
                <a:spcPct val="0"/>
              </a:spcBef>
            </a:pPr>
            <a:r>
              <a:rPr lang="en-US" sz="2987" b="1">
                <a:solidFill>
                  <a:srgbClr val="000000"/>
                </a:solidFill>
                <a:latin typeface="Monterchi Serif Bold"/>
                <a:ea typeface="Monterchi Serif Bold"/>
                <a:cs typeface="Monterchi Serif Bold"/>
                <a:sym typeface="Monterchi Serif Bold"/>
              </a:rPr>
              <a:t>Firebase Authentication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8C52FF">
                <a:alpha val="100000"/>
              </a:srgbClr>
            </a:gs>
            <a:gs pos="100000">
              <a:srgbClr val="5CE1E6">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637872" y="1807330"/>
            <a:ext cx="7531066" cy="7531066"/>
            <a:chOff x="0" y="0"/>
            <a:chExt cx="812800" cy="812800"/>
          </a:xfrm>
        </p:grpSpPr>
        <p:sp>
          <p:nvSpPr>
            <p:cNvPr id="3" name="Freeform 3"/>
            <p:cNvSpPr/>
            <p:nvPr/>
          </p:nvSpPr>
          <p:spPr>
            <a:xfrm>
              <a:off x="0" y="0"/>
              <a:ext cx="812800" cy="812800"/>
            </a:xfrm>
            <a:custGeom>
              <a:avLst/>
              <a:gdLst/>
              <a:ahLst/>
              <a:cxnLst/>
              <a:rect l="l" t="t" r="r" b="b"/>
              <a:pathLst>
                <a:path w="812800" h="812800">
                  <a:moveTo>
                    <a:pt x="733382" y="0"/>
                  </a:moveTo>
                  <a:lnTo>
                    <a:pt x="79418" y="0"/>
                  </a:lnTo>
                  <a:cubicBezTo>
                    <a:pt x="79418" y="43699"/>
                    <a:pt x="44079" y="79418"/>
                    <a:pt x="0" y="79418"/>
                  </a:cubicBezTo>
                  <a:lnTo>
                    <a:pt x="0" y="733382"/>
                  </a:lnTo>
                  <a:cubicBezTo>
                    <a:pt x="43699" y="733382"/>
                    <a:pt x="79418" y="768721"/>
                    <a:pt x="79418" y="812800"/>
                  </a:cubicBezTo>
                  <a:lnTo>
                    <a:pt x="733382" y="812800"/>
                  </a:lnTo>
                  <a:cubicBezTo>
                    <a:pt x="733382" y="769101"/>
                    <a:pt x="768721" y="733382"/>
                    <a:pt x="812800" y="733382"/>
                  </a:cubicBezTo>
                  <a:lnTo>
                    <a:pt x="812800" y="79418"/>
                  </a:lnTo>
                  <a:cubicBezTo>
                    <a:pt x="769101" y="79418"/>
                    <a:pt x="733382" y="44079"/>
                    <a:pt x="733382" y="0"/>
                  </a:cubicBezTo>
                  <a:close/>
                </a:path>
              </a:pathLst>
            </a:custGeom>
            <a:solidFill>
              <a:srgbClr val="FFFFFF"/>
            </a:solidFill>
          </p:spPr>
          <p:txBody>
            <a:bodyPr/>
            <a:lstStyle/>
            <a:p>
              <a:endParaRPr lang="es-CL"/>
            </a:p>
          </p:txBody>
        </p:sp>
        <p:sp>
          <p:nvSpPr>
            <p:cNvPr id="4" name="TextBox 4"/>
            <p:cNvSpPr txBox="1"/>
            <p:nvPr/>
          </p:nvSpPr>
          <p:spPr>
            <a:xfrm>
              <a:off x="38100" y="9525"/>
              <a:ext cx="736600" cy="765175"/>
            </a:xfrm>
            <a:prstGeom prst="rect">
              <a:avLst/>
            </a:prstGeom>
          </p:spPr>
          <p:txBody>
            <a:bodyPr lIns="50800" tIns="50800" rIns="50800" bIns="50800" rtlCol="0" anchor="ctr"/>
            <a:lstStyle/>
            <a:p>
              <a:pPr algn="ctr">
                <a:lnSpc>
                  <a:spcPts val="2921"/>
                </a:lnSpc>
              </a:pPr>
              <a:endParaRPr/>
            </a:p>
          </p:txBody>
        </p:sp>
      </p:grpSp>
      <p:sp>
        <p:nvSpPr>
          <p:cNvPr id="5" name="TextBox 5"/>
          <p:cNvSpPr txBox="1"/>
          <p:nvPr/>
        </p:nvSpPr>
        <p:spPr>
          <a:xfrm>
            <a:off x="1028700" y="3066749"/>
            <a:ext cx="6693030" cy="4813936"/>
          </a:xfrm>
          <a:prstGeom prst="rect">
            <a:avLst/>
          </a:prstGeom>
        </p:spPr>
        <p:txBody>
          <a:bodyPr lIns="0" tIns="0" rIns="0" bIns="0" rtlCol="0" anchor="t">
            <a:spAutoFit/>
          </a:bodyPr>
          <a:lstStyle/>
          <a:p>
            <a:pPr algn="ctr">
              <a:lnSpc>
                <a:spcPts val="2939"/>
              </a:lnSpc>
            </a:pPr>
            <a:r>
              <a:rPr lang="en-US" sz="2099">
                <a:solidFill>
                  <a:srgbClr val="E2A9F1"/>
                </a:solidFill>
                <a:latin typeface="Open Sans"/>
                <a:ea typeface="Open Sans"/>
                <a:cs typeface="Open Sans"/>
                <a:sym typeface="Open Sans"/>
              </a:rPr>
              <a:t>    </a:t>
            </a:r>
            <a:r>
              <a:rPr lang="en-US" sz="2099" b="1">
                <a:solidFill>
                  <a:srgbClr val="E2A9F1"/>
                </a:solidFill>
                <a:latin typeface="Open Sans Bold"/>
                <a:ea typeface="Open Sans Bold"/>
                <a:cs typeface="Open Sans Bold"/>
                <a:sym typeface="Open Sans Bold"/>
              </a:rPr>
              <a:t>    </a:t>
            </a:r>
            <a:r>
              <a:rPr lang="en-US" sz="2099" b="1">
                <a:solidFill>
                  <a:srgbClr val="CB6CE6"/>
                </a:solidFill>
                <a:latin typeface="Open Sans Bold"/>
                <a:ea typeface="Open Sans Bold"/>
                <a:cs typeface="Open Sans Bold"/>
                <a:sym typeface="Open Sans Bold"/>
              </a:rPr>
              <a:t>Reestructuración del proyecto:</a:t>
            </a:r>
          </a:p>
          <a:p>
            <a:pPr marL="0" lvl="0" indent="0" algn="just">
              <a:lnSpc>
                <a:spcPts val="2939"/>
              </a:lnSpc>
              <a:spcBef>
                <a:spcPct val="0"/>
              </a:spcBef>
            </a:pPr>
            <a:r>
              <a:rPr lang="en-US" sz="2099">
                <a:solidFill>
                  <a:srgbClr val="231D18"/>
                </a:solidFill>
                <a:latin typeface="Open Sans"/>
                <a:ea typeface="Open Sans"/>
                <a:cs typeface="Open Sans"/>
                <a:sym typeface="Open Sans"/>
              </a:rPr>
              <a:t>Al inicio, los proyectos estaban distribuidos en tres repositorios separados, lo que no cumplía con el formato solicitado. Se migraron al repositorio principal y se unificó la estructura, lo que permitió centralizar el desarrollo y facilitar su revisión.</a:t>
            </a:r>
          </a:p>
          <a:p>
            <a:pPr algn="ctr">
              <a:lnSpc>
                <a:spcPts val="2939"/>
              </a:lnSpc>
              <a:spcBef>
                <a:spcPct val="0"/>
              </a:spcBef>
            </a:pPr>
            <a:r>
              <a:rPr lang="en-US" sz="2099" b="1" u="none" strike="noStrike">
                <a:solidFill>
                  <a:srgbClr val="CB6CE6"/>
                </a:solidFill>
                <a:latin typeface="Open Sans Bold"/>
                <a:ea typeface="Open Sans Bold"/>
                <a:cs typeface="Open Sans Bold"/>
                <a:sym typeface="Open Sans Bold"/>
              </a:rPr>
              <a:t>Ajuste del modelo de datos:</a:t>
            </a:r>
          </a:p>
          <a:p>
            <a:pPr algn="just">
              <a:lnSpc>
                <a:spcPts val="2939"/>
              </a:lnSpc>
              <a:spcBef>
                <a:spcPct val="0"/>
              </a:spcBef>
            </a:pPr>
            <a:r>
              <a:rPr lang="en-US" sz="2099" u="none" strike="noStrike">
                <a:solidFill>
                  <a:srgbClr val="000000"/>
                </a:solidFill>
                <a:latin typeface="Open Sans"/>
                <a:ea typeface="Open Sans"/>
                <a:cs typeface="Open Sans"/>
                <a:sym typeface="Open Sans"/>
              </a:rPr>
              <a:t>Durante el desarrollo, identificamos inconsistencias y la necesidad de modificar el modelo de datos para adaptarlo a nuevas funcionalidades, como la valoración de rutas y las notificaciones push.</a:t>
            </a:r>
          </a:p>
          <a:p>
            <a:pPr algn="ctr">
              <a:lnSpc>
                <a:spcPts val="2939"/>
              </a:lnSpc>
              <a:spcBef>
                <a:spcPct val="0"/>
              </a:spcBef>
            </a:pPr>
            <a:endParaRPr lang="en-US" sz="2099" u="none" strike="noStrike">
              <a:solidFill>
                <a:srgbClr val="000000"/>
              </a:solidFill>
              <a:latin typeface="Open Sans"/>
              <a:ea typeface="Open Sans"/>
              <a:cs typeface="Open Sans"/>
              <a:sym typeface="Open Sans"/>
            </a:endParaRPr>
          </a:p>
          <a:p>
            <a:pPr algn="just">
              <a:lnSpc>
                <a:spcPts val="2939"/>
              </a:lnSpc>
              <a:spcBef>
                <a:spcPct val="0"/>
              </a:spcBef>
            </a:pPr>
            <a:endParaRPr lang="en-US" sz="2099" u="none" strike="noStrike">
              <a:solidFill>
                <a:srgbClr val="000000"/>
              </a:solidFill>
              <a:latin typeface="Open Sans"/>
              <a:ea typeface="Open Sans"/>
              <a:cs typeface="Open Sans"/>
              <a:sym typeface="Open Sans"/>
            </a:endParaRPr>
          </a:p>
        </p:txBody>
      </p:sp>
      <p:sp>
        <p:nvSpPr>
          <p:cNvPr id="6" name="TextBox 6"/>
          <p:cNvSpPr txBox="1"/>
          <p:nvPr/>
        </p:nvSpPr>
        <p:spPr>
          <a:xfrm>
            <a:off x="1249147" y="581020"/>
            <a:ext cx="15065225" cy="952510"/>
          </a:xfrm>
          <a:prstGeom prst="rect">
            <a:avLst/>
          </a:prstGeom>
        </p:spPr>
        <p:txBody>
          <a:bodyPr lIns="0" tIns="0" rIns="0" bIns="0" rtlCol="0" anchor="t">
            <a:spAutoFit/>
          </a:bodyPr>
          <a:lstStyle/>
          <a:p>
            <a:pPr algn="ctr">
              <a:lnSpc>
                <a:spcPts val="7400"/>
              </a:lnSpc>
            </a:pPr>
            <a:r>
              <a:rPr lang="en-US" sz="6667" b="1" spc="-173">
                <a:solidFill>
                  <a:srgbClr val="000000"/>
                </a:solidFill>
                <a:latin typeface="Monterchi Serif Bold"/>
                <a:ea typeface="Monterchi Serif Bold"/>
                <a:cs typeface="Monterchi Serif Bold"/>
                <a:sym typeface="Monterchi Serif Bold"/>
              </a:rPr>
              <a:t>RESULTADOS OBTENIDOS</a:t>
            </a:r>
          </a:p>
        </p:txBody>
      </p:sp>
      <p:grpSp>
        <p:nvGrpSpPr>
          <p:cNvPr id="7" name="Group 7"/>
          <p:cNvGrpSpPr/>
          <p:nvPr/>
        </p:nvGrpSpPr>
        <p:grpSpPr>
          <a:xfrm>
            <a:off x="10094006" y="1727234"/>
            <a:ext cx="7531066" cy="7531066"/>
            <a:chOff x="0" y="0"/>
            <a:chExt cx="812800" cy="812800"/>
          </a:xfrm>
        </p:grpSpPr>
        <p:sp>
          <p:nvSpPr>
            <p:cNvPr id="8" name="Freeform 8"/>
            <p:cNvSpPr/>
            <p:nvPr/>
          </p:nvSpPr>
          <p:spPr>
            <a:xfrm>
              <a:off x="0" y="0"/>
              <a:ext cx="812800" cy="812800"/>
            </a:xfrm>
            <a:custGeom>
              <a:avLst/>
              <a:gdLst/>
              <a:ahLst/>
              <a:cxnLst/>
              <a:rect l="l" t="t" r="r" b="b"/>
              <a:pathLst>
                <a:path w="812800" h="812800">
                  <a:moveTo>
                    <a:pt x="733382" y="0"/>
                  </a:moveTo>
                  <a:lnTo>
                    <a:pt x="79418" y="0"/>
                  </a:lnTo>
                  <a:cubicBezTo>
                    <a:pt x="79418" y="43699"/>
                    <a:pt x="44079" y="79418"/>
                    <a:pt x="0" y="79418"/>
                  </a:cubicBezTo>
                  <a:lnTo>
                    <a:pt x="0" y="733382"/>
                  </a:lnTo>
                  <a:cubicBezTo>
                    <a:pt x="43699" y="733382"/>
                    <a:pt x="79418" y="768721"/>
                    <a:pt x="79418" y="812800"/>
                  </a:cubicBezTo>
                  <a:lnTo>
                    <a:pt x="733382" y="812800"/>
                  </a:lnTo>
                  <a:cubicBezTo>
                    <a:pt x="733382" y="769101"/>
                    <a:pt x="768721" y="733382"/>
                    <a:pt x="812800" y="733382"/>
                  </a:cubicBezTo>
                  <a:lnTo>
                    <a:pt x="812800" y="79418"/>
                  </a:lnTo>
                  <a:cubicBezTo>
                    <a:pt x="769101" y="79418"/>
                    <a:pt x="733382" y="44079"/>
                    <a:pt x="733382" y="0"/>
                  </a:cubicBezTo>
                  <a:close/>
                </a:path>
              </a:pathLst>
            </a:custGeom>
            <a:solidFill>
              <a:srgbClr val="FFFFFF"/>
            </a:solidFill>
          </p:spPr>
          <p:txBody>
            <a:bodyPr/>
            <a:lstStyle/>
            <a:p>
              <a:endParaRPr lang="es-CL"/>
            </a:p>
          </p:txBody>
        </p:sp>
        <p:sp>
          <p:nvSpPr>
            <p:cNvPr id="9" name="TextBox 9"/>
            <p:cNvSpPr txBox="1"/>
            <p:nvPr/>
          </p:nvSpPr>
          <p:spPr>
            <a:xfrm>
              <a:off x="38100" y="9525"/>
              <a:ext cx="736600" cy="765175"/>
            </a:xfrm>
            <a:prstGeom prst="rect">
              <a:avLst/>
            </a:prstGeom>
          </p:spPr>
          <p:txBody>
            <a:bodyPr lIns="50800" tIns="50800" rIns="50800" bIns="50800" rtlCol="0" anchor="ctr"/>
            <a:lstStyle/>
            <a:p>
              <a:pPr algn="ctr">
                <a:lnSpc>
                  <a:spcPts val="2921"/>
                </a:lnSpc>
              </a:pPr>
              <a:endParaRPr/>
            </a:p>
          </p:txBody>
        </p:sp>
      </p:grpSp>
      <p:sp>
        <p:nvSpPr>
          <p:cNvPr id="10" name="TextBox 10"/>
          <p:cNvSpPr txBox="1"/>
          <p:nvPr/>
        </p:nvSpPr>
        <p:spPr>
          <a:xfrm>
            <a:off x="10459777" y="3066749"/>
            <a:ext cx="6799523" cy="5185410"/>
          </a:xfrm>
          <a:prstGeom prst="rect">
            <a:avLst/>
          </a:prstGeom>
        </p:spPr>
        <p:txBody>
          <a:bodyPr lIns="0" tIns="0" rIns="0" bIns="0" rtlCol="0" anchor="t">
            <a:spAutoFit/>
          </a:bodyPr>
          <a:lstStyle/>
          <a:p>
            <a:pPr algn="ctr">
              <a:lnSpc>
                <a:spcPts val="2940"/>
              </a:lnSpc>
            </a:pPr>
            <a:r>
              <a:rPr lang="en-US" sz="2100" b="1">
                <a:solidFill>
                  <a:srgbClr val="CB6CE6"/>
                </a:solidFill>
                <a:latin typeface="Open Sans Bold"/>
                <a:ea typeface="Open Sans Bold"/>
                <a:cs typeface="Open Sans Bold"/>
                <a:sym typeface="Open Sans Bold"/>
              </a:rPr>
              <a:t>Curva de aprendizaje mayor a la esperada:</a:t>
            </a:r>
          </a:p>
          <a:p>
            <a:pPr algn="just">
              <a:lnSpc>
                <a:spcPts val="2940"/>
              </a:lnSpc>
            </a:pPr>
            <a:r>
              <a:rPr lang="en-US" sz="2100">
                <a:solidFill>
                  <a:srgbClr val="000000"/>
                </a:solidFill>
                <a:latin typeface="Open Sans"/>
                <a:ea typeface="Open Sans"/>
                <a:cs typeface="Open Sans"/>
                <a:sym typeface="Open Sans"/>
              </a:rPr>
              <a:t>El uso de tecnologías nuevas como React Native, expo, Api Google Maps y MongoDB con formato GeoJson para georeferencias, implicó más tiempo de aprendizaje y pruebas, lo que afectó los plazos iniciales , teniendo que ajustar el cronograma.</a:t>
            </a:r>
          </a:p>
          <a:p>
            <a:pPr algn="ctr">
              <a:lnSpc>
                <a:spcPts val="2940"/>
              </a:lnSpc>
            </a:pPr>
            <a:r>
              <a:rPr lang="en-US" sz="2100" b="1">
                <a:solidFill>
                  <a:srgbClr val="CB6CE6"/>
                </a:solidFill>
                <a:latin typeface="Open Sans Bold"/>
                <a:ea typeface="Open Sans Bold"/>
                <a:cs typeface="Open Sans Bold"/>
                <a:sym typeface="Open Sans Bold"/>
              </a:rPr>
              <a:t>Replanificación y ajuste de tareas:</a:t>
            </a:r>
          </a:p>
          <a:p>
            <a:pPr algn="just">
              <a:lnSpc>
                <a:spcPts val="2940"/>
              </a:lnSpc>
              <a:spcBef>
                <a:spcPct val="0"/>
              </a:spcBef>
            </a:pPr>
            <a:r>
              <a:rPr lang="en-US" sz="2100" u="none" strike="noStrike">
                <a:solidFill>
                  <a:srgbClr val="000000"/>
                </a:solidFill>
                <a:latin typeface="Open Sans"/>
                <a:ea typeface="Open Sans"/>
                <a:cs typeface="Open Sans"/>
                <a:sym typeface="Open Sans"/>
              </a:rPr>
              <a:t>Ante los desafíos técnicos y la falta de tiempo, se modificaron y priorizaron tareas para enfocarse en las actividades más viables y necesarias. Esto permitió mantener el avance del proyecto y asegurar la entrega de las funcionalidades principales.</a:t>
            </a:r>
          </a:p>
          <a:p>
            <a:pPr algn="just">
              <a:lnSpc>
                <a:spcPts val="2940"/>
              </a:lnSpc>
              <a:spcBef>
                <a:spcPct val="0"/>
              </a:spcBef>
            </a:pPr>
            <a:r>
              <a:rPr lang="en-US" sz="2100" u="none" strike="noStrike">
                <a:solidFill>
                  <a:srgbClr val="000000"/>
                </a:solidFill>
                <a:latin typeface="Open Sans"/>
                <a:ea typeface="Open Sans"/>
                <a:cs typeface="Open Sans"/>
                <a:sym typeface="Open Sans"/>
              </a:rPr>
              <a:t>  </a:t>
            </a:r>
          </a:p>
          <a:p>
            <a:pPr marL="0" lvl="0" indent="0" algn="just">
              <a:lnSpc>
                <a:spcPts val="2940"/>
              </a:lnSpc>
              <a:spcBef>
                <a:spcPct val="0"/>
              </a:spcBef>
            </a:pPr>
            <a:endParaRPr lang="en-US" sz="2100" u="none" strike="noStrike">
              <a:solidFill>
                <a:srgbClr val="000000"/>
              </a:solidFill>
              <a:latin typeface="Open Sans"/>
              <a:ea typeface="Open Sans"/>
              <a:cs typeface="Open Sans"/>
              <a:sym typeface="Open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8C52FF">
                <a:alpha val="100000"/>
              </a:srgbClr>
            </a:gs>
            <a:gs pos="100000">
              <a:srgbClr val="5CE1E6">
                <a:alpha val="100000"/>
              </a:srgbClr>
            </a:gs>
          </a:gsLst>
          <a:lin ang="0"/>
        </a:gra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3267101" y="6833486"/>
            <a:ext cx="8389566" cy="7570461"/>
          </a:xfrm>
          <a:prstGeom prst="rect">
            <a:avLst/>
          </a:prstGeom>
        </p:spPr>
      </p:pic>
      <p:pic>
        <p:nvPicPr>
          <p:cNvPr id="3" name="Picture 3"/>
          <p:cNvPicPr>
            <a:picLocks noChangeAspect="1"/>
          </p:cNvPicPr>
          <p:nvPr/>
        </p:nvPicPr>
        <p:blipFill>
          <a:blip r:embed="rId4"/>
          <a:stretch>
            <a:fillRect/>
          </a:stretch>
        </p:blipFill>
        <p:spPr>
          <a:xfrm>
            <a:off x="15465510" y="-2505036"/>
            <a:ext cx="8389566" cy="7570461"/>
          </a:xfrm>
          <a:prstGeom prst="rect">
            <a:avLst/>
          </a:prstGeom>
        </p:spPr>
      </p:pic>
      <p:sp>
        <p:nvSpPr>
          <p:cNvPr id="4" name="TextBox 4"/>
          <p:cNvSpPr txBox="1"/>
          <p:nvPr/>
        </p:nvSpPr>
        <p:spPr>
          <a:xfrm>
            <a:off x="3381964" y="683294"/>
            <a:ext cx="17913118" cy="920877"/>
          </a:xfrm>
          <a:prstGeom prst="rect">
            <a:avLst/>
          </a:prstGeom>
        </p:spPr>
        <p:txBody>
          <a:bodyPr lIns="0" tIns="0" rIns="0" bIns="0" rtlCol="0" anchor="t">
            <a:spAutoFit/>
          </a:bodyPr>
          <a:lstStyle/>
          <a:p>
            <a:pPr algn="l">
              <a:lnSpc>
                <a:spcPts val="7103"/>
              </a:lnSpc>
            </a:pPr>
            <a:r>
              <a:rPr lang="en-US" sz="6399" b="1" spc="-166">
                <a:solidFill>
                  <a:srgbClr val="000000"/>
                </a:solidFill>
                <a:latin typeface="Monterchi Serif Bold"/>
                <a:ea typeface="Monterchi Serif Bold"/>
                <a:cs typeface="Monterchi Serif Bold"/>
                <a:sym typeface="Monterchi Serif Bold"/>
              </a:rPr>
              <a:t>Obstáculos presentados </a:t>
            </a:r>
          </a:p>
        </p:txBody>
      </p:sp>
      <p:sp>
        <p:nvSpPr>
          <p:cNvPr id="5" name="Freeform 5"/>
          <p:cNvSpPr/>
          <p:nvPr/>
        </p:nvSpPr>
        <p:spPr>
          <a:xfrm>
            <a:off x="6230344" y="1604171"/>
            <a:ext cx="4621384" cy="3223416"/>
          </a:xfrm>
          <a:custGeom>
            <a:avLst/>
            <a:gdLst/>
            <a:ahLst/>
            <a:cxnLst/>
            <a:rect l="l" t="t" r="r" b="b"/>
            <a:pathLst>
              <a:path w="4621384" h="3223416">
                <a:moveTo>
                  <a:pt x="0" y="0"/>
                </a:moveTo>
                <a:lnTo>
                  <a:pt x="4621385" y="0"/>
                </a:lnTo>
                <a:lnTo>
                  <a:pt x="4621385" y="3223416"/>
                </a:lnTo>
                <a:lnTo>
                  <a:pt x="0" y="3223416"/>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s-CL"/>
          </a:p>
        </p:txBody>
      </p:sp>
      <p:sp>
        <p:nvSpPr>
          <p:cNvPr id="6" name="TextBox 6"/>
          <p:cNvSpPr txBox="1"/>
          <p:nvPr/>
        </p:nvSpPr>
        <p:spPr>
          <a:xfrm>
            <a:off x="6891577" y="2854445"/>
            <a:ext cx="3298920" cy="713343"/>
          </a:xfrm>
          <a:prstGeom prst="rect">
            <a:avLst/>
          </a:prstGeom>
        </p:spPr>
        <p:txBody>
          <a:bodyPr lIns="0" tIns="0" rIns="0" bIns="0" rtlCol="0" anchor="t">
            <a:spAutoFit/>
          </a:bodyPr>
          <a:lstStyle/>
          <a:p>
            <a:pPr algn="l">
              <a:lnSpc>
                <a:spcPts val="2868"/>
              </a:lnSpc>
              <a:spcBef>
                <a:spcPct val="0"/>
              </a:spcBef>
            </a:pPr>
            <a:r>
              <a:rPr lang="en-US" sz="2258">
                <a:solidFill>
                  <a:srgbClr val="000000"/>
                </a:solidFill>
                <a:latin typeface="Open Sans"/>
                <a:ea typeface="Open Sans"/>
                <a:cs typeface="Open Sans"/>
                <a:sym typeface="Open Sans"/>
              </a:rPr>
              <a:t> Falta de experiencia inicial en las tecnologías.</a:t>
            </a:r>
          </a:p>
        </p:txBody>
      </p:sp>
      <p:sp>
        <p:nvSpPr>
          <p:cNvPr id="7" name="Freeform 7"/>
          <p:cNvSpPr/>
          <p:nvPr/>
        </p:nvSpPr>
        <p:spPr>
          <a:xfrm>
            <a:off x="693396" y="1398606"/>
            <a:ext cx="4254750" cy="2967688"/>
          </a:xfrm>
          <a:custGeom>
            <a:avLst/>
            <a:gdLst/>
            <a:ahLst/>
            <a:cxnLst/>
            <a:rect l="l" t="t" r="r" b="b"/>
            <a:pathLst>
              <a:path w="4254750" h="2967688">
                <a:moveTo>
                  <a:pt x="0" y="0"/>
                </a:moveTo>
                <a:lnTo>
                  <a:pt x="4254750" y="0"/>
                </a:lnTo>
                <a:lnTo>
                  <a:pt x="4254750" y="2967688"/>
                </a:lnTo>
                <a:lnTo>
                  <a:pt x="0" y="2967688"/>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txBody>
          <a:bodyPr/>
          <a:lstStyle/>
          <a:p>
            <a:endParaRPr lang="es-CL"/>
          </a:p>
        </p:txBody>
      </p:sp>
      <p:sp>
        <p:nvSpPr>
          <p:cNvPr id="8" name="TextBox 8"/>
          <p:cNvSpPr txBox="1"/>
          <p:nvPr/>
        </p:nvSpPr>
        <p:spPr>
          <a:xfrm>
            <a:off x="1218207" y="2844920"/>
            <a:ext cx="3205127" cy="722503"/>
          </a:xfrm>
          <a:prstGeom prst="rect">
            <a:avLst/>
          </a:prstGeom>
        </p:spPr>
        <p:txBody>
          <a:bodyPr lIns="0" tIns="0" rIns="0" bIns="0" rtlCol="0" anchor="t">
            <a:spAutoFit/>
          </a:bodyPr>
          <a:lstStyle/>
          <a:p>
            <a:pPr algn="just">
              <a:lnSpc>
                <a:spcPts val="2921"/>
              </a:lnSpc>
              <a:spcBef>
                <a:spcPct val="0"/>
              </a:spcBef>
            </a:pPr>
            <a:r>
              <a:rPr lang="en-US" sz="2300">
                <a:solidFill>
                  <a:srgbClr val="000000"/>
                </a:solidFill>
                <a:latin typeface="Open Sans"/>
                <a:ea typeface="Open Sans"/>
                <a:cs typeface="Open Sans"/>
                <a:sym typeface="Open Sans"/>
              </a:rPr>
              <a:t>Diferencias de opinión dentro del equipo.</a:t>
            </a:r>
          </a:p>
        </p:txBody>
      </p:sp>
      <p:sp>
        <p:nvSpPr>
          <p:cNvPr id="9" name="Freeform 9"/>
          <p:cNvSpPr/>
          <p:nvPr/>
        </p:nvSpPr>
        <p:spPr>
          <a:xfrm>
            <a:off x="3049397" y="5699423"/>
            <a:ext cx="5061601" cy="3530467"/>
          </a:xfrm>
          <a:custGeom>
            <a:avLst/>
            <a:gdLst/>
            <a:ahLst/>
            <a:cxnLst/>
            <a:rect l="l" t="t" r="r" b="b"/>
            <a:pathLst>
              <a:path w="5061601" h="3530467">
                <a:moveTo>
                  <a:pt x="0" y="0"/>
                </a:moveTo>
                <a:lnTo>
                  <a:pt x="5061602" y="0"/>
                </a:lnTo>
                <a:lnTo>
                  <a:pt x="5061602" y="3530467"/>
                </a:lnTo>
                <a:lnTo>
                  <a:pt x="0" y="3530467"/>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txBody>
          <a:bodyPr/>
          <a:lstStyle/>
          <a:p>
            <a:endParaRPr lang="es-CL"/>
          </a:p>
        </p:txBody>
      </p:sp>
      <p:sp>
        <p:nvSpPr>
          <p:cNvPr id="10" name="TextBox 10"/>
          <p:cNvSpPr txBox="1"/>
          <p:nvPr/>
        </p:nvSpPr>
        <p:spPr>
          <a:xfrm>
            <a:off x="3607587" y="6587876"/>
            <a:ext cx="3945222" cy="2170303"/>
          </a:xfrm>
          <a:prstGeom prst="rect">
            <a:avLst/>
          </a:prstGeom>
        </p:spPr>
        <p:txBody>
          <a:bodyPr lIns="0" tIns="0" rIns="0" bIns="0" rtlCol="0" anchor="t">
            <a:spAutoFit/>
          </a:bodyPr>
          <a:lstStyle/>
          <a:p>
            <a:pPr algn="l">
              <a:lnSpc>
                <a:spcPts val="2921"/>
              </a:lnSpc>
              <a:spcBef>
                <a:spcPct val="0"/>
              </a:spcBef>
            </a:pPr>
            <a:r>
              <a:rPr lang="en-US" sz="2300">
                <a:solidFill>
                  <a:srgbClr val="000000"/>
                </a:solidFill>
                <a:latin typeface="Open Sans"/>
                <a:ea typeface="Open Sans"/>
                <a:cs typeface="Open Sans"/>
                <a:sym typeface="Open Sans"/>
              </a:rPr>
              <a:t>Dificultad para equilibrar la vida personal y el desarrollo del proyecto, lo que complicaba coordinar reuniones y avances grupales </a:t>
            </a:r>
          </a:p>
        </p:txBody>
      </p:sp>
      <p:sp>
        <p:nvSpPr>
          <p:cNvPr id="11" name="Freeform 11"/>
          <p:cNvSpPr/>
          <p:nvPr/>
        </p:nvSpPr>
        <p:spPr>
          <a:xfrm>
            <a:off x="11692348" y="1604171"/>
            <a:ext cx="5085756" cy="3547315"/>
          </a:xfrm>
          <a:custGeom>
            <a:avLst/>
            <a:gdLst/>
            <a:ahLst/>
            <a:cxnLst/>
            <a:rect l="l" t="t" r="r" b="b"/>
            <a:pathLst>
              <a:path w="5085756" h="3547315">
                <a:moveTo>
                  <a:pt x="0" y="0"/>
                </a:moveTo>
                <a:lnTo>
                  <a:pt x="5085756" y="0"/>
                </a:lnTo>
                <a:lnTo>
                  <a:pt x="5085756" y="3547315"/>
                </a:lnTo>
                <a:lnTo>
                  <a:pt x="0" y="3547315"/>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cap="sq">
            <a:noFill/>
            <a:prstDash val="solid"/>
            <a:miter/>
          </a:ln>
        </p:spPr>
        <p:txBody>
          <a:bodyPr/>
          <a:lstStyle/>
          <a:p>
            <a:endParaRPr lang="es-CL"/>
          </a:p>
        </p:txBody>
      </p:sp>
      <p:sp>
        <p:nvSpPr>
          <p:cNvPr id="12" name="Freeform 12"/>
          <p:cNvSpPr/>
          <p:nvPr/>
        </p:nvSpPr>
        <p:spPr>
          <a:xfrm>
            <a:off x="10190497" y="5699423"/>
            <a:ext cx="4621384" cy="3223416"/>
          </a:xfrm>
          <a:custGeom>
            <a:avLst/>
            <a:gdLst/>
            <a:ahLst/>
            <a:cxnLst/>
            <a:rect l="l" t="t" r="r" b="b"/>
            <a:pathLst>
              <a:path w="4621384" h="3223416">
                <a:moveTo>
                  <a:pt x="0" y="0"/>
                </a:moveTo>
                <a:lnTo>
                  <a:pt x="4621384" y="0"/>
                </a:lnTo>
                <a:lnTo>
                  <a:pt x="4621384" y="3223416"/>
                </a:lnTo>
                <a:lnTo>
                  <a:pt x="0" y="3223416"/>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cap="sq">
            <a:noFill/>
            <a:prstDash val="solid"/>
            <a:miter/>
          </a:ln>
        </p:spPr>
        <p:txBody>
          <a:bodyPr/>
          <a:lstStyle/>
          <a:p>
            <a:endParaRPr lang="es-CL"/>
          </a:p>
        </p:txBody>
      </p:sp>
      <p:sp>
        <p:nvSpPr>
          <p:cNvPr id="13" name="TextBox 13"/>
          <p:cNvSpPr txBox="1"/>
          <p:nvPr/>
        </p:nvSpPr>
        <p:spPr>
          <a:xfrm>
            <a:off x="12338523" y="2663429"/>
            <a:ext cx="3694831" cy="1799193"/>
          </a:xfrm>
          <a:prstGeom prst="rect">
            <a:avLst/>
          </a:prstGeom>
        </p:spPr>
        <p:txBody>
          <a:bodyPr lIns="0" tIns="0" rIns="0" bIns="0" rtlCol="0" anchor="t">
            <a:spAutoFit/>
          </a:bodyPr>
          <a:lstStyle/>
          <a:p>
            <a:pPr algn="l">
              <a:lnSpc>
                <a:spcPts val="2868"/>
              </a:lnSpc>
              <a:spcBef>
                <a:spcPct val="0"/>
              </a:spcBef>
            </a:pPr>
            <a:r>
              <a:rPr lang="en-US" sz="2258">
                <a:solidFill>
                  <a:srgbClr val="000000"/>
                </a:solidFill>
                <a:latin typeface="Open Sans"/>
                <a:ea typeface="Open Sans"/>
                <a:cs typeface="Open Sans"/>
                <a:sym typeface="Open Sans"/>
              </a:rPr>
              <a:t>Falta de información y conocimientos técnicos al inicio del proyecto; solo teníamos la idea, sin saber cómo desarrollarla.</a:t>
            </a:r>
          </a:p>
        </p:txBody>
      </p:sp>
      <p:sp>
        <p:nvSpPr>
          <p:cNvPr id="14" name="TextBox 14"/>
          <p:cNvSpPr txBox="1"/>
          <p:nvPr/>
        </p:nvSpPr>
        <p:spPr>
          <a:xfrm>
            <a:off x="10666282" y="6759380"/>
            <a:ext cx="3344481" cy="1084453"/>
          </a:xfrm>
          <a:prstGeom prst="rect">
            <a:avLst/>
          </a:prstGeom>
        </p:spPr>
        <p:txBody>
          <a:bodyPr lIns="0" tIns="0" rIns="0" bIns="0" rtlCol="0" anchor="t">
            <a:spAutoFit/>
          </a:bodyPr>
          <a:lstStyle/>
          <a:p>
            <a:pPr algn="ctr">
              <a:lnSpc>
                <a:spcPts val="2921"/>
              </a:lnSpc>
              <a:spcBef>
                <a:spcPct val="0"/>
              </a:spcBef>
            </a:pPr>
            <a:r>
              <a:rPr lang="en-US" sz="2300">
                <a:solidFill>
                  <a:srgbClr val="000000"/>
                </a:solidFill>
                <a:latin typeface="Open Sans"/>
                <a:ea typeface="Open Sans"/>
                <a:cs typeface="Open Sans"/>
                <a:sym typeface="Open Sans"/>
              </a:rPr>
              <a:t>Problemas de despliegue de la API en Vercel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89D957">
                <a:alpha val="100000"/>
              </a:srgbClr>
            </a:gs>
            <a:gs pos="100000">
              <a:srgbClr val="C9E265">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2558578" y="3687255"/>
            <a:ext cx="12965683" cy="2919380"/>
          </a:xfrm>
          <a:prstGeom prst="rect">
            <a:avLst/>
          </a:prstGeom>
        </p:spPr>
        <p:txBody>
          <a:bodyPr lIns="0" tIns="0" rIns="0" bIns="0" rtlCol="0" anchor="t">
            <a:spAutoFit/>
          </a:bodyPr>
          <a:lstStyle/>
          <a:p>
            <a:pPr marL="0" lvl="0" indent="0" algn="ctr">
              <a:lnSpc>
                <a:spcPts val="11088"/>
              </a:lnSpc>
            </a:pPr>
            <a:r>
              <a:rPr lang="en-US" sz="12458" b="1" spc="398">
                <a:solidFill>
                  <a:srgbClr val="231D18"/>
                </a:solidFill>
                <a:latin typeface="Monterchi Serif Bold"/>
                <a:ea typeface="Monterchi Serif Bold"/>
                <a:cs typeface="Monterchi Serif Bold"/>
                <a:sym typeface="Monterchi Serif Bold"/>
              </a:rPr>
              <a:t>¡MUCHÍSIMAS GRACIAS!</a:t>
            </a:r>
          </a:p>
        </p:txBody>
      </p:sp>
      <p:grpSp>
        <p:nvGrpSpPr>
          <p:cNvPr id="3" name="Group 3"/>
          <p:cNvGrpSpPr/>
          <p:nvPr/>
        </p:nvGrpSpPr>
        <p:grpSpPr>
          <a:xfrm>
            <a:off x="6341064" y="991217"/>
            <a:ext cx="5605872" cy="235776"/>
            <a:chOff x="0" y="0"/>
            <a:chExt cx="1476444" cy="62097"/>
          </a:xfrm>
        </p:grpSpPr>
        <p:sp>
          <p:nvSpPr>
            <p:cNvPr id="4" name="Freeform 4"/>
            <p:cNvSpPr/>
            <p:nvPr/>
          </p:nvSpPr>
          <p:spPr>
            <a:xfrm>
              <a:off x="0" y="0"/>
              <a:ext cx="1476444" cy="62097"/>
            </a:xfrm>
            <a:custGeom>
              <a:avLst/>
              <a:gdLst/>
              <a:ahLst/>
              <a:cxnLst/>
              <a:rect l="l" t="t" r="r" b="b"/>
              <a:pathLst>
                <a:path w="1476444" h="62097">
                  <a:moveTo>
                    <a:pt x="0" y="0"/>
                  </a:moveTo>
                  <a:lnTo>
                    <a:pt x="1476444" y="0"/>
                  </a:lnTo>
                  <a:lnTo>
                    <a:pt x="1476444" y="62097"/>
                  </a:lnTo>
                  <a:lnTo>
                    <a:pt x="0" y="62097"/>
                  </a:lnTo>
                  <a:close/>
                </a:path>
              </a:pathLst>
            </a:custGeom>
            <a:solidFill>
              <a:srgbClr val="FFFFFF"/>
            </a:solidFill>
            <a:ln cap="sq">
              <a:noFill/>
              <a:prstDash val="solid"/>
              <a:miter/>
            </a:ln>
          </p:spPr>
          <p:txBody>
            <a:bodyPr/>
            <a:lstStyle/>
            <a:p>
              <a:endParaRPr lang="es-CL"/>
            </a:p>
          </p:txBody>
        </p:sp>
        <p:sp>
          <p:nvSpPr>
            <p:cNvPr id="5" name="TextBox 5"/>
            <p:cNvSpPr txBox="1"/>
            <p:nvPr/>
          </p:nvSpPr>
          <p:spPr>
            <a:xfrm>
              <a:off x="0" y="-28575"/>
              <a:ext cx="1476444"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6" name="Group 6"/>
          <p:cNvGrpSpPr/>
          <p:nvPr/>
        </p:nvGrpSpPr>
        <p:grpSpPr>
          <a:xfrm>
            <a:off x="1136083" y="721474"/>
            <a:ext cx="3598580" cy="4114800"/>
            <a:chOff x="0" y="0"/>
            <a:chExt cx="4798106" cy="5486400"/>
          </a:xfrm>
        </p:grpSpPr>
        <p:grpSp>
          <p:nvGrpSpPr>
            <p:cNvPr id="7" name="Group 7"/>
            <p:cNvGrpSpPr/>
            <p:nvPr/>
          </p:nvGrpSpPr>
          <p:grpSpPr>
            <a:xfrm>
              <a:off x="0" y="359656"/>
              <a:ext cx="4798106" cy="314368"/>
              <a:chOff x="0" y="0"/>
              <a:chExt cx="947774" cy="62097"/>
            </a:xfrm>
          </p:grpSpPr>
          <p:sp>
            <p:nvSpPr>
              <p:cNvPr id="8" name="Freeform 8"/>
              <p:cNvSpPr/>
              <p:nvPr/>
            </p:nvSpPr>
            <p:spPr>
              <a:xfrm>
                <a:off x="0" y="0"/>
                <a:ext cx="947774" cy="62097"/>
              </a:xfrm>
              <a:custGeom>
                <a:avLst/>
                <a:gdLst/>
                <a:ahLst/>
                <a:cxnLst/>
                <a:rect l="l" t="t" r="r" b="b"/>
                <a:pathLst>
                  <a:path w="947774" h="62097">
                    <a:moveTo>
                      <a:pt x="0" y="0"/>
                    </a:moveTo>
                    <a:lnTo>
                      <a:pt x="947774" y="0"/>
                    </a:lnTo>
                    <a:lnTo>
                      <a:pt x="947774" y="62097"/>
                    </a:lnTo>
                    <a:lnTo>
                      <a:pt x="0" y="62097"/>
                    </a:lnTo>
                    <a:close/>
                  </a:path>
                </a:pathLst>
              </a:custGeom>
              <a:solidFill>
                <a:srgbClr val="000000"/>
              </a:solidFill>
              <a:ln cap="sq">
                <a:noFill/>
                <a:prstDash val="solid"/>
                <a:miter/>
              </a:ln>
            </p:spPr>
            <p:txBody>
              <a:bodyPr/>
              <a:lstStyle/>
              <a:p>
                <a:endParaRPr lang="es-CL"/>
              </a:p>
            </p:txBody>
          </p:sp>
          <p:sp>
            <p:nvSpPr>
              <p:cNvPr id="9" name="TextBox 9"/>
              <p:cNvSpPr txBox="1"/>
              <p:nvPr/>
            </p:nvSpPr>
            <p:spPr>
              <a:xfrm>
                <a:off x="0" y="-28575"/>
                <a:ext cx="947774" cy="90672"/>
              </a:xfrm>
              <a:prstGeom prst="rect">
                <a:avLst/>
              </a:prstGeom>
            </p:spPr>
            <p:txBody>
              <a:bodyPr lIns="50800" tIns="50800" rIns="50800" bIns="50800" rtlCol="0" anchor="ctr"/>
              <a:lstStyle/>
              <a:p>
                <a:pPr algn="ctr">
                  <a:lnSpc>
                    <a:spcPts val="2921"/>
                  </a:lnSpc>
                </a:pPr>
                <a:endParaRPr/>
              </a:p>
            </p:txBody>
          </p:sp>
        </p:grpSp>
        <p:grpSp>
          <p:nvGrpSpPr>
            <p:cNvPr id="10" name="Group 10"/>
            <p:cNvGrpSpPr/>
            <p:nvPr/>
          </p:nvGrpSpPr>
          <p:grpSpPr>
            <a:xfrm>
              <a:off x="0" y="925401"/>
              <a:ext cx="3675307" cy="314368"/>
              <a:chOff x="0" y="0"/>
              <a:chExt cx="725987" cy="62097"/>
            </a:xfrm>
          </p:grpSpPr>
          <p:sp>
            <p:nvSpPr>
              <p:cNvPr id="11" name="Freeform 11"/>
              <p:cNvSpPr/>
              <p:nvPr/>
            </p:nvSpPr>
            <p:spPr>
              <a:xfrm>
                <a:off x="0" y="0"/>
                <a:ext cx="725987" cy="62097"/>
              </a:xfrm>
              <a:custGeom>
                <a:avLst/>
                <a:gdLst/>
                <a:ahLst/>
                <a:cxnLst/>
                <a:rect l="l" t="t" r="r" b="b"/>
                <a:pathLst>
                  <a:path w="725987" h="62097">
                    <a:moveTo>
                      <a:pt x="0" y="0"/>
                    </a:moveTo>
                    <a:lnTo>
                      <a:pt x="725987" y="0"/>
                    </a:lnTo>
                    <a:lnTo>
                      <a:pt x="725987" y="62097"/>
                    </a:lnTo>
                    <a:lnTo>
                      <a:pt x="0" y="62097"/>
                    </a:lnTo>
                    <a:close/>
                  </a:path>
                </a:pathLst>
              </a:custGeom>
              <a:solidFill>
                <a:srgbClr val="000000"/>
              </a:solidFill>
              <a:ln cap="sq">
                <a:noFill/>
                <a:prstDash val="solid"/>
                <a:miter/>
              </a:ln>
            </p:spPr>
            <p:txBody>
              <a:bodyPr/>
              <a:lstStyle/>
              <a:p>
                <a:endParaRPr lang="es-CL"/>
              </a:p>
            </p:txBody>
          </p:sp>
          <p:sp>
            <p:nvSpPr>
              <p:cNvPr id="12" name="TextBox 12"/>
              <p:cNvSpPr txBox="1"/>
              <p:nvPr/>
            </p:nvSpPr>
            <p:spPr>
              <a:xfrm>
                <a:off x="0" y="-28575"/>
                <a:ext cx="725987" cy="90672"/>
              </a:xfrm>
              <a:prstGeom prst="rect">
                <a:avLst/>
              </a:prstGeom>
            </p:spPr>
            <p:txBody>
              <a:bodyPr lIns="50800" tIns="50800" rIns="50800" bIns="50800" rtlCol="0" anchor="ctr"/>
              <a:lstStyle/>
              <a:p>
                <a:pPr algn="ctr">
                  <a:lnSpc>
                    <a:spcPts val="2921"/>
                  </a:lnSpc>
                </a:pPr>
                <a:endParaRPr/>
              </a:p>
            </p:txBody>
          </p:sp>
        </p:grpSp>
        <p:grpSp>
          <p:nvGrpSpPr>
            <p:cNvPr id="13" name="Group 13"/>
            <p:cNvGrpSpPr/>
            <p:nvPr/>
          </p:nvGrpSpPr>
          <p:grpSpPr>
            <a:xfrm rot="-5400000">
              <a:off x="-650594" y="1538808"/>
              <a:ext cx="3391984" cy="314368"/>
              <a:chOff x="0" y="0"/>
              <a:chExt cx="670022" cy="62097"/>
            </a:xfrm>
          </p:grpSpPr>
          <p:sp>
            <p:nvSpPr>
              <p:cNvPr id="14" name="Freeform 14"/>
              <p:cNvSpPr/>
              <p:nvPr/>
            </p:nvSpPr>
            <p:spPr>
              <a:xfrm>
                <a:off x="0" y="0"/>
                <a:ext cx="670022" cy="62097"/>
              </a:xfrm>
              <a:custGeom>
                <a:avLst/>
                <a:gdLst/>
                <a:ahLst/>
                <a:cxnLst/>
                <a:rect l="l" t="t" r="r" b="b"/>
                <a:pathLst>
                  <a:path w="670022" h="62097">
                    <a:moveTo>
                      <a:pt x="0" y="0"/>
                    </a:moveTo>
                    <a:lnTo>
                      <a:pt x="670022" y="0"/>
                    </a:lnTo>
                    <a:lnTo>
                      <a:pt x="670022" y="62097"/>
                    </a:lnTo>
                    <a:lnTo>
                      <a:pt x="0" y="62097"/>
                    </a:lnTo>
                    <a:close/>
                  </a:path>
                </a:pathLst>
              </a:custGeom>
              <a:solidFill>
                <a:srgbClr val="000000"/>
              </a:solidFill>
              <a:ln cap="sq">
                <a:noFill/>
                <a:prstDash val="solid"/>
                <a:miter/>
              </a:ln>
            </p:spPr>
            <p:txBody>
              <a:bodyPr/>
              <a:lstStyle/>
              <a:p>
                <a:endParaRPr lang="es-CL"/>
              </a:p>
            </p:txBody>
          </p:sp>
          <p:sp>
            <p:nvSpPr>
              <p:cNvPr id="15" name="TextBox 15"/>
              <p:cNvSpPr txBox="1"/>
              <p:nvPr/>
            </p:nvSpPr>
            <p:spPr>
              <a:xfrm>
                <a:off x="0" y="-28575"/>
                <a:ext cx="670022" cy="90672"/>
              </a:xfrm>
              <a:prstGeom prst="rect">
                <a:avLst/>
              </a:prstGeom>
            </p:spPr>
            <p:txBody>
              <a:bodyPr lIns="50800" tIns="50800" rIns="50800" bIns="50800" rtlCol="0" anchor="ctr"/>
              <a:lstStyle/>
              <a:p>
                <a:pPr algn="ctr">
                  <a:lnSpc>
                    <a:spcPts val="2921"/>
                  </a:lnSpc>
                </a:pPr>
                <a:endParaRPr/>
              </a:p>
            </p:txBody>
          </p:sp>
        </p:grpSp>
        <p:grpSp>
          <p:nvGrpSpPr>
            <p:cNvPr id="16" name="Group 16"/>
            <p:cNvGrpSpPr/>
            <p:nvPr/>
          </p:nvGrpSpPr>
          <p:grpSpPr>
            <a:xfrm rot="-5400000">
              <a:off x="-2123316" y="3048717"/>
              <a:ext cx="4560999" cy="314368"/>
              <a:chOff x="0" y="0"/>
              <a:chExt cx="900938" cy="62097"/>
            </a:xfrm>
          </p:grpSpPr>
          <p:sp>
            <p:nvSpPr>
              <p:cNvPr id="17" name="Freeform 17"/>
              <p:cNvSpPr/>
              <p:nvPr/>
            </p:nvSpPr>
            <p:spPr>
              <a:xfrm>
                <a:off x="0" y="0"/>
                <a:ext cx="900938" cy="62097"/>
              </a:xfrm>
              <a:custGeom>
                <a:avLst/>
                <a:gdLst/>
                <a:ahLst/>
                <a:cxnLst/>
                <a:rect l="l" t="t" r="r" b="b"/>
                <a:pathLst>
                  <a:path w="900938" h="62097">
                    <a:moveTo>
                      <a:pt x="0" y="0"/>
                    </a:moveTo>
                    <a:lnTo>
                      <a:pt x="900938" y="0"/>
                    </a:lnTo>
                    <a:lnTo>
                      <a:pt x="900938" y="62097"/>
                    </a:lnTo>
                    <a:lnTo>
                      <a:pt x="0" y="62097"/>
                    </a:lnTo>
                    <a:close/>
                  </a:path>
                </a:pathLst>
              </a:custGeom>
              <a:solidFill>
                <a:srgbClr val="000000"/>
              </a:solidFill>
              <a:ln cap="sq">
                <a:noFill/>
                <a:prstDash val="solid"/>
                <a:miter/>
              </a:ln>
            </p:spPr>
            <p:txBody>
              <a:bodyPr/>
              <a:lstStyle/>
              <a:p>
                <a:endParaRPr lang="es-CL"/>
              </a:p>
            </p:txBody>
          </p:sp>
          <p:sp>
            <p:nvSpPr>
              <p:cNvPr id="18" name="TextBox 18"/>
              <p:cNvSpPr txBox="1"/>
              <p:nvPr/>
            </p:nvSpPr>
            <p:spPr>
              <a:xfrm>
                <a:off x="0" y="-28575"/>
                <a:ext cx="900938" cy="90672"/>
              </a:xfrm>
              <a:prstGeom prst="rect">
                <a:avLst/>
              </a:prstGeom>
            </p:spPr>
            <p:txBody>
              <a:bodyPr lIns="50800" tIns="50800" rIns="50800" bIns="50800" rtlCol="0" anchor="ctr"/>
              <a:lstStyle/>
              <a:p>
                <a:pPr algn="ctr">
                  <a:lnSpc>
                    <a:spcPts val="2921"/>
                  </a:lnSpc>
                </a:pPr>
                <a:endParaRPr/>
              </a:p>
            </p:txBody>
          </p:sp>
        </p:grpSp>
      </p:grpSp>
      <p:grpSp>
        <p:nvGrpSpPr>
          <p:cNvPr id="19" name="Group 19"/>
          <p:cNvGrpSpPr/>
          <p:nvPr/>
        </p:nvGrpSpPr>
        <p:grpSpPr>
          <a:xfrm rot="-10800000">
            <a:off x="13605221" y="5319624"/>
            <a:ext cx="3598580" cy="4114800"/>
            <a:chOff x="0" y="0"/>
            <a:chExt cx="4798106" cy="5486400"/>
          </a:xfrm>
        </p:grpSpPr>
        <p:grpSp>
          <p:nvGrpSpPr>
            <p:cNvPr id="20" name="Group 20"/>
            <p:cNvGrpSpPr/>
            <p:nvPr/>
          </p:nvGrpSpPr>
          <p:grpSpPr>
            <a:xfrm>
              <a:off x="0" y="359656"/>
              <a:ext cx="4798106" cy="314368"/>
              <a:chOff x="0" y="0"/>
              <a:chExt cx="947774" cy="62097"/>
            </a:xfrm>
          </p:grpSpPr>
          <p:sp>
            <p:nvSpPr>
              <p:cNvPr id="21" name="Freeform 21"/>
              <p:cNvSpPr/>
              <p:nvPr/>
            </p:nvSpPr>
            <p:spPr>
              <a:xfrm>
                <a:off x="0" y="0"/>
                <a:ext cx="947774" cy="62097"/>
              </a:xfrm>
              <a:custGeom>
                <a:avLst/>
                <a:gdLst/>
                <a:ahLst/>
                <a:cxnLst/>
                <a:rect l="l" t="t" r="r" b="b"/>
                <a:pathLst>
                  <a:path w="947774" h="62097">
                    <a:moveTo>
                      <a:pt x="0" y="0"/>
                    </a:moveTo>
                    <a:lnTo>
                      <a:pt x="947774" y="0"/>
                    </a:lnTo>
                    <a:lnTo>
                      <a:pt x="947774" y="62097"/>
                    </a:lnTo>
                    <a:lnTo>
                      <a:pt x="0" y="62097"/>
                    </a:lnTo>
                    <a:close/>
                  </a:path>
                </a:pathLst>
              </a:custGeom>
              <a:solidFill>
                <a:srgbClr val="000000"/>
              </a:solidFill>
              <a:ln cap="sq">
                <a:noFill/>
                <a:prstDash val="solid"/>
                <a:miter/>
              </a:ln>
            </p:spPr>
            <p:txBody>
              <a:bodyPr/>
              <a:lstStyle/>
              <a:p>
                <a:endParaRPr lang="es-CL"/>
              </a:p>
            </p:txBody>
          </p:sp>
          <p:sp>
            <p:nvSpPr>
              <p:cNvPr id="22" name="TextBox 22"/>
              <p:cNvSpPr txBox="1"/>
              <p:nvPr/>
            </p:nvSpPr>
            <p:spPr>
              <a:xfrm>
                <a:off x="0" y="-28575"/>
                <a:ext cx="947774" cy="90672"/>
              </a:xfrm>
              <a:prstGeom prst="rect">
                <a:avLst/>
              </a:prstGeom>
            </p:spPr>
            <p:txBody>
              <a:bodyPr lIns="50800" tIns="50800" rIns="50800" bIns="50800" rtlCol="0" anchor="ctr"/>
              <a:lstStyle/>
              <a:p>
                <a:pPr algn="ctr">
                  <a:lnSpc>
                    <a:spcPts val="2921"/>
                  </a:lnSpc>
                </a:pPr>
                <a:endParaRPr/>
              </a:p>
            </p:txBody>
          </p:sp>
        </p:grpSp>
        <p:grpSp>
          <p:nvGrpSpPr>
            <p:cNvPr id="23" name="Group 23"/>
            <p:cNvGrpSpPr/>
            <p:nvPr/>
          </p:nvGrpSpPr>
          <p:grpSpPr>
            <a:xfrm>
              <a:off x="0" y="925401"/>
              <a:ext cx="3675307" cy="314368"/>
              <a:chOff x="0" y="0"/>
              <a:chExt cx="725987" cy="62097"/>
            </a:xfrm>
          </p:grpSpPr>
          <p:sp>
            <p:nvSpPr>
              <p:cNvPr id="24" name="Freeform 24"/>
              <p:cNvSpPr/>
              <p:nvPr/>
            </p:nvSpPr>
            <p:spPr>
              <a:xfrm>
                <a:off x="0" y="0"/>
                <a:ext cx="725987" cy="62097"/>
              </a:xfrm>
              <a:custGeom>
                <a:avLst/>
                <a:gdLst/>
                <a:ahLst/>
                <a:cxnLst/>
                <a:rect l="l" t="t" r="r" b="b"/>
                <a:pathLst>
                  <a:path w="725987" h="62097">
                    <a:moveTo>
                      <a:pt x="0" y="0"/>
                    </a:moveTo>
                    <a:lnTo>
                      <a:pt x="725987" y="0"/>
                    </a:lnTo>
                    <a:lnTo>
                      <a:pt x="725987" y="62097"/>
                    </a:lnTo>
                    <a:lnTo>
                      <a:pt x="0" y="62097"/>
                    </a:lnTo>
                    <a:close/>
                  </a:path>
                </a:pathLst>
              </a:custGeom>
              <a:solidFill>
                <a:srgbClr val="000000"/>
              </a:solidFill>
              <a:ln cap="sq">
                <a:noFill/>
                <a:prstDash val="solid"/>
                <a:miter/>
              </a:ln>
            </p:spPr>
            <p:txBody>
              <a:bodyPr/>
              <a:lstStyle/>
              <a:p>
                <a:endParaRPr lang="es-CL"/>
              </a:p>
            </p:txBody>
          </p:sp>
          <p:sp>
            <p:nvSpPr>
              <p:cNvPr id="25" name="TextBox 25"/>
              <p:cNvSpPr txBox="1"/>
              <p:nvPr/>
            </p:nvSpPr>
            <p:spPr>
              <a:xfrm>
                <a:off x="0" y="-28575"/>
                <a:ext cx="725987" cy="90672"/>
              </a:xfrm>
              <a:prstGeom prst="rect">
                <a:avLst/>
              </a:prstGeom>
            </p:spPr>
            <p:txBody>
              <a:bodyPr lIns="50800" tIns="50800" rIns="50800" bIns="50800" rtlCol="0" anchor="ctr"/>
              <a:lstStyle/>
              <a:p>
                <a:pPr algn="ctr">
                  <a:lnSpc>
                    <a:spcPts val="2921"/>
                  </a:lnSpc>
                </a:pPr>
                <a:endParaRPr/>
              </a:p>
            </p:txBody>
          </p:sp>
        </p:grpSp>
        <p:grpSp>
          <p:nvGrpSpPr>
            <p:cNvPr id="26" name="Group 26"/>
            <p:cNvGrpSpPr/>
            <p:nvPr/>
          </p:nvGrpSpPr>
          <p:grpSpPr>
            <a:xfrm rot="-5400000">
              <a:off x="-650594" y="1538808"/>
              <a:ext cx="3391984" cy="314368"/>
              <a:chOff x="0" y="0"/>
              <a:chExt cx="670022" cy="62097"/>
            </a:xfrm>
          </p:grpSpPr>
          <p:sp>
            <p:nvSpPr>
              <p:cNvPr id="27" name="Freeform 27"/>
              <p:cNvSpPr/>
              <p:nvPr/>
            </p:nvSpPr>
            <p:spPr>
              <a:xfrm>
                <a:off x="0" y="0"/>
                <a:ext cx="670022" cy="62097"/>
              </a:xfrm>
              <a:custGeom>
                <a:avLst/>
                <a:gdLst/>
                <a:ahLst/>
                <a:cxnLst/>
                <a:rect l="l" t="t" r="r" b="b"/>
                <a:pathLst>
                  <a:path w="670022" h="62097">
                    <a:moveTo>
                      <a:pt x="0" y="0"/>
                    </a:moveTo>
                    <a:lnTo>
                      <a:pt x="670022" y="0"/>
                    </a:lnTo>
                    <a:lnTo>
                      <a:pt x="670022" y="62097"/>
                    </a:lnTo>
                    <a:lnTo>
                      <a:pt x="0" y="62097"/>
                    </a:lnTo>
                    <a:close/>
                  </a:path>
                </a:pathLst>
              </a:custGeom>
              <a:solidFill>
                <a:srgbClr val="000000"/>
              </a:solidFill>
              <a:ln cap="sq">
                <a:noFill/>
                <a:prstDash val="solid"/>
                <a:miter/>
              </a:ln>
            </p:spPr>
            <p:txBody>
              <a:bodyPr/>
              <a:lstStyle/>
              <a:p>
                <a:endParaRPr lang="es-CL"/>
              </a:p>
            </p:txBody>
          </p:sp>
          <p:sp>
            <p:nvSpPr>
              <p:cNvPr id="28" name="TextBox 28"/>
              <p:cNvSpPr txBox="1"/>
              <p:nvPr/>
            </p:nvSpPr>
            <p:spPr>
              <a:xfrm>
                <a:off x="0" y="-28575"/>
                <a:ext cx="670022" cy="90672"/>
              </a:xfrm>
              <a:prstGeom prst="rect">
                <a:avLst/>
              </a:prstGeom>
            </p:spPr>
            <p:txBody>
              <a:bodyPr lIns="50800" tIns="50800" rIns="50800" bIns="50800" rtlCol="0" anchor="ctr"/>
              <a:lstStyle/>
              <a:p>
                <a:pPr algn="ctr">
                  <a:lnSpc>
                    <a:spcPts val="2921"/>
                  </a:lnSpc>
                </a:pPr>
                <a:endParaRPr/>
              </a:p>
            </p:txBody>
          </p:sp>
        </p:grpSp>
        <p:grpSp>
          <p:nvGrpSpPr>
            <p:cNvPr id="29" name="Group 29"/>
            <p:cNvGrpSpPr/>
            <p:nvPr/>
          </p:nvGrpSpPr>
          <p:grpSpPr>
            <a:xfrm rot="-5400000">
              <a:off x="-2123316" y="3048717"/>
              <a:ext cx="4560999" cy="314368"/>
              <a:chOff x="0" y="0"/>
              <a:chExt cx="900938" cy="62097"/>
            </a:xfrm>
          </p:grpSpPr>
          <p:sp>
            <p:nvSpPr>
              <p:cNvPr id="30" name="Freeform 30"/>
              <p:cNvSpPr/>
              <p:nvPr/>
            </p:nvSpPr>
            <p:spPr>
              <a:xfrm>
                <a:off x="0" y="0"/>
                <a:ext cx="900938" cy="62097"/>
              </a:xfrm>
              <a:custGeom>
                <a:avLst/>
                <a:gdLst/>
                <a:ahLst/>
                <a:cxnLst/>
                <a:rect l="l" t="t" r="r" b="b"/>
                <a:pathLst>
                  <a:path w="900938" h="62097">
                    <a:moveTo>
                      <a:pt x="0" y="0"/>
                    </a:moveTo>
                    <a:lnTo>
                      <a:pt x="900938" y="0"/>
                    </a:lnTo>
                    <a:lnTo>
                      <a:pt x="900938" y="62097"/>
                    </a:lnTo>
                    <a:lnTo>
                      <a:pt x="0" y="62097"/>
                    </a:lnTo>
                    <a:close/>
                  </a:path>
                </a:pathLst>
              </a:custGeom>
              <a:solidFill>
                <a:srgbClr val="000000"/>
              </a:solidFill>
              <a:ln cap="sq">
                <a:noFill/>
                <a:prstDash val="solid"/>
                <a:miter/>
              </a:ln>
            </p:spPr>
            <p:txBody>
              <a:bodyPr/>
              <a:lstStyle/>
              <a:p>
                <a:endParaRPr lang="es-CL"/>
              </a:p>
            </p:txBody>
          </p:sp>
          <p:sp>
            <p:nvSpPr>
              <p:cNvPr id="31" name="TextBox 31"/>
              <p:cNvSpPr txBox="1"/>
              <p:nvPr/>
            </p:nvSpPr>
            <p:spPr>
              <a:xfrm>
                <a:off x="0" y="-28575"/>
                <a:ext cx="900938" cy="90672"/>
              </a:xfrm>
              <a:prstGeom prst="rect">
                <a:avLst/>
              </a:prstGeom>
            </p:spPr>
            <p:txBody>
              <a:bodyPr lIns="50800" tIns="50800" rIns="50800" bIns="50800" rtlCol="0" anchor="ctr"/>
              <a:lstStyle/>
              <a:p>
                <a:pPr algn="ctr">
                  <a:lnSpc>
                    <a:spcPts val="2921"/>
                  </a:lnSpc>
                </a:pPr>
                <a:endParaRPr/>
              </a:p>
            </p:txBody>
          </p:sp>
        </p:grpSp>
      </p:grpSp>
      <p:grpSp>
        <p:nvGrpSpPr>
          <p:cNvPr id="32" name="Group 32"/>
          <p:cNvGrpSpPr/>
          <p:nvPr/>
        </p:nvGrpSpPr>
        <p:grpSpPr>
          <a:xfrm rot="-5400000">
            <a:off x="1126558" y="5307992"/>
            <a:ext cx="3598580" cy="4114800"/>
            <a:chOff x="0" y="0"/>
            <a:chExt cx="4798106" cy="5486400"/>
          </a:xfrm>
        </p:grpSpPr>
        <p:grpSp>
          <p:nvGrpSpPr>
            <p:cNvPr id="33" name="Group 33"/>
            <p:cNvGrpSpPr/>
            <p:nvPr/>
          </p:nvGrpSpPr>
          <p:grpSpPr>
            <a:xfrm>
              <a:off x="0" y="359656"/>
              <a:ext cx="4798106" cy="314368"/>
              <a:chOff x="0" y="0"/>
              <a:chExt cx="947774" cy="62097"/>
            </a:xfrm>
          </p:grpSpPr>
          <p:sp>
            <p:nvSpPr>
              <p:cNvPr id="34" name="Freeform 34"/>
              <p:cNvSpPr/>
              <p:nvPr/>
            </p:nvSpPr>
            <p:spPr>
              <a:xfrm>
                <a:off x="0" y="0"/>
                <a:ext cx="947774" cy="62097"/>
              </a:xfrm>
              <a:custGeom>
                <a:avLst/>
                <a:gdLst/>
                <a:ahLst/>
                <a:cxnLst/>
                <a:rect l="l" t="t" r="r" b="b"/>
                <a:pathLst>
                  <a:path w="947774" h="62097">
                    <a:moveTo>
                      <a:pt x="0" y="0"/>
                    </a:moveTo>
                    <a:lnTo>
                      <a:pt x="947774" y="0"/>
                    </a:lnTo>
                    <a:lnTo>
                      <a:pt x="947774" y="62097"/>
                    </a:lnTo>
                    <a:lnTo>
                      <a:pt x="0" y="62097"/>
                    </a:lnTo>
                    <a:close/>
                  </a:path>
                </a:pathLst>
              </a:custGeom>
              <a:solidFill>
                <a:srgbClr val="231D18"/>
              </a:solidFill>
              <a:ln cap="sq">
                <a:noFill/>
                <a:prstDash val="solid"/>
                <a:miter/>
              </a:ln>
            </p:spPr>
            <p:txBody>
              <a:bodyPr/>
              <a:lstStyle/>
              <a:p>
                <a:endParaRPr lang="es-CL"/>
              </a:p>
            </p:txBody>
          </p:sp>
          <p:sp>
            <p:nvSpPr>
              <p:cNvPr id="35" name="TextBox 35"/>
              <p:cNvSpPr txBox="1"/>
              <p:nvPr/>
            </p:nvSpPr>
            <p:spPr>
              <a:xfrm>
                <a:off x="0" y="-28575"/>
                <a:ext cx="947774"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36" name="Group 36"/>
            <p:cNvGrpSpPr/>
            <p:nvPr/>
          </p:nvGrpSpPr>
          <p:grpSpPr>
            <a:xfrm>
              <a:off x="0" y="925401"/>
              <a:ext cx="3675307" cy="314368"/>
              <a:chOff x="0" y="0"/>
              <a:chExt cx="725987" cy="62097"/>
            </a:xfrm>
          </p:grpSpPr>
          <p:sp>
            <p:nvSpPr>
              <p:cNvPr id="37" name="Freeform 37"/>
              <p:cNvSpPr/>
              <p:nvPr/>
            </p:nvSpPr>
            <p:spPr>
              <a:xfrm>
                <a:off x="0" y="0"/>
                <a:ext cx="725987" cy="62097"/>
              </a:xfrm>
              <a:custGeom>
                <a:avLst/>
                <a:gdLst/>
                <a:ahLst/>
                <a:cxnLst/>
                <a:rect l="l" t="t" r="r" b="b"/>
                <a:pathLst>
                  <a:path w="725987" h="62097">
                    <a:moveTo>
                      <a:pt x="0" y="0"/>
                    </a:moveTo>
                    <a:lnTo>
                      <a:pt x="725987" y="0"/>
                    </a:lnTo>
                    <a:lnTo>
                      <a:pt x="725987" y="62097"/>
                    </a:lnTo>
                    <a:lnTo>
                      <a:pt x="0" y="62097"/>
                    </a:lnTo>
                    <a:close/>
                  </a:path>
                </a:pathLst>
              </a:custGeom>
              <a:solidFill>
                <a:srgbClr val="231D18"/>
              </a:solidFill>
              <a:ln cap="sq">
                <a:noFill/>
                <a:prstDash val="solid"/>
                <a:miter/>
              </a:ln>
            </p:spPr>
            <p:txBody>
              <a:bodyPr/>
              <a:lstStyle/>
              <a:p>
                <a:endParaRPr lang="es-CL"/>
              </a:p>
            </p:txBody>
          </p:sp>
          <p:sp>
            <p:nvSpPr>
              <p:cNvPr id="38" name="TextBox 38"/>
              <p:cNvSpPr txBox="1"/>
              <p:nvPr/>
            </p:nvSpPr>
            <p:spPr>
              <a:xfrm>
                <a:off x="0" y="-28575"/>
                <a:ext cx="725987"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39" name="Group 39"/>
            <p:cNvGrpSpPr/>
            <p:nvPr/>
          </p:nvGrpSpPr>
          <p:grpSpPr>
            <a:xfrm rot="-5400000">
              <a:off x="-650594" y="1538808"/>
              <a:ext cx="3391984" cy="314368"/>
              <a:chOff x="0" y="0"/>
              <a:chExt cx="670022" cy="62097"/>
            </a:xfrm>
          </p:grpSpPr>
          <p:sp>
            <p:nvSpPr>
              <p:cNvPr id="40" name="Freeform 40"/>
              <p:cNvSpPr/>
              <p:nvPr/>
            </p:nvSpPr>
            <p:spPr>
              <a:xfrm>
                <a:off x="0" y="0"/>
                <a:ext cx="670022" cy="62097"/>
              </a:xfrm>
              <a:custGeom>
                <a:avLst/>
                <a:gdLst/>
                <a:ahLst/>
                <a:cxnLst/>
                <a:rect l="l" t="t" r="r" b="b"/>
                <a:pathLst>
                  <a:path w="670022" h="62097">
                    <a:moveTo>
                      <a:pt x="0" y="0"/>
                    </a:moveTo>
                    <a:lnTo>
                      <a:pt x="670022" y="0"/>
                    </a:lnTo>
                    <a:lnTo>
                      <a:pt x="670022" y="62097"/>
                    </a:lnTo>
                    <a:lnTo>
                      <a:pt x="0" y="62097"/>
                    </a:lnTo>
                    <a:close/>
                  </a:path>
                </a:pathLst>
              </a:custGeom>
              <a:solidFill>
                <a:srgbClr val="231D18"/>
              </a:solidFill>
              <a:ln cap="sq">
                <a:noFill/>
                <a:prstDash val="solid"/>
                <a:miter/>
              </a:ln>
            </p:spPr>
            <p:txBody>
              <a:bodyPr/>
              <a:lstStyle/>
              <a:p>
                <a:endParaRPr lang="es-CL"/>
              </a:p>
            </p:txBody>
          </p:sp>
          <p:sp>
            <p:nvSpPr>
              <p:cNvPr id="41" name="TextBox 41"/>
              <p:cNvSpPr txBox="1"/>
              <p:nvPr/>
            </p:nvSpPr>
            <p:spPr>
              <a:xfrm>
                <a:off x="0" y="-28575"/>
                <a:ext cx="670022"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42" name="Group 42"/>
            <p:cNvGrpSpPr/>
            <p:nvPr/>
          </p:nvGrpSpPr>
          <p:grpSpPr>
            <a:xfrm rot="-5400000">
              <a:off x="-2123316" y="3048717"/>
              <a:ext cx="4560999" cy="314368"/>
              <a:chOff x="0" y="0"/>
              <a:chExt cx="900938" cy="62097"/>
            </a:xfrm>
          </p:grpSpPr>
          <p:sp>
            <p:nvSpPr>
              <p:cNvPr id="43" name="Freeform 43"/>
              <p:cNvSpPr/>
              <p:nvPr/>
            </p:nvSpPr>
            <p:spPr>
              <a:xfrm>
                <a:off x="0" y="0"/>
                <a:ext cx="900938" cy="62097"/>
              </a:xfrm>
              <a:custGeom>
                <a:avLst/>
                <a:gdLst/>
                <a:ahLst/>
                <a:cxnLst/>
                <a:rect l="l" t="t" r="r" b="b"/>
                <a:pathLst>
                  <a:path w="900938" h="62097">
                    <a:moveTo>
                      <a:pt x="0" y="0"/>
                    </a:moveTo>
                    <a:lnTo>
                      <a:pt x="900938" y="0"/>
                    </a:lnTo>
                    <a:lnTo>
                      <a:pt x="900938" y="62097"/>
                    </a:lnTo>
                    <a:lnTo>
                      <a:pt x="0" y="62097"/>
                    </a:lnTo>
                    <a:close/>
                  </a:path>
                </a:pathLst>
              </a:custGeom>
              <a:solidFill>
                <a:srgbClr val="231D18"/>
              </a:solidFill>
              <a:ln cap="sq">
                <a:noFill/>
                <a:prstDash val="solid"/>
                <a:miter/>
              </a:ln>
            </p:spPr>
            <p:txBody>
              <a:bodyPr/>
              <a:lstStyle/>
              <a:p>
                <a:endParaRPr lang="es-CL"/>
              </a:p>
            </p:txBody>
          </p:sp>
          <p:sp>
            <p:nvSpPr>
              <p:cNvPr id="44" name="TextBox 44"/>
              <p:cNvSpPr txBox="1"/>
              <p:nvPr/>
            </p:nvSpPr>
            <p:spPr>
              <a:xfrm>
                <a:off x="0" y="-28575"/>
                <a:ext cx="900938"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grpSp>
        <p:nvGrpSpPr>
          <p:cNvPr id="45" name="Group 45"/>
          <p:cNvGrpSpPr/>
          <p:nvPr/>
        </p:nvGrpSpPr>
        <p:grpSpPr>
          <a:xfrm rot="5400000">
            <a:off x="13614746" y="733106"/>
            <a:ext cx="3598580" cy="4114800"/>
            <a:chOff x="0" y="0"/>
            <a:chExt cx="4798106" cy="5486400"/>
          </a:xfrm>
        </p:grpSpPr>
        <p:grpSp>
          <p:nvGrpSpPr>
            <p:cNvPr id="46" name="Group 46"/>
            <p:cNvGrpSpPr/>
            <p:nvPr/>
          </p:nvGrpSpPr>
          <p:grpSpPr>
            <a:xfrm>
              <a:off x="0" y="359656"/>
              <a:ext cx="4798106" cy="314368"/>
              <a:chOff x="0" y="0"/>
              <a:chExt cx="947774" cy="62097"/>
            </a:xfrm>
          </p:grpSpPr>
          <p:sp>
            <p:nvSpPr>
              <p:cNvPr id="47" name="Freeform 47"/>
              <p:cNvSpPr/>
              <p:nvPr/>
            </p:nvSpPr>
            <p:spPr>
              <a:xfrm>
                <a:off x="0" y="0"/>
                <a:ext cx="947774" cy="62097"/>
              </a:xfrm>
              <a:custGeom>
                <a:avLst/>
                <a:gdLst/>
                <a:ahLst/>
                <a:cxnLst/>
                <a:rect l="l" t="t" r="r" b="b"/>
                <a:pathLst>
                  <a:path w="947774" h="62097">
                    <a:moveTo>
                      <a:pt x="0" y="0"/>
                    </a:moveTo>
                    <a:lnTo>
                      <a:pt x="947774" y="0"/>
                    </a:lnTo>
                    <a:lnTo>
                      <a:pt x="947774" y="62097"/>
                    </a:lnTo>
                    <a:lnTo>
                      <a:pt x="0" y="62097"/>
                    </a:lnTo>
                    <a:close/>
                  </a:path>
                </a:pathLst>
              </a:custGeom>
              <a:solidFill>
                <a:srgbClr val="000000"/>
              </a:solidFill>
              <a:ln cap="sq">
                <a:noFill/>
                <a:prstDash val="solid"/>
                <a:miter/>
              </a:ln>
            </p:spPr>
            <p:txBody>
              <a:bodyPr/>
              <a:lstStyle/>
              <a:p>
                <a:endParaRPr lang="es-CL"/>
              </a:p>
            </p:txBody>
          </p:sp>
          <p:sp>
            <p:nvSpPr>
              <p:cNvPr id="48" name="TextBox 48"/>
              <p:cNvSpPr txBox="1"/>
              <p:nvPr/>
            </p:nvSpPr>
            <p:spPr>
              <a:xfrm>
                <a:off x="0" y="-28575"/>
                <a:ext cx="947774"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49" name="Group 49"/>
            <p:cNvGrpSpPr/>
            <p:nvPr/>
          </p:nvGrpSpPr>
          <p:grpSpPr>
            <a:xfrm>
              <a:off x="0" y="925401"/>
              <a:ext cx="3675307" cy="314368"/>
              <a:chOff x="0" y="0"/>
              <a:chExt cx="725987" cy="62097"/>
            </a:xfrm>
          </p:grpSpPr>
          <p:sp>
            <p:nvSpPr>
              <p:cNvPr id="50" name="Freeform 50"/>
              <p:cNvSpPr/>
              <p:nvPr/>
            </p:nvSpPr>
            <p:spPr>
              <a:xfrm>
                <a:off x="0" y="0"/>
                <a:ext cx="725987" cy="62097"/>
              </a:xfrm>
              <a:custGeom>
                <a:avLst/>
                <a:gdLst/>
                <a:ahLst/>
                <a:cxnLst/>
                <a:rect l="l" t="t" r="r" b="b"/>
                <a:pathLst>
                  <a:path w="725987" h="62097">
                    <a:moveTo>
                      <a:pt x="0" y="0"/>
                    </a:moveTo>
                    <a:lnTo>
                      <a:pt x="725987" y="0"/>
                    </a:lnTo>
                    <a:lnTo>
                      <a:pt x="725987" y="62097"/>
                    </a:lnTo>
                    <a:lnTo>
                      <a:pt x="0" y="62097"/>
                    </a:lnTo>
                    <a:close/>
                  </a:path>
                </a:pathLst>
              </a:custGeom>
              <a:solidFill>
                <a:srgbClr val="000000"/>
              </a:solidFill>
              <a:ln cap="sq">
                <a:noFill/>
                <a:prstDash val="solid"/>
                <a:miter/>
              </a:ln>
            </p:spPr>
            <p:txBody>
              <a:bodyPr/>
              <a:lstStyle/>
              <a:p>
                <a:endParaRPr lang="es-CL"/>
              </a:p>
            </p:txBody>
          </p:sp>
          <p:sp>
            <p:nvSpPr>
              <p:cNvPr id="51" name="TextBox 51"/>
              <p:cNvSpPr txBox="1"/>
              <p:nvPr/>
            </p:nvSpPr>
            <p:spPr>
              <a:xfrm>
                <a:off x="0" y="-28575"/>
                <a:ext cx="725987"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52" name="Group 52"/>
            <p:cNvGrpSpPr/>
            <p:nvPr/>
          </p:nvGrpSpPr>
          <p:grpSpPr>
            <a:xfrm rot="-5400000">
              <a:off x="-650594" y="1538808"/>
              <a:ext cx="3391984" cy="314368"/>
              <a:chOff x="0" y="0"/>
              <a:chExt cx="670022" cy="62097"/>
            </a:xfrm>
          </p:grpSpPr>
          <p:sp>
            <p:nvSpPr>
              <p:cNvPr id="53" name="Freeform 53"/>
              <p:cNvSpPr/>
              <p:nvPr/>
            </p:nvSpPr>
            <p:spPr>
              <a:xfrm>
                <a:off x="0" y="0"/>
                <a:ext cx="670022" cy="62097"/>
              </a:xfrm>
              <a:custGeom>
                <a:avLst/>
                <a:gdLst/>
                <a:ahLst/>
                <a:cxnLst/>
                <a:rect l="l" t="t" r="r" b="b"/>
                <a:pathLst>
                  <a:path w="670022" h="62097">
                    <a:moveTo>
                      <a:pt x="0" y="0"/>
                    </a:moveTo>
                    <a:lnTo>
                      <a:pt x="670022" y="0"/>
                    </a:lnTo>
                    <a:lnTo>
                      <a:pt x="670022" y="62097"/>
                    </a:lnTo>
                    <a:lnTo>
                      <a:pt x="0" y="62097"/>
                    </a:lnTo>
                    <a:close/>
                  </a:path>
                </a:pathLst>
              </a:custGeom>
              <a:solidFill>
                <a:srgbClr val="000000"/>
              </a:solidFill>
              <a:ln cap="sq">
                <a:noFill/>
                <a:prstDash val="solid"/>
                <a:miter/>
              </a:ln>
            </p:spPr>
            <p:txBody>
              <a:bodyPr/>
              <a:lstStyle/>
              <a:p>
                <a:endParaRPr lang="es-CL"/>
              </a:p>
            </p:txBody>
          </p:sp>
          <p:sp>
            <p:nvSpPr>
              <p:cNvPr id="54" name="TextBox 54"/>
              <p:cNvSpPr txBox="1"/>
              <p:nvPr/>
            </p:nvSpPr>
            <p:spPr>
              <a:xfrm>
                <a:off x="0" y="-28575"/>
                <a:ext cx="670022"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55" name="Group 55"/>
            <p:cNvGrpSpPr/>
            <p:nvPr/>
          </p:nvGrpSpPr>
          <p:grpSpPr>
            <a:xfrm rot="-5400000">
              <a:off x="-2123316" y="3048717"/>
              <a:ext cx="4560999" cy="314368"/>
              <a:chOff x="0" y="0"/>
              <a:chExt cx="900938" cy="62097"/>
            </a:xfrm>
          </p:grpSpPr>
          <p:sp>
            <p:nvSpPr>
              <p:cNvPr id="56" name="Freeform 56"/>
              <p:cNvSpPr/>
              <p:nvPr/>
            </p:nvSpPr>
            <p:spPr>
              <a:xfrm>
                <a:off x="0" y="0"/>
                <a:ext cx="900938" cy="62097"/>
              </a:xfrm>
              <a:custGeom>
                <a:avLst/>
                <a:gdLst/>
                <a:ahLst/>
                <a:cxnLst/>
                <a:rect l="l" t="t" r="r" b="b"/>
                <a:pathLst>
                  <a:path w="900938" h="62097">
                    <a:moveTo>
                      <a:pt x="0" y="0"/>
                    </a:moveTo>
                    <a:lnTo>
                      <a:pt x="900938" y="0"/>
                    </a:lnTo>
                    <a:lnTo>
                      <a:pt x="900938" y="62097"/>
                    </a:lnTo>
                    <a:lnTo>
                      <a:pt x="0" y="62097"/>
                    </a:lnTo>
                    <a:close/>
                  </a:path>
                </a:pathLst>
              </a:custGeom>
              <a:solidFill>
                <a:srgbClr val="000000"/>
              </a:solidFill>
              <a:ln cap="sq">
                <a:noFill/>
                <a:prstDash val="solid"/>
                <a:miter/>
              </a:ln>
            </p:spPr>
            <p:txBody>
              <a:bodyPr/>
              <a:lstStyle/>
              <a:p>
                <a:endParaRPr lang="es-CL"/>
              </a:p>
            </p:txBody>
          </p:sp>
          <p:sp>
            <p:nvSpPr>
              <p:cNvPr id="57" name="TextBox 57"/>
              <p:cNvSpPr txBox="1"/>
              <p:nvPr/>
            </p:nvSpPr>
            <p:spPr>
              <a:xfrm>
                <a:off x="0" y="-28575"/>
                <a:ext cx="900938"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grpSp>
        <p:nvGrpSpPr>
          <p:cNvPr id="58" name="Group 58"/>
          <p:cNvGrpSpPr/>
          <p:nvPr/>
        </p:nvGrpSpPr>
        <p:grpSpPr>
          <a:xfrm rot="-10800000">
            <a:off x="6341064" y="8928906"/>
            <a:ext cx="5605872" cy="235776"/>
            <a:chOff x="0" y="0"/>
            <a:chExt cx="1476444" cy="62097"/>
          </a:xfrm>
        </p:grpSpPr>
        <p:sp>
          <p:nvSpPr>
            <p:cNvPr id="59" name="Freeform 59"/>
            <p:cNvSpPr/>
            <p:nvPr/>
          </p:nvSpPr>
          <p:spPr>
            <a:xfrm>
              <a:off x="0" y="0"/>
              <a:ext cx="1476444" cy="62097"/>
            </a:xfrm>
            <a:custGeom>
              <a:avLst/>
              <a:gdLst/>
              <a:ahLst/>
              <a:cxnLst/>
              <a:rect l="l" t="t" r="r" b="b"/>
              <a:pathLst>
                <a:path w="1476444" h="62097">
                  <a:moveTo>
                    <a:pt x="0" y="0"/>
                  </a:moveTo>
                  <a:lnTo>
                    <a:pt x="1476444" y="0"/>
                  </a:lnTo>
                  <a:lnTo>
                    <a:pt x="1476444" y="62097"/>
                  </a:lnTo>
                  <a:lnTo>
                    <a:pt x="0" y="62097"/>
                  </a:lnTo>
                  <a:close/>
                </a:path>
              </a:pathLst>
            </a:custGeom>
            <a:solidFill>
              <a:srgbClr val="FFFFFF"/>
            </a:solidFill>
            <a:ln cap="sq">
              <a:noFill/>
              <a:prstDash val="solid"/>
              <a:miter/>
            </a:ln>
          </p:spPr>
          <p:txBody>
            <a:bodyPr/>
            <a:lstStyle/>
            <a:p>
              <a:endParaRPr lang="es-CL"/>
            </a:p>
          </p:txBody>
        </p:sp>
        <p:sp>
          <p:nvSpPr>
            <p:cNvPr id="60" name="TextBox 60"/>
            <p:cNvSpPr txBox="1"/>
            <p:nvPr/>
          </p:nvSpPr>
          <p:spPr>
            <a:xfrm>
              <a:off x="0" y="-28575"/>
              <a:ext cx="1476444"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61" name="Group 61"/>
          <p:cNvGrpSpPr/>
          <p:nvPr/>
        </p:nvGrpSpPr>
        <p:grpSpPr>
          <a:xfrm>
            <a:off x="7269826" y="1415525"/>
            <a:ext cx="3748348" cy="235776"/>
            <a:chOff x="0" y="0"/>
            <a:chExt cx="987219" cy="62097"/>
          </a:xfrm>
        </p:grpSpPr>
        <p:sp>
          <p:nvSpPr>
            <p:cNvPr id="62" name="Freeform 62"/>
            <p:cNvSpPr/>
            <p:nvPr/>
          </p:nvSpPr>
          <p:spPr>
            <a:xfrm>
              <a:off x="0" y="0"/>
              <a:ext cx="987219" cy="62097"/>
            </a:xfrm>
            <a:custGeom>
              <a:avLst/>
              <a:gdLst/>
              <a:ahLst/>
              <a:cxnLst/>
              <a:rect l="l" t="t" r="r" b="b"/>
              <a:pathLst>
                <a:path w="987219" h="62097">
                  <a:moveTo>
                    <a:pt x="0" y="0"/>
                  </a:moveTo>
                  <a:lnTo>
                    <a:pt x="987219" y="0"/>
                  </a:lnTo>
                  <a:lnTo>
                    <a:pt x="987219" y="62097"/>
                  </a:lnTo>
                  <a:lnTo>
                    <a:pt x="0" y="62097"/>
                  </a:lnTo>
                  <a:close/>
                </a:path>
              </a:pathLst>
            </a:custGeom>
            <a:solidFill>
              <a:srgbClr val="FFFFFF"/>
            </a:solidFill>
            <a:ln cap="sq">
              <a:noFill/>
              <a:prstDash val="solid"/>
              <a:miter/>
            </a:ln>
          </p:spPr>
          <p:txBody>
            <a:bodyPr/>
            <a:lstStyle/>
            <a:p>
              <a:endParaRPr lang="es-CL"/>
            </a:p>
          </p:txBody>
        </p:sp>
        <p:sp>
          <p:nvSpPr>
            <p:cNvPr id="63" name="TextBox 63"/>
            <p:cNvSpPr txBox="1"/>
            <p:nvPr/>
          </p:nvSpPr>
          <p:spPr>
            <a:xfrm>
              <a:off x="0" y="-28575"/>
              <a:ext cx="987219" cy="90672"/>
            </a:xfrm>
            <a:prstGeom prst="rect">
              <a:avLst/>
            </a:prstGeom>
          </p:spPr>
          <p:txBody>
            <a:bodyPr lIns="50800" tIns="50800" rIns="50800" bIns="50800" rtlCol="0" anchor="ctr"/>
            <a:lstStyle/>
            <a:p>
              <a:pPr marL="0" lvl="0" indent="0" algn="ctr">
                <a:lnSpc>
                  <a:spcPts val="2921"/>
                </a:lnSpc>
                <a:spcBef>
                  <a:spcPct val="0"/>
                </a:spcBef>
              </a:pPr>
              <a:endParaRPr/>
            </a:p>
          </p:txBody>
        </p:sp>
      </p:grpSp>
      <p:grpSp>
        <p:nvGrpSpPr>
          <p:cNvPr id="64" name="Group 64"/>
          <p:cNvGrpSpPr/>
          <p:nvPr/>
        </p:nvGrpSpPr>
        <p:grpSpPr>
          <a:xfrm rot="-10800000">
            <a:off x="7269826" y="8504598"/>
            <a:ext cx="3748348" cy="235776"/>
            <a:chOff x="0" y="0"/>
            <a:chExt cx="987219" cy="62097"/>
          </a:xfrm>
        </p:grpSpPr>
        <p:sp>
          <p:nvSpPr>
            <p:cNvPr id="65" name="Freeform 65"/>
            <p:cNvSpPr/>
            <p:nvPr/>
          </p:nvSpPr>
          <p:spPr>
            <a:xfrm>
              <a:off x="0" y="0"/>
              <a:ext cx="987219" cy="62097"/>
            </a:xfrm>
            <a:custGeom>
              <a:avLst/>
              <a:gdLst/>
              <a:ahLst/>
              <a:cxnLst/>
              <a:rect l="l" t="t" r="r" b="b"/>
              <a:pathLst>
                <a:path w="987219" h="62097">
                  <a:moveTo>
                    <a:pt x="0" y="0"/>
                  </a:moveTo>
                  <a:lnTo>
                    <a:pt x="987219" y="0"/>
                  </a:lnTo>
                  <a:lnTo>
                    <a:pt x="987219" y="62097"/>
                  </a:lnTo>
                  <a:lnTo>
                    <a:pt x="0" y="62097"/>
                  </a:lnTo>
                  <a:close/>
                </a:path>
              </a:pathLst>
            </a:custGeom>
            <a:solidFill>
              <a:srgbClr val="FFFFFF"/>
            </a:solidFill>
            <a:ln cap="sq">
              <a:noFill/>
              <a:prstDash val="solid"/>
              <a:miter/>
            </a:ln>
          </p:spPr>
          <p:txBody>
            <a:bodyPr/>
            <a:lstStyle/>
            <a:p>
              <a:endParaRPr lang="es-CL"/>
            </a:p>
          </p:txBody>
        </p:sp>
        <p:sp>
          <p:nvSpPr>
            <p:cNvPr id="66" name="TextBox 66"/>
            <p:cNvSpPr txBox="1"/>
            <p:nvPr/>
          </p:nvSpPr>
          <p:spPr>
            <a:xfrm>
              <a:off x="0" y="-28575"/>
              <a:ext cx="987219" cy="90672"/>
            </a:xfrm>
            <a:prstGeom prst="rect">
              <a:avLst/>
            </a:prstGeom>
          </p:spPr>
          <p:txBody>
            <a:bodyPr lIns="50800" tIns="50800" rIns="50800" bIns="50800" rtlCol="0" anchor="ctr"/>
            <a:lstStyle/>
            <a:p>
              <a:pPr marL="0" lvl="0" indent="0" algn="ctr">
                <a:lnSpc>
                  <a:spcPts val="2921"/>
                </a:lnSpc>
                <a:spcBef>
                  <a:spcPct val="0"/>
                </a:spcBef>
              </a:pPr>
              <a:endParaRPr/>
            </a:p>
          </p:txBody>
        </p:sp>
      </p:grpSp>
      <p:sp>
        <p:nvSpPr>
          <p:cNvPr id="67" name="TextBox 67"/>
          <p:cNvSpPr txBox="1"/>
          <p:nvPr/>
        </p:nvSpPr>
        <p:spPr>
          <a:xfrm>
            <a:off x="6919886" y="7169887"/>
            <a:ext cx="4448228" cy="423584"/>
          </a:xfrm>
          <a:prstGeom prst="rect">
            <a:avLst/>
          </a:prstGeom>
        </p:spPr>
        <p:txBody>
          <a:bodyPr lIns="0" tIns="0" rIns="0" bIns="0" rtlCol="0" anchor="t">
            <a:spAutoFit/>
          </a:bodyPr>
          <a:lstStyle/>
          <a:p>
            <a:pPr algn="ctr">
              <a:lnSpc>
                <a:spcPts val="3341"/>
              </a:lnSpc>
            </a:pPr>
            <a:r>
              <a:rPr lang="en-US" sz="2439" spc="-9">
                <a:solidFill>
                  <a:srgbClr val="000000"/>
                </a:solidFill>
                <a:latin typeface="Roboto"/>
                <a:ea typeface="Roboto"/>
                <a:cs typeface="Roboto"/>
                <a:sym typeface="Roboto"/>
              </a:rPr>
              <a:t>Noviembre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3002</Words>
  <Application>Microsoft Office PowerPoint</Application>
  <PresentationFormat>Personalizado</PresentationFormat>
  <Paragraphs>357</Paragraphs>
  <Slides>17</Slides>
  <Notes>17</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17</vt:i4>
      </vt:variant>
    </vt:vector>
  </HeadingPairs>
  <TitlesOfParts>
    <vt:vector size="27" baseType="lpstr">
      <vt:lpstr>Roboto</vt:lpstr>
      <vt:lpstr>Open Sans Bold</vt:lpstr>
      <vt:lpstr>Monterchi Serif Bold Italics</vt:lpstr>
      <vt:lpstr>Open Sans</vt:lpstr>
      <vt:lpstr>Calibri</vt:lpstr>
      <vt:lpstr>Arimo Bold</vt:lpstr>
      <vt:lpstr>Arial</vt:lpstr>
      <vt:lpstr>Monterchi Serif Bold</vt:lpstr>
      <vt:lpstr>Open Sans Bold Italics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Universitaria Trabajo de Fin de Grado Geométrico Minimalista Crema y Verde Claro</dc:title>
  <cp:lastModifiedBy>Barbara Nicole Riffo Soto</cp:lastModifiedBy>
  <cp:revision>2</cp:revision>
  <dcterms:created xsi:type="dcterms:W3CDTF">2006-08-16T00:00:00Z</dcterms:created>
  <dcterms:modified xsi:type="dcterms:W3CDTF">2025-12-08T01:45:40Z</dcterms:modified>
  <dc:identifier>DAG31pQaZMk</dc:identifier>
</cp:coreProperties>
</file>